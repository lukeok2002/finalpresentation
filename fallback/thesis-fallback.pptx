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Offline PowerPoint fallback: no QR code, phone page or live simulation. Click through each slide; every click plays the same step as the web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1: retrotransposition (copy via RNA, then paste into a new site). Click 2: transposition (cut out, then paste into a new site).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1: the hg38 line has five gaps; a copy drops below and the gaps fill in green (T2T). Click 2: prior assemblies missed the short arms of several chromosomes; T2T is the first gap-less assembly. The five gaps are schematic, not their real positions.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1: staggered cut, TE inserts. Click 2: overhangs filled in, the duplicated bases (GATC / CTAG) turn blue = TSDs. Click 3: the TE copy picks up mutations (grey) over 50 My. Click 4: TEs are recognised by similarity to known 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1: five copies; the consensus is built column by column from each position's most common base (ATAGCCGGA). Click 2: Dfam browse view (real entries). Click 3: the open question. GokuERV is not in Dfam, so it is not in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Start: both tools look for frequently recurring k-mers. Click 1: exact counts (RepeatModeler). Click 2: inexact counts (REPrise): each k-mer also counts its 1-mismatch neighbours; neighbour counts are illustrative. Click 3: a scan of the genome reveals three related copies. Click 4: the copies are lifted out and lined up. Click 5: a new consensus is built. Click 6: discovered copies are masked (black) so they aren't rediscovered.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Quadrants fill in reading order. Click 1: a stretch (grey/green/grey/blue) duplicates onto its own end. Click 2: a blue monomer extends monomer by monomer. Click 3: a blue/red/green trimer extends trimer by trimer. Click 4: a known TE (yellow) between grey host flanks.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click adds one category to the treemap (area = share of all 29,124 families), largest first. The newest is dark; the previous one turns white. Small ones are labelled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1: known TE consensus sequences (Dfam) go into RepeatMasker. Click 2: RepeatMasker scans the genome and colours intervals with TE homology. Click 3: the genome was re-annotated with the new REPrise and RepeatModeler families.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Start: the RepeatMasker reannotation (yellow = repeat intervals). Click 1: the published annotation, missing two intervals. Click 2: each interval compared between the two tracks. Click 3: intervals with no published counterpart circled: 491 such loci in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 MADE1 = 80 bp, two palindromic (inverted) repeats around a short core. 2: 71 unannotated RepeatMasker hits. 3: BLAST raises it to 378. 5: shuffled sequence (500 shuffles) scores ~1 vs 16 for the real locus. 6: present at the orthologous position in chimpanzee. 7: matches the profile HMM. 8: all confirmed but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 staggered cut at TA, MADE inserts. 2: fill-in gives 2 bp TA TSDs. 3: TA checked either side. 4: boundaries can be ambiguous by a base or so. 5: so a 6 bp window was searched. 6: exact 2 bp 5.82% vs 6 bp window 32.28% with TA on both sides. 7: most have no detectable TSDs. 8: compare to background.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Start: observed (n = 378) vs background (n = 3,780) TA-both-sides rates. 1: Fisher's exact test, p = 3.36e-15 (2 bp) and 1.09e-29 (6 bp). 2: shown on a null distribution, far in the tail. 3: vs length/chromosome-matched known MADE copies (n = 1,298). 4: p = 0.344 and 0.374. 5: no significant difference from existing copies.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 RMBlast needs a Smith–Waterman score ≥ 225. 3: short elements top out below it. 5: GC% picks the scoring matrix. 6: GC is measured over 56–60 kb batches, so the local GC can differ. 7: same copy, 48% GC (60 kb) matrix → 214, missed; 45% GC (1 kb) matrix → 231, detected. Score traces and matrix values are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 GCT/GAC/GAC → G 100% · A 67/C 33 · C 67/T 33. 2: + G-C and GATC → A 75/C 25, C 80/T 20, deletion 20% at position 2, insertion 20% between 2 and 3. 3: consensus GAC needs an exact seed and dies at GTC; the pHMM scores it with a small penalty for the unseen T. 4-6: an old diverged copy: consensus 190 &lt; 225 (missed); pHMM 30 bits &gt; 22 bits (found); per-family calibrated cutoffs vs one flat cutoff. Scores other than Luke's are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 Kimura divergence: transitions and transversions between a copy and its consensus (example: 10.5%). 2: RepeatMasker's engine is swappable: RMBlast → HMMER. 3: the same 1,143-family library goes into both. 4: both scan the same genome.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Circle areas are proportional to the loci found; the overlap is set so 99.56% of the RMBlast circle lies inside HMMER's. 1: HMMER 5,935,649 vs RMBlast 3,837,511. 2: 99.56% of RMBlast loci also found by HMMER. 3: 0.44% RMBlast-only. 4: 19.47% HMMER-only.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graph: calls per 0.5% Kimura bin (RMBlast red, HMMER blue), both axes rescale as the lines reveal; pauses at 25%, where the lines are still together. HMMER's 1,795 calls above 50% are not shown. Source: divergence_arms_pool1143.len20.tsv. Points: % of HMMER loci (per 5% Kimura bin, plotted at the bin midpoint) also detected by RMBlast. Fit: D(x) = 18.6 + (100.3 − 18.6) / (1 + e^((x − 34.68)/4.66)), R² = 0.9995. x0 is the ceiling–floor midpoint (59.5% detection); the 50% crossing is ~36.9%. The 18.6% floor is a composition floor, not a minimum RMBlast sensitivity. Bins above 50% (n = 718, 261, 816) are excluded from the plot and the fit. Source: EngineGap/results/sensitivity_curve_pool1143.len20both.tsv (pool1143, ≥20 bp both arms); fit from EngineGap/results/enginegap_pool1143_writeup.md, "Fits".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to the four FAQ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FAQ 1: Why did you find known TEs if you had already masked these regions? Each click plays the next part of the animation (the web deck plays it automatically).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FAQ 2: How were HMMER results validated? Each click plays the next part of the animation (the web deck plays it automatically).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FAQ 3: Explain RepeatMasker reannotation a bit better Each click plays the next part of the animation (the web deck plays it automatically).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FAQ 4: How were the copies compared to their primate orthologs? Each click plays the next part of the animation (the web deck plays it automatically).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" Target="slide23.xml"/><Relationship Id="rId2" Type="http://schemas.openxmlformats.org/officeDocument/2006/relationships/slide" Target="slide24.xml"/><Relationship Id="rId3" Type="http://schemas.openxmlformats.org/officeDocument/2006/relationships/slide" Target="slide25.xml"/><Relationship Id="rId4" Type="http://schemas.openxmlformats.org/officeDocument/2006/relationships/slide" Target="slide26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" Target="slide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" Target="slide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" Target="slide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" Target="slide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1"/>
          <p:cNvSpPr txBox="1"/>
          <p:nvPr/>
        </p:nvSpPr>
        <p:spPr>
          <a:xfrm>
            <a:off x="548640" y="2133570"/>
            <a:ext cx="5577840" cy="2232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60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and annotation of transposable elements in the T2T-CHM13v2.0 genome assembly</a:t>
            </a:r>
            <a:endParaRPr lang="en-US" sz="3960" dirty="0"/>
          </a:p>
        </p:txBody>
      </p:sp>
      <p:sp>
        <p:nvSpPr>
          <p:cNvPr id="3" name="title_2"/>
          <p:cNvSpPr txBox="1"/>
          <p:nvPr/>
        </p:nvSpPr>
        <p:spPr>
          <a:xfrm>
            <a:off x="548640" y="4526280"/>
            <a:ext cx="7437090" cy="259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4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Luke O’Keeffe · Supervisor: Martin Frith · 16th October 2026</a:t>
            </a:r>
            <a:endParaRPr lang="en-US" sz="165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-intro_1"/>
          <p:cNvSpPr txBox="1"/>
          <p:nvPr/>
        </p:nvSpPr>
        <p:spPr>
          <a:xfrm>
            <a:off x="548640" y="396210"/>
            <a:ext cx="11140410" cy="464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transposable elements</a:t>
            </a:r>
            <a:endParaRPr lang="en-US" sz="2880" dirty="0"/>
          </a:p>
        </p:txBody>
      </p:sp>
      <p:sp>
        <p:nvSpPr>
          <p:cNvPr id="3" name="te-intro_2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Transposable Elements (TEs) are genetic sequences capable of copying themselves and spreading throughout the genome</a:t>
            </a:r>
            <a:endParaRPr lang="en-US" sz="2544" dirty="0"/>
          </a:p>
        </p:txBody>
      </p:sp>
      <p:sp>
        <p:nvSpPr>
          <p:cNvPr id="4" name="te-intro_3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Either by creating an RNA intermediate (retrotransposition)...</a:t>
            </a:r>
            <a:endParaRPr lang="en-US" sz="2544" dirty="0"/>
          </a:p>
        </p:txBody>
      </p:sp>
      <p:sp>
        <p:nvSpPr>
          <p:cNvPr id="5" name="te-intro_4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by excising itself (transposition)</a:t>
            </a:r>
            <a:endParaRPr lang="en-US" sz="2544" dirty="0"/>
          </a:p>
        </p:txBody>
      </p:sp>
      <p:sp>
        <p:nvSpPr>
          <p:cNvPr id="6" name="te-intro_5"/>
          <p:cNvSpPr/>
          <p:nvPr/>
        </p:nvSpPr>
        <p:spPr>
          <a:xfrm>
            <a:off x="1981230" y="4892040"/>
            <a:ext cx="289563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7" name="te-intro_6"/>
          <p:cNvSpPr/>
          <p:nvPr/>
        </p:nvSpPr>
        <p:spPr>
          <a:xfrm>
            <a:off x="4876770" y="4892040"/>
            <a:ext cx="243843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8" name="te-intro_7"/>
          <p:cNvSpPr/>
          <p:nvPr/>
        </p:nvSpPr>
        <p:spPr>
          <a:xfrm>
            <a:off x="7315200" y="4892040"/>
            <a:ext cx="289563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9" name="te-intro_8"/>
          <p:cNvSpPr txBox="1"/>
          <p:nvPr/>
        </p:nvSpPr>
        <p:spPr>
          <a:xfrm>
            <a:off x="5131247" y="5213634"/>
            <a:ext cx="1933224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Transposable element</a:t>
            </a:r>
            <a:endParaRPr lang="en-US" sz="1272" dirty="0"/>
          </a:p>
        </p:txBody>
      </p:sp>
      <p:sp>
        <p:nvSpPr>
          <p:cNvPr id="10" name="te-intro_9"/>
          <p:cNvSpPr txBox="1"/>
          <p:nvPr/>
        </p:nvSpPr>
        <p:spPr>
          <a:xfrm>
            <a:off x="2829154" y="5213634"/>
            <a:ext cx="1199601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genome</a:t>
            </a:r>
            <a:endParaRPr lang="en-US" sz="1272" dirty="0"/>
          </a:p>
        </p:txBody>
      </p:sp>
      <p:sp>
        <p:nvSpPr>
          <p:cNvPr id="11" name="te-intro_10"/>
          <p:cNvSpPr txBox="1"/>
          <p:nvPr/>
        </p:nvSpPr>
        <p:spPr>
          <a:xfrm>
            <a:off x="8163215" y="5213634"/>
            <a:ext cx="1199601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genome</a:t>
            </a:r>
            <a:endParaRPr lang="en-US" sz="1272" dirty="0"/>
          </a:p>
        </p:txBody>
      </p:sp>
      <p:sp>
        <p:nvSpPr>
          <p:cNvPr id="12" name="te-intro_11"/>
          <p:cNvSpPr/>
          <p:nvPr/>
        </p:nvSpPr>
        <p:spPr>
          <a:xfrm>
            <a:off x="2438430" y="4892040"/>
            <a:ext cx="365760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3" name="te-intro_12"/>
          <p:cNvSpPr/>
          <p:nvPr/>
        </p:nvSpPr>
        <p:spPr>
          <a:xfrm>
            <a:off x="6096030" y="4892040"/>
            <a:ext cx="365760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4" name="te-intro_13"/>
          <p:cNvSpPr/>
          <p:nvPr/>
        </p:nvSpPr>
        <p:spPr>
          <a:xfrm>
            <a:off x="2438430" y="4892040"/>
            <a:ext cx="365760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5" name="te-intro_14"/>
          <p:cNvSpPr/>
          <p:nvPr/>
        </p:nvSpPr>
        <p:spPr>
          <a:xfrm>
            <a:off x="6096030" y="4892040"/>
            <a:ext cx="365760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6" name="te-intro_15"/>
          <p:cNvSpPr/>
          <p:nvPr/>
        </p:nvSpPr>
        <p:spPr>
          <a:xfrm>
            <a:off x="4876770" y="3977640"/>
            <a:ext cx="243843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17" name="te-intro_16"/>
          <p:cNvSpPr/>
          <p:nvPr/>
        </p:nvSpPr>
        <p:spPr>
          <a:xfrm>
            <a:off x="4777740" y="3939510"/>
            <a:ext cx="198150" cy="198150"/>
          </a:xfrm>
          <a:prstGeom prst="ellipse">
            <a:avLst/>
          </a:prstGeom>
          <a:solidFill>
            <a:srgbClr val="F9BE00"/>
          </a:solidFill>
          <a:ln/>
        </p:spPr>
      </p:sp>
      <p:sp>
        <p:nvSpPr>
          <p:cNvPr id="18" name="te-intro_17"/>
          <p:cNvSpPr/>
          <p:nvPr/>
        </p:nvSpPr>
        <p:spPr>
          <a:xfrm>
            <a:off x="4747290" y="4823460"/>
            <a:ext cx="259050" cy="259050"/>
          </a:xfrm>
          <a:prstGeom prst="ellipse">
            <a:avLst/>
          </a:prstGeom>
          <a:solidFill>
            <a:srgbClr val="F9BE00"/>
          </a:solidFill>
          <a:ln/>
        </p:spPr>
      </p:sp>
      <p:sp>
        <p:nvSpPr>
          <p:cNvPr id="19" name="te-intro_18"/>
          <p:cNvSpPr/>
          <p:nvPr/>
        </p:nvSpPr>
        <p:spPr>
          <a:xfrm>
            <a:off x="7185630" y="4823460"/>
            <a:ext cx="259050" cy="259050"/>
          </a:xfrm>
          <a:prstGeom prst="ellipse">
            <a:avLst/>
          </a:prstGeom>
          <a:solidFill>
            <a:srgbClr val="F9BE00"/>
          </a:solidFill>
          <a:ln/>
        </p:spPr>
      </p:sp>
      <p:sp>
        <p:nvSpPr>
          <p:cNvPr id="20" name="te-intro_19"/>
          <p:cNvSpPr/>
          <p:nvPr/>
        </p:nvSpPr>
        <p:spPr>
          <a:xfrm>
            <a:off x="4465290" y="4693890"/>
            <a:ext cx="518190" cy="518190"/>
          </a:xfrm>
          <a:prstGeom prst="ellipse">
            <a:avLst/>
          </a:prstGeom>
          <a:solidFill>
            <a:srgbClr val="EEF2F6">
              <a:alpha val="14000"/>
            </a:srgbClr>
          </a:solidFill>
          <a:ln w="19050">
            <a:solidFill>
              <a:srgbClr val="EEF2F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22500 0.00000 E" pathEditMode="relative" rAng="0" ptsTypes="AA">
                                      <p:cBhvr>
                                        <p:cTn id="24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0" presetClass="path" presetSubtype="0" fill="hold" grpId="0" nodeType="withEffect">
                                  <p:stCondLst>
                                    <p:cond delay="4100"/>
                                  </p:stCondLst>
                                  <p:childTnLst>
                                    <p:animMotion origin="layout" path="M 0 0 L -0.10000 0.00000 E" pathEditMode="relative" rAng="0" ptsTypes="AA">
                                      <p:cBhvr>
                                        <p:cTn id="50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0" presetClass="path" presetSubtype="0" fill="hold" grpId="0" nodeType="withEffect">
                                  <p:stCondLst>
                                    <p:cond delay="4100"/>
                                  </p:stCondLst>
                                  <p:childTnLst>
                                    <p:animMotion origin="layout" path="M 0 0 L 0.10000 0.00000 E" pathEditMode="relative" rAng="0" ptsTypes="AA">
                                      <p:cBhvr>
                                        <p:cTn id="52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0" nodeType="withEffect">
                                  <p:stCondLst>
                                    <p:cond delay="4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0" presetClass="path" presetSubtype="0" fill="hold" grpId="0" nodeType="withEffect">
                                  <p:stCondLst>
                                    <p:cond delay="4800"/>
                                  </p:stCondLst>
                                  <p:childTnLst>
                                    <p:animMotion origin="layout" path="M 0 0 L 0.00000 0.13333 E" pathEditMode="relative" rAng="0" ptsTypes="AA">
                                      <p:cBhvr>
                                        <p:cTn id="57" dur="9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" presetID="0" presetClass="path" presetSubtype="0" fill="hold" grpId="0" nodeType="withEffect">
                                  <p:stCondLst>
                                    <p:cond delay="4800"/>
                                  </p:stCondLst>
                                  <p:childTnLst>
                                    <p:animMotion origin="layout" path="M 0 0 L 0.00000 0.13333 E" pathEditMode="relative" rAng="0" ptsTypes="AA">
                                      <p:cBhvr>
                                        <p:cTn id="59" dur="9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0" presetClass="path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0000 -0.17778 E" pathEditMode="relative" rAng="0" ptsTypes="AA">
                                      <p:cBhvr>
                                        <p:cTn id="7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" presetID="0" presetClass="path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0000 -0.17778 E" pathEditMode="relative" rAng="0" ptsTypes="AA">
                                      <p:cBhvr>
                                        <p:cTn id="7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" presetID="0" presetClass="path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0000 -0.17778 E" pathEditMode="relative" rAng="0" ptsTypes="AA">
                                      <p:cBhvr>
                                        <p:cTn id="7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" presetID="0" presetClass="path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0000 -0.17778 E" pathEditMode="relative" rAng="0" ptsTypes="AA">
                                      <p:cBhvr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0" presetClass="path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0 0 L -0.10000 0.00000 E" pathEditMode="relative" rAng="0" ptsTypes="AA">
                                      <p:cBhvr>
                                        <p:cTn id="95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6" presetID="0" presetClass="path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0 0 L 0.10000 0.00000 E" pathEditMode="relative" rAng="0" ptsTypes="AA">
                                      <p:cBhvr>
                                        <p:cTn id="97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8" presetID="0" presetClass="path" presetSubtype="0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animMotion origin="layout" path="M 0 0 L 0.00000 0.17778 E" pathEditMode="relative" rAng="0" ptsTypes="AA">
                                      <p:cBhvr>
                                        <p:cTn id="99" dur="9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0" presetClass="path" presetSubtype="0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animMotion origin="layout" path="M 0 0 L 0.00000 0.17778 E" pathEditMode="relative" rAng="0" ptsTypes="AA">
                                      <p:cBhvr>
                                        <p:cTn id="101" dur="9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0" presetClass="path" presetSubtype="0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animMotion origin="layout" path="M 0 0 L 0.00000 0.17778 E" pathEditMode="relative" rAng="0" ptsTypes="AA">
                                      <p:cBhvr>
                                        <p:cTn id="103" dur="9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0" presetClass="path" presetSubtype="0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animMotion origin="layout" path="M 0 0 L 0.00000 0.17778 E" pathEditMode="relative" rAng="0" ptsTypes="AA">
                                      <p:cBhvr>
                                        <p:cTn id="105" dur="9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 animBg="1"/>
      <p:bldP spid="7" grpId="0" animBg="1"/>
      <p:bldP spid="8" grpId="0" animBg="1"/>
      <p:bldP spid="9" grpId="0"/>
      <p:bldP spid="10" grpId="0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-t2t_1"/>
          <p:cNvSpPr txBox="1"/>
          <p:nvPr/>
        </p:nvSpPr>
        <p:spPr>
          <a:xfrm>
            <a:off x="548640" y="396210"/>
            <a:ext cx="11140410" cy="464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T2T-CHM13v2.0 (T2T) genome assembly?</a:t>
            </a:r>
            <a:endParaRPr lang="en-US" sz="2880" dirty="0"/>
          </a:p>
        </p:txBody>
      </p:sp>
      <p:sp>
        <p:nvSpPr>
          <p:cNvPr id="3" name="te-t2t_2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T2T-CHM13v2.0 represents the first ever complete human reference genome assembly</a:t>
            </a:r>
            <a:endParaRPr lang="en-US" sz="2544" dirty="0"/>
          </a:p>
        </p:txBody>
      </p:sp>
      <p:sp>
        <p:nvSpPr>
          <p:cNvPr id="4" name="te-t2t_3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assemblies were missing the short arms of several chromosomes, T2T is the first gap-less assembly</a:t>
            </a:r>
            <a:endParaRPr lang="en-US" sz="2544" dirty="0"/>
          </a:p>
        </p:txBody>
      </p:sp>
      <p:sp>
        <p:nvSpPr>
          <p:cNvPr id="5" name="te-t2t_4"/>
          <p:cNvSpPr/>
          <p:nvPr/>
        </p:nvSpPr>
        <p:spPr>
          <a:xfrm>
            <a:off x="1981230" y="3749040"/>
            <a:ext cx="106683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6" name="te-t2t_5"/>
          <p:cNvSpPr/>
          <p:nvPr/>
        </p:nvSpPr>
        <p:spPr>
          <a:xfrm>
            <a:off x="3398550" y="3749040"/>
            <a:ext cx="86868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7" name="te-t2t_6"/>
          <p:cNvSpPr/>
          <p:nvPr/>
        </p:nvSpPr>
        <p:spPr>
          <a:xfrm>
            <a:off x="4572000" y="3749040"/>
            <a:ext cx="121917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8" name="te-t2t_7"/>
          <p:cNvSpPr/>
          <p:nvPr/>
        </p:nvSpPr>
        <p:spPr>
          <a:xfrm>
            <a:off x="6187470" y="3749040"/>
            <a:ext cx="112773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9" name="te-t2t_8"/>
          <p:cNvSpPr/>
          <p:nvPr/>
        </p:nvSpPr>
        <p:spPr>
          <a:xfrm>
            <a:off x="7619970" y="3749040"/>
            <a:ext cx="121917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0" name="te-t2t_9"/>
          <p:cNvSpPr/>
          <p:nvPr/>
        </p:nvSpPr>
        <p:spPr>
          <a:xfrm>
            <a:off x="9235440" y="3749040"/>
            <a:ext cx="97539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1" name="te-t2t_10"/>
          <p:cNvSpPr txBox="1"/>
          <p:nvPr/>
        </p:nvSpPr>
        <p:spPr>
          <a:xfrm>
            <a:off x="4991161" y="3369655"/>
            <a:ext cx="2209739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hg38 reference assembly</a:t>
            </a:r>
            <a:endParaRPr lang="en-US" sz="1272" dirty="0"/>
          </a:p>
        </p:txBody>
      </p:sp>
      <p:sp>
        <p:nvSpPr>
          <p:cNvPr id="12" name="te-t2t_11"/>
          <p:cNvSpPr/>
          <p:nvPr/>
        </p:nvSpPr>
        <p:spPr>
          <a:xfrm>
            <a:off x="1981230" y="3749040"/>
            <a:ext cx="106683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3" name="te-t2t_12"/>
          <p:cNvSpPr/>
          <p:nvPr/>
        </p:nvSpPr>
        <p:spPr>
          <a:xfrm>
            <a:off x="3398550" y="3749040"/>
            <a:ext cx="86868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4" name="te-t2t_13"/>
          <p:cNvSpPr/>
          <p:nvPr/>
        </p:nvSpPr>
        <p:spPr>
          <a:xfrm>
            <a:off x="4572000" y="3749040"/>
            <a:ext cx="121917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5" name="te-t2t_14"/>
          <p:cNvSpPr/>
          <p:nvPr/>
        </p:nvSpPr>
        <p:spPr>
          <a:xfrm>
            <a:off x="6187470" y="3749040"/>
            <a:ext cx="112773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6" name="te-t2t_15"/>
          <p:cNvSpPr/>
          <p:nvPr/>
        </p:nvSpPr>
        <p:spPr>
          <a:xfrm>
            <a:off x="7619970" y="3749040"/>
            <a:ext cx="121917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7" name="te-t2t_16"/>
          <p:cNvSpPr/>
          <p:nvPr/>
        </p:nvSpPr>
        <p:spPr>
          <a:xfrm>
            <a:off x="9235440" y="3749040"/>
            <a:ext cx="97539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8" name="te-t2t_17"/>
          <p:cNvSpPr/>
          <p:nvPr/>
        </p:nvSpPr>
        <p:spPr>
          <a:xfrm>
            <a:off x="3047970" y="5273070"/>
            <a:ext cx="350490" cy="121890"/>
          </a:xfrm>
          <a:prstGeom prst="rect">
            <a:avLst/>
          </a:prstGeom>
          <a:solidFill>
            <a:srgbClr val="7DFF0A"/>
          </a:solidFill>
          <a:ln/>
        </p:spPr>
      </p:sp>
      <p:sp>
        <p:nvSpPr>
          <p:cNvPr id="19" name="te-t2t_18"/>
          <p:cNvSpPr/>
          <p:nvPr/>
        </p:nvSpPr>
        <p:spPr>
          <a:xfrm>
            <a:off x="4267230" y="5273070"/>
            <a:ext cx="304770" cy="121890"/>
          </a:xfrm>
          <a:prstGeom prst="rect">
            <a:avLst/>
          </a:prstGeom>
          <a:solidFill>
            <a:srgbClr val="7DFF0A"/>
          </a:solidFill>
          <a:ln/>
        </p:spPr>
      </p:sp>
      <p:sp>
        <p:nvSpPr>
          <p:cNvPr id="20" name="te-t2t_19"/>
          <p:cNvSpPr/>
          <p:nvPr/>
        </p:nvSpPr>
        <p:spPr>
          <a:xfrm>
            <a:off x="5791170" y="5273070"/>
            <a:ext cx="396210" cy="121890"/>
          </a:xfrm>
          <a:prstGeom prst="rect">
            <a:avLst/>
          </a:prstGeom>
          <a:solidFill>
            <a:srgbClr val="7DFF0A"/>
          </a:solidFill>
          <a:ln/>
        </p:spPr>
      </p:sp>
      <p:sp>
        <p:nvSpPr>
          <p:cNvPr id="21" name="te-t2t_20"/>
          <p:cNvSpPr/>
          <p:nvPr/>
        </p:nvSpPr>
        <p:spPr>
          <a:xfrm>
            <a:off x="7315200" y="5273070"/>
            <a:ext cx="304770" cy="121890"/>
          </a:xfrm>
          <a:prstGeom prst="rect">
            <a:avLst/>
          </a:prstGeom>
          <a:solidFill>
            <a:srgbClr val="7DFF0A"/>
          </a:solidFill>
          <a:ln/>
        </p:spPr>
      </p:sp>
      <p:sp>
        <p:nvSpPr>
          <p:cNvPr id="22" name="te-t2t_21"/>
          <p:cNvSpPr/>
          <p:nvPr/>
        </p:nvSpPr>
        <p:spPr>
          <a:xfrm>
            <a:off x="8839230" y="5273070"/>
            <a:ext cx="396210" cy="121890"/>
          </a:xfrm>
          <a:prstGeom prst="rect">
            <a:avLst/>
          </a:prstGeom>
          <a:solidFill>
            <a:srgbClr val="7DFF0A"/>
          </a:solidFill>
          <a:ln/>
        </p:spPr>
      </p:sp>
      <p:sp>
        <p:nvSpPr>
          <p:cNvPr id="23" name="te-t2t_22"/>
          <p:cNvSpPr txBox="1"/>
          <p:nvPr/>
        </p:nvSpPr>
        <p:spPr>
          <a:xfrm>
            <a:off x="5039441" y="4893594"/>
            <a:ext cx="2113087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T2T reference assembly</a:t>
            </a:r>
            <a:endParaRPr lang="en-US" sz="1272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0" presetClass="path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 0 L 0.00000 0.22222 E" pathEditMode="relative" rAng="0" ptsTypes="AA">
                                      <p:cBhvr>
                                        <p:cTn id="45" dur="9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0" presetClass="path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 0 L 0.00000 0.22222 E" pathEditMode="relative" rAng="0" ptsTypes="AA">
                                      <p:cBhvr>
                                        <p:cTn id="47" dur="9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0" presetClass="path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 0 L 0.00000 0.22222 E" pathEditMode="relative" rAng="0" ptsTypes="AA">
                                      <p:cBhvr>
                                        <p:cTn id="49" dur="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0" presetClass="path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 0 L 0.00000 0.22222 E" pathEditMode="relative" rAng="0" ptsTypes="AA">
                                      <p:cBhvr>
                                        <p:cTn id="51" dur="9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0" presetClass="path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 0 L 0.00000 0.22222 E" pathEditMode="relative" rAng="0" ptsTypes="AA">
                                      <p:cBhvr>
                                        <p:cTn id="53" dur="9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" presetID="0" presetClass="path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 0 L 0.00000 0.22222 E" pathEditMode="relative" rAng="0" ptsTypes="AA">
                                      <p:cBhvr>
                                        <p:cTn id="55" dur="9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38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-look_1"/>
          <p:cNvSpPr txBox="1"/>
          <p:nvPr/>
        </p:nvSpPr>
        <p:spPr>
          <a:xfrm>
            <a:off x="548640" y="396210"/>
            <a:ext cx="11140410" cy="464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TEs look like?</a:t>
            </a:r>
            <a:endParaRPr lang="en-US" sz="2880" dirty="0"/>
          </a:p>
        </p:txBody>
      </p:sp>
      <p:sp>
        <p:nvSpPr>
          <p:cNvPr id="3" name="te-look_2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TEs insert within human DNA, they form target site duplications (TSDs)</a:t>
            </a:r>
            <a:endParaRPr lang="en-US" sz="2544" dirty="0"/>
          </a:p>
        </p:txBody>
      </p:sp>
      <p:sp>
        <p:nvSpPr>
          <p:cNvPr id="4" name="te-look_3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Staggered cuts created by TE insertion mechanism</a:t>
            </a:r>
            <a:endParaRPr lang="en-US" sz="2544" dirty="0"/>
          </a:p>
        </p:txBody>
      </p:sp>
      <p:sp>
        <p:nvSpPr>
          <p:cNvPr id="5" name="te-look_4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Staggered cuts filled in, creating TSDs</a:t>
            </a:r>
            <a:endParaRPr lang="en-US" sz="2544" dirty="0"/>
          </a:p>
        </p:txBody>
      </p:sp>
      <p:sp>
        <p:nvSpPr>
          <p:cNvPr id="6" name="te-look_5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Following insertion, the TEs passively acquire mutations</a:t>
            </a:r>
            <a:endParaRPr lang="en-US" sz="2544" dirty="0"/>
          </a:p>
        </p:txBody>
      </p:sp>
      <p:sp>
        <p:nvSpPr>
          <p:cNvPr id="7" name="te-look_6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importantly, TEs look like other TEs</a:t>
            </a:r>
            <a:endParaRPr lang="en-US" sz="2544" dirty="0"/>
          </a:p>
        </p:txBody>
      </p:sp>
      <p:sp>
        <p:nvSpPr>
          <p:cNvPr id="8" name="te-look_7"/>
          <p:cNvSpPr/>
          <p:nvPr/>
        </p:nvSpPr>
        <p:spPr>
          <a:xfrm>
            <a:off x="544452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9" name="te-look_8"/>
          <p:cNvSpPr/>
          <p:nvPr/>
        </p:nvSpPr>
        <p:spPr>
          <a:xfrm>
            <a:off x="587118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0" name="te-look_9"/>
          <p:cNvSpPr/>
          <p:nvPr/>
        </p:nvSpPr>
        <p:spPr>
          <a:xfrm>
            <a:off x="629793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1" name="te-look_10"/>
          <p:cNvSpPr/>
          <p:nvPr/>
        </p:nvSpPr>
        <p:spPr>
          <a:xfrm>
            <a:off x="672468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2" name="te-look_11"/>
          <p:cNvSpPr txBox="1"/>
          <p:nvPr/>
        </p:nvSpPr>
        <p:spPr>
          <a:xfrm>
            <a:off x="3980109" y="40766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13" name="te-look_12"/>
          <p:cNvSpPr txBox="1"/>
          <p:nvPr/>
        </p:nvSpPr>
        <p:spPr>
          <a:xfrm>
            <a:off x="4406859" y="40766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14" name="te-look_13"/>
          <p:cNvSpPr txBox="1"/>
          <p:nvPr/>
        </p:nvSpPr>
        <p:spPr>
          <a:xfrm>
            <a:off x="4833518" y="40766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15" name="te-look_14"/>
          <p:cNvSpPr txBox="1"/>
          <p:nvPr/>
        </p:nvSpPr>
        <p:spPr>
          <a:xfrm>
            <a:off x="5260269" y="40766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16" name="te-look_15"/>
          <p:cNvSpPr txBox="1"/>
          <p:nvPr/>
        </p:nvSpPr>
        <p:spPr>
          <a:xfrm>
            <a:off x="5686471" y="407667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17" name="te-look_16"/>
          <p:cNvSpPr txBox="1"/>
          <p:nvPr/>
        </p:nvSpPr>
        <p:spPr>
          <a:xfrm>
            <a:off x="6113678" y="40766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18" name="te-look_17"/>
          <p:cNvSpPr txBox="1"/>
          <p:nvPr/>
        </p:nvSpPr>
        <p:spPr>
          <a:xfrm>
            <a:off x="6540429" y="40766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19" name="te-look_18"/>
          <p:cNvSpPr txBox="1"/>
          <p:nvPr/>
        </p:nvSpPr>
        <p:spPr>
          <a:xfrm>
            <a:off x="3979560" y="461013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20" name="te-look_19"/>
          <p:cNvSpPr txBox="1"/>
          <p:nvPr/>
        </p:nvSpPr>
        <p:spPr>
          <a:xfrm>
            <a:off x="4406859" y="461013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21" name="te-look_20"/>
          <p:cNvSpPr txBox="1"/>
          <p:nvPr/>
        </p:nvSpPr>
        <p:spPr>
          <a:xfrm>
            <a:off x="4833518" y="461013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22" name="te-look_21"/>
          <p:cNvSpPr/>
          <p:nvPr/>
        </p:nvSpPr>
        <p:spPr>
          <a:xfrm>
            <a:off x="416436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23" name="te-look_22"/>
          <p:cNvSpPr/>
          <p:nvPr/>
        </p:nvSpPr>
        <p:spPr>
          <a:xfrm>
            <a:off x="459102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24" name="te-look_23"/>
          <p:cNvSpPr/>
          <p:nvPr/>
        </p:nvSpPr>
        <p:spPr>
          <a:xfrm>
            <a:off x="501777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25" name="te-look_24"/>
          <p:cNvSpPr/>
          <p:nvPr/>
        </p:nvSpPr>
        <p:spPr>
          <a:xfrm>
            <a:off x="382905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26" name="te-look_25"/>
          <p:cNvSpPr txBox="1"/>
          <p:nvPr/>
        </p:nvSpPr>
        <p:spPr>
          <a:xfrm>
            <a:off x="3644798" y="461013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27" name="te-look_26"/>
          <p:cNvSpPr/>
          <p:nvPr/>
        </p:nvSpPr>
        <p:spPr>
          <a:xfrm>
            <a:off x="425580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28" name="te-look_27"/>
          <p:cNvSpPr txBox="1"/>
          <p:nvPr/>
        </p:nvSpPr>
        <p:spPr>
          <a:xfrm>
            <a:off x="4071549" y="461013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29" name="te-look_28"/>
          <p:cNvSpPr/>
          <p:nvPr/>
        </p:nvSpPr>
        <p:spPr>
          <a:xfrm>
            <a:off x="468246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30" name="te-look_29"/>
          <p:cNvSpPr txBox="1"/>
          <p:nvPr/>
        </p:nvSpPr>
        <p:spPr>
          <a:xfrm>
            <a:off x="4497751" y="461013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31" name="te-look_30"/>
          <p:cNvSpPr/>
          <p:nvPr/>
        </p:nvSpPr>
        <p:spPr>
          <a:xfrm>
            <a:off x="510921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32" name="te-look_31"/>
          <p:cNvSpPr txBox="1"/>
          <p:nvPr/>
        </p:nvSpPr>
        <p:spPr>
          <a:xfrm>
            <a:off x="4924958" y="461013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33" name="te-look_32"/>
          <p:cNvSpPr txBox="1"/>
          <p:nvPr/>
        </p:nvSpPr>
        <p:spPr>
          <a:xfrm>
            <a:off x="3644798" y="40766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187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34" name="te-look_33"/>
          <p:cNvSpPr txBox="1"/>
          <p:nvPr/>
        </p:nvSpPr>
        <p:spPr>
          <a:xfrm>
            <a:off x="3644798" y="461013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187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35" name="te-look_34"/>
          <p:cNvSpPr txBox="1"/>
          <p:nvPr/>
        </p:nvSpPr>
        <p:spPr>
          <a:xfrm>
            <a:off x="4071000" y="407667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187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36" name="te-look_35"/>
          <p:cNvSpPr txBox="1"/>
          <p:nvPr/>
        </p:nvSpPr>
        <p:spPr>
          <a:xfrm>
            <a:off x="4071549" y="461013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187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37" name="te-look_36"/>
          <p:cNvSpPr txBox="1"/>
          <p:nvPr/>
        </p:nvSpPr>
        <p:spPr>
          <a:xfrm>
            <a:off x="4498299" y="40766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187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38" name="te-look_37"/>
          <p:cNvSpPr txBox="1"/>
          <p:nvPr/>
        </p:nvSpPr>
        <p:spPr>
          <a:xfrm>
            <a:off x="4497751" y="461013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187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39" name="te-look_38"/>
          <p:cNvSpPr txBox="1"/>
          <p:nvPr/>
        </p:nvSpPr>
        <p:spPr>
          <a:xfrm>
            <a:off x="4924958" y="40766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187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40" name="te-look_39"/>
          <p:cNvSpPr txBox="1"/>
          <p:nvPr/>
        </p:nvSpPr>
        <p:spPr>
          <a:xfrm>
            <a:off x="4924958" y="461013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187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41" name="te-look_40"/>
          <p:cNvSpPr txBox="1"/>
          <p:nvPr/>
        </p:nvSpPr>
        <p:spPr>
          <a:xfrm>
            <a:off x="6967179" y="40766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42" name="te-look_41"/>
          <p:cNvSpPr txBox="1"/>
          <p:nvPr/>
        </p:nvSpPr>
        <p:spPr>
          <a:xfrm>
            <a:off x="7393381" y="407667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43" name="te-look_42"/>
          <p:cNvSpPr txBox="1"/>
          <p:nvPr/>
        </p:nvSpPr>
        <p:spPr>
          <a:xfrm>
            <a:off x="7820589" y="40766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44" name="te-look_43"/>
          <p:cNvSpPr txBox="1"/>
          <p:nvPr/>
        </p:nvSpPr>
        <p:spPr>
          <a:xfrm>
            <a:off x="5260269" y="461013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45" name="te-look_44"/>
          <p:cNvSpPr txBox="1"/>
          <p:nvPr/>
        </p:nvSpPr>
        <p:spPr>
          <a:xfrm>
            <a:off x="5687019" y="461013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46" name="te-look_45"/>
          <p:cNvSpPr txBox="1"/>
          <p:nvPr/>
        </p:nvSpPr>
        <p:spPr>
          <a:xfrm>
            <a:off x="6113221" y="461013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47" name="te-look_46"/>
          <p:cNvSpPr txBox="1"/>
          <p:nvPr/>
        </p:nvSpPr>
        <p:spPr>
          <a:xfrm>
            <a:off x="6540429" y="461013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48" name="te-look_47"/>
          <p:cNvSpPr txBox="1"/>
          <p:nvPr/>
        </p:nvSpPr>
        <p:spPr>
          <a:xfrm>
            <a:off x="6967179" y="461013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49" name="te-look_48"/>
          <p:cNvSpPr txBox="1"/>
          <p:nvPr/>
        </p:nvSpPr>
        <p:spPr>
          <a:xfrm>
            <a:off x="7393838" y="461013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50" name="te-look_49"/>
          <p:cNvSpPr txBox="1"/>
          <p:nvPr/>
        </p:nvSpPr>
        <p:spPr>
          <a:xfrm>
            <a:off x="7820589" y="461013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51" name="te-look_50"/>
          <p:cNvSpPr/>
          <p:nvPr/>
        </p:nvSpPr>
        <p:spPr>
          <a:xfrm>
            <a:off x="715134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52" name="te-look_51"/>
          <p:cNvSpPr/>
          <p:nvPr/>
        </p:nvSpPr>
        <p:spPr>
          <a:xfrm>
            <a:off x="757809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53" name="te-look_52"/>
          <p:cNvSpPr/>
          <p:nvPr/>
        </p:nvSpPr>
        <p:spPr>
          <a:xfrm>
            <a:off x="800484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54" name="te-look_53"/>
          <p:cNvSpPr/>
          <p:nvPr/>
        </p:nvSpPr>
        <p:spPr>
          <a:xfrm>
            <a:off x="705990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55" name="te-look_54"/>
          <p:cNvSpPr txBox="1"/>
          <p:nvPr/>
        </p:nvSpPr>
        <p:spPr>
          <a:xfrm>
            <a:off x="6875739" y="40766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56" name="te-look_55"/>
          <p:cNvSpPr/>
          <p:nvPr/>
        </p:nvSpPr>
        <p:spPr>
          <a:xfrm>
            <a:off x="748665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57" name="te-look_56"/>
          <p:cNvSpPr txBox="1"/>
          <p:nvPr/>
        </p:nvSpPr>
        <p:spPr>
          <a:xfrm>
            <a:off x="7301941" y="407667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58" name="te-look_57"/>
          <p:cNvSpPr/>
          <p:nvPr/>
        </p:nvSpPr>
        <p:spPr>
          <a:xfrm>
            <a:off x="791340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59" name="te-look_58"/>
          <p:cNvSpPr txBox="1"/>
          <p:nvPr/>
        </p:nvSpPr>
        <p:spPr>
          <a:xfrm>
            <a:off x="7729149" y="40766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60" name="te-look_59"/>
          <p:cNvSpPr/>
          <p:nvPr/>
        </p:nvSpPr>
        <p:spPr>
          <a:xfrm>
            <a:off x="834006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61" name="te-look_60"/>
          <p:cNvSpPr txBox="1"/>
          <p:nvPr/>
        </p:nvSpPr>
        <p:spPr>
          <a:xfrm>
            <a:off x="8155899" y="40766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62" name="te-look_61"/>
          <p:cNvSpPr txBox="1"/>
          <p:nvPr/>
        </p:nvSpPr>
        <p:spPr>
          <a:xfrm>
            <a:off x="6875739" y="40766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187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63" name="te-look_62"/>
          <p:cNvSpPr txBox="1"/>
          <p:nvPr/>
        </p:nvSpPr>
        <p:spPr>
          <a:xfrm>
            <a:off x="6875739" y="461013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187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64" name="te-look_63"/>
          <p:cNvSpPr txBox="1"/>
          <p:nvPr/>
        </p:nvSpPr>
        <p:spPr>
          <a:xfrm>
            <a:off x="7301941" y="407667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187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65" name="te-look_64"/>
          <p:cNvSpPr txBox="1"/>
          <p:nvPr/>
        </p:nvSpPr>
        <p:spPr>
          <a:xfrm>
            <a:off x="7302398" y="461013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187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66" name="te-look_65"/>
          <p:cNvSpPr txBox="1"/>
          <p:nvPr/>
        </p:nvSpPr>
        <p:spPr>
          <a:xfrm>
            <a:off x="7729149" y="40766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187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67" name="te-look_66"/>
          <p:cNvSpPr txBox="1"/>
          <p:nvPr/>
        </p:nvSpPr>
        <p:spPr>
          <a:xfrm>
            <a:off x="7728600" y="461013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187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68" name="te-look_67"/>
          <p:cNvSpPr txBox="1"/>
          <p:nvPr/>
        </p:nvSpPr>
        <p:spPr>
          <a:xfrm>
            <a:off x="8155899" y="40766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187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69" name="te-look_68"/>
          <p:cNvSpPr txBox="1"/>
          <p:nvPr/>
        </p:nvSpPr>
        <p:spPr>
          <a:xfrm>
            <a:off x="8155899" y="461013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187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70" name="te-look_69"/>
          <p:cNvSpPr/>
          <p:nvPr/>
        </p:nvSpPr>
        <p:spPr>
          <a:xfrm>
            <a:off x="5333970" y="2377440"/>
            <a:ext cx="1524030" cy="960120"/>
          </a:xfrm>
          <a:prstGeom prst="roundRect">
            <a:avLst>
              <a:gd name="adj" fmla="val 7933"/>
            </a:avLst>
          </a:prstGeom>
          <a:solidFill>
            <a:srgbClr val="F9BE00"/>
          </a:solidFill>
          <a:ln/>
        </p:spPr>
      </p:sp>
      <p:sp>
        <p:nvSpPr>
          <p:cNvPr id="71" name="te-look_70"/>
          <p:cNvSpPr txBox="1"/>
          <p:nvPr/>
        </p:nvSpPr>
        <p:spPr>
          <a:xfrm>
            <a:off x="2699949" y="43052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72" name="te-look_71"/>
          <p:cNvSpPr txBox="1"/>
          <p:nvPr/>
        </p:nvSpPr>
        <p:spPr>
          <a:xfrm>
            <a:off x="3126699" y="43052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73" name="te-look_72"/>
          <p:cNvSpPr txBox="1"/>
          <p:nvPr/>
        </p:nvSpPr>
        <p:spPr>
          <a:xfrm>
            <a:off x="3553358" y="43052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74" name="te-look_73"/>
          <p:cNvSpPr txBox="1"/>
          <p:nvPr/>
        </p:nvSpPr>
        <p:spPr>
          <a:xfrm>
            <a:off x="4406859" y="43052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75" name="te-look_74"/>
          <p:cNvSpPr txBox="1"/>
          <p:nvPr/>
        </p:nvSpPr>
        <p:spPr>
          <a:xfrm>
            <a:off x="4833518" y="43052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76" name="te-look_75"/>
          <p:cNvSpPr txBox="1"/>
          <p:nvPr/>
        </p:nvSpPr>
        <p:spPr>
          <a:xfrm>
            <a:off x="5259720" y="430527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77" name="te-look_76"/>
          <p:cNvSpPr txBox="1"/>
          <p:nvPr/>
        </p:nvSpPr>
        <p:spPr>
          <a:xfrm>
            <a:off x="6113678" y="43052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78" name="te-look_77"/>
          <p:cNvSpPr txBox="1"/>
          <p:nvPr/>
        </p:nvSpPr>
        <p:spPr>
          <a:xfrm>
            <a:off x="6540429" y="43052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79" name="te-look_78"/>
          <p:cNvSpPr txBox="1"/>
          <p:nvPr/>
        </p:nvSpPr>
        <p:spPr>
          <a:xfrm>
            <a:off x="6966631" y="430527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80" name="te-look_79"/>
          <p:cNvSpPr txBox="1"/>
          <p:nvPr/>
        </p:nvSpPr>
        <p:spPr>
          <a:xfrm>
            <a:off x="7820589" y="43052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81" name="te-look_80"/>
          <p:cNvSpPr txBox="1"/>
          <p:nvPr/>
        </p:nvSpPr>
        <p:spPr>
          <a:xfrm>
            <a:off x="8247339" y="43052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82" name="te-look_81"/>
          <p:cNvSpPr txBox="1"/>
          <p:nvPr/>
        </p:nvSpPr>
        <p:spPr>
          <a:xfrm>
            <a:off x="9100200" y="430527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83" name="te-look_82"/>
          <p:cNvSpPr txBox="1"/>
          <p:nvPr/>
        </p:nvSpPr>
        <p:spPr>
          <a:xfrm>
            <a:off x="3980109" y="43052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84" name="te-look_83"/>
          <p:cNvSpPr txBox="1"/>
          <p:nvPr/>
        </p:nvSpPr>
        <p:spPr>
          <a:xfrm>
            <a:off x="5687019" y="43052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85" name="te-look_84"/>
          <p:cNvSpPr txBox="1"/>
          <p:nvPr/>
        </p:nvSpPr>
        <p:spPr>
          <a:xfrm>
            <a:off x="7393838" y="43052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86" name="te-look_85"/>
          <p:cNvSpPr txBox="1"/>
          <p:nvPr/>
        </p:nvSpPr>
        <p:spPr>
          <a:xfrm>
            <a:off x="8673998" y="43052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87" name="te-look_86"/>
          <p:cNvSpPr txBox="1"/>
          <p:nvPr/>
        </p:nvSpPr>
        <p:spPr>
          <a:xfrm>
            <a:off x="3980109" y="4305270"/>
            <a:ext cx="391363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88" name="te-look_87"/>
          <p:cNvSpPr txBox="1"/>
          <p:nvPr/>
        </p:nvSpPr>
        <p:spPr>
          <a:xfrm>
            <a:off x="5686928" y="4305270"/>
            <a:ext cx="391729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89" name="te-look_88"/>
          <p:cNvSpPr txBox="1"/>
          <p:nvPr/>
        </p:nvSpPr>
        <p:spPr>
          <a:xfrm>
            <a:off x="7393838" y="4305270"/>
            <a:ext cx="391729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90" name="te-look_89"/>
          <p:cNvSpPr txBox="1"/>
          <p:nvPr/>
        </p:nvSpPr>
        <p:spPr>
          <a:xfrm>
            <a:off x="8673998" y="4305270"/>
            <a:ext cx="391363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91" name="te-look_90"/>
          <p:cNvSpPr/>
          <p:nvPr/>
        </p:nvSpPr>
        <p:spPr>
          <a:xfrm>
            <a:off x="2682210" y="5227350"/>
            <a:ext cx="6827550" cy="60990"/>
          </a:xfrm>
          <a:prstGeom prst="roundRect">
            <a:avLst>
              <a:gd name="adj" fmla="val 49925"/>
            </a:avLst>
          </a:prstGeom>
          <a:solidFill>
            <a:srgbClr val="222D3A"/>
          </a:solidFill>
          <a:ln/>
        </p:spPr>
      </p:sp>
      <p:sp>
        <p:nvSpPr>
          <p:cNvPr id="92" name="te-look_91"/>
          <p:cNvSpPr/>
          <p:nvPr/>
        </p:nvSpPr>
        <p:spPr>
          <a:xfrm>
            <a:off x="2674620" y="5196810"/>
            <a:ext cx="15270" cy="121890"/>
          </a:xfrm>
          <a:prstGeom prst="rect">
            <a:avLst/>
          </a:prstGeom>
          <a:solidFill>
            <a:srgbClr val="6F7D8C"/>
          </a:solidFill>
          <a:ln/>
        </p:spPr>
      </p:sp>
      <p:sp>
        <p:nvSpPr>
          <p:cNvPr id="93" name="te-look_92"/>
          <p:cNvSpPr txBox="1"/>
          <p:nvPr/>
        </p:nvSpPr>
        <p:spPr>
          <a:xfrm>
            <a:off x="2580437" y="5381335"/>
            <a:ext cx="203545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72" dirty="0"/>
          </a:p>
        </p:txBody>
      </p:sp>
      <p:sp>
        <p:nvSpPr>
          <p:cNvPr id="94" name="te-look_93"/>
          <p:cNvSpPr/>
          <p:nvPr/>
        </p:nvSpPr>
        <p:spPr>
          <a:xfrm>
            <a:off x="4040094" y="5196810"/>
            <a:ext cx="15270" cy="121890"/>
          </a:xfrm>
          <a:prstGeom prst="rect">
            <a:avLst/>
          </a:prstGeom>
          <a:solidFill>
            <a:srgbClr val="6F7D8C"/>
          </a:solidFill>
          <a:ln/>
        </p:spPr>
      </p:sp>
      <p:sp>
        <p:nvSpPr>
          <p:cNvPr id="95" name="te-look_94"/>
          <p:cNvSpPr txBox="1"/>
          <p:nvPr/>
        </p:nvSpPr>
        <p:spPr>
          <a:xfrm>
            <a:off x="3909883" y="5381335"/>
            <a:ext cx="275692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72" dirty="0"/>
          </a:p>
        </p:txBody>
      </p:sp>
      <p:sp>
        <p:nvSpPr>
          <p:cNvPr id="96" name="te-look_95"/>
          <p:cNvSpPr/>
          <p:nvPr/>
        </p:nvSpPr>
        <p:spPr>
          <a:xfrm>
            <a:off x="5405658" y="5196810"/>
            <a:ext cx="15270" cy="121890"/>
          </a:xfrm>
          <a:prstGeom prst="rect">
            <a:avLst/>
          </a:prstGeom>
          <a:solidFill>
            <a:srgbClr val="6F7D8C"/>
          </a:solidFill>
          <a:ln/>
        </p:spPr>
      </p:sp>
      <p:sp>
        <p:nvSpPr>
          <p:cNvPr id="97" name="te-look_96"/>
          <p:cNvSpPr txBox="1"/>
          <p:nvPr/>
        </p:nvSpPr>
        <p:spPr>
          <a:xfrm>
            <a:off x="5257983" y="5381335"/>
            <a:ext cx="310622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72" dirty="0"/>
          </a:p>
        </p:txBody>
      </p:sp>
      <p:sp>
        <p:nvSpPr>
          <p:cNvPr id="98" name="te-look_97"/>
          <p:cNvSpPr/>
          <p:nvPr/>
        </p:nvSpPr>
        <p:spPr>
          <a:xfrm>
            <a:off x="6771132" y="5196810"/>
            <a:ext cx="15270" cy="121890"/>
          </a:xfrm>
          <a:prstGeom prst="rect">
            <a:avLst/>
          </a:prstGeom>
          <a:solidFill>
            <a:srgbClr val="6F7D8C"/>
          </a:solidFill>
          <a:ln/>
        </p:spPr>
      </p:sp>
      <p:sp>
        <p:nvSpPr>
          <p:cNvPr id="99" name="te-look_98"/>
          <p:cNvSpPr txBox="1"/>
          <p:nvPr/>
        </p:nvSpPr>
        <p:spPr>
          <a:xfrm>
            <a:off x="6622542" y="5381335"/>
            <a:ext cx="31245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72" dirty="0"/>
          </a:p>
        </p:txBody>
      </p:sp>
      <p:sp>
        <p:nvSpPr>
          <p:cNvPr id="100" name="te-look_99"/>
          <p:cNvSpPr/>
          <p:nvPr/>
        </p:nvSpPr>
        <p:spPr>
          <a:xfrm>
            <a:off x="8136606" y="5196810"/>
            <a:ext cx="15270" cy="121890"/>
          </a:xfrm>
          <a:prstGeom prst="rect">
            <a:avLst/>
          </a:prstGeom>
          <a:solidFill>
            <a:srgbClr val="6F7D8C"/>
          </a:solidFill>
          <a:ln/>
        </p:spPr>
      </p:sp>
      <p:sp>
        <p:nvSpPr>
          <p:cNvPr id="101" name="te-look_100"/>
          <p:cNvSpPr txBox="1"/>
          <p:nvPr/>
        </p:nvSpPr>
        <p:spPr>
          <a:xfrm>
            <a:off x="7985455" y="5381335"/>
            <a:ext cx="31748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72" dirty="0"/>
          </a:p>
        </p:txBody>
      </p:sp>
      <p:sp>
        <p:nvSpPr>
          <p:cNvPr id="102" name="te-look_101"/>
          <p:cNvSpPr/>
          <p:nvPr/>
        </p:nvSpPr>
        <p:spPr>
          <a:xfrm>
            <a:off x="9502170" y="5196810"/>
            <a:ext cx="15270" cy="121890"/>
          </a:xfrm>
          <a:prstGeom prst="rect">
            <a:avLst/>
          </a:prstGeom>
          <a:solidFill>
            <a:srgbClr val="6F7D8C"/>
          </a:solidFill>
          <a:ln/>
        </p:spPr>
      </p:sp>
      <p:sp>
        <p:nvSpPr>
          <p:cNvPr id="103" name="te-look_102"/>
          <p:cNvSpPr txBox="1"/>
          <p:nvPr/>
        </p:nvSpPr>
        <p:spPr>
          <a:xfrm>
            <a:off x="9354312" y="5381335"/>
            <a:ext cx="310896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72" dirty="0"/>
          </a:p>
        </p:txBody>
      </p:sp>
      <p:sp>
        <p:nvSpPr>
          <p:cNvPr id="104" name="te-look_103"/>
          <p:cNvSpPr txBox="1"/>
          <p:nvPr/>
        </p:nvSpPr>
        <p:spPr>
          <a:xfrm>
            <a:off x="9677370" y="5381335"/>
            <a:ext cx="1135685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 years</a:t>
            </a:r>
            <a:endParaRPr lang="en-US" sz="1272" dirty="0"/>
          </a:p>
        </p:txBody>
      </p:sp>
      <p:sp>
        <p:nvSpPr>
          <p:cNvPr id="105" name="te-look_104"/>
          <p:cNvSpPr/>
          <p:nvPr/>
        </p:nvSpPr>
        <p:spPr>
          <a:xfrm>
            <a:off x="-4145250" y="5227350"/>
            <a:ext cx="6827550" cy="6099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106" name="te-look_105"/>
          <p:cNvSpPr/>
          <p:nvPr/>
        </p:nvSpPr>
        <p:spPr>
          <a:xfrm>
            <a:off x="4267230" y="4053810"/>
            <a:ext cx="365760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107" name="te-look_106"/>
          <p:cNvSpPr/>
          <p:nvPr/>
        </p:nvSpPr>
        <p:spPr>
          <a:xfrm>
            <a:off x="4267230" y="4815870"/>
            <a:ext cx="3657600" cy="121890"/>
          </a:xfrm>
          <a:prstGeom prst="rect">
            <a:avLst/>
          </a:prstGeom>
          <a:solidFill>
            <a:srgbClr val="FFD95D"/>
          </a:solidFill>
          <a:ln/>
        </p:spPr>
      </p:sp>
      <p:sp>
        <p:nvSpPr>
          <p:cNvPr id="108" name="te-look_107"/>
          <p:cNvSpPr/>
          <p:nvPr/>
        </p:nvSpPr>
        <p:spPr>
          <a:xfrm>
            <a:off x="4107210" y="3733770"/>
            <a:ext cx="15270" cy="15240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9" name="te-look_108"/>
          <p:cNvSpPr txBox="1"/>
          <p:nvPr/>
        </p:nvSpPr>
        <p:spPr>
          <a:xfrm>
            <a:off x="4244370" y="3642330"/>
            <a:ext cx="51819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4" b="1" dirty="0">
                <a:solidFill>
                  <a:srgbClr val="187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TSD</a:t>
            </a:r>
            <a:endParaRPr lang="en-US" sz="1654" dirty="0"/>
          </a:p>
        </p:txBody>
      </p:sp>
      <p:sp>
        <p:nvSpPr>
          <p:cNvPr id="110" name="te-look_109"/>
          <p:cNvSpPr txBox="1"/>
          <p:nvPr/>
        </p:nvSpPr>
        <p:spPr>
          <a:xfrm>
            <a:off x="7475220" y="3642330"/>
            <a:ext cx="51819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4" b="1" dirty="0">
                <a:solidFill>
                  <a:srgbClr val="187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TSD</a:t>
            </a:r>
            <a:endParaRPr lang="en-US" sz="1654" dirty="0"/>
          </a:p>
        </p:txBody>
      </p:sp>
      <p:sp>
        <p:nvSpPr>
          <p:cNvPr id="111" name="te-look_110"/>
          <p:cNvSpPr txBox="1"/>
          <p:nvPr/>
        </p:nvSpPr>
        <p:spPr>
          <a:xfrm>
            <a:off x="2933670" y="3992910"/>
            <a:ext cx="101343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TE</a:t>
            </a:r>
            <a:endParaRPr lang="en-US" sz="1654" dirty="0"/>
          </a:p>
        </p:txBody>
      </p:sp>
      <p:sp>
        <p:nvSpPr>
          <p:cNvPr id="112" name="te-look_111"/>
          <p:cNvSpPr txBox="1"/>
          <p:nvPr/>
        </p:nvSpPr>
        <p:spPr>
          <a:xfrm>
            <a:off x="2705070" y="4754880"/>
            <a:ext cx="124203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Putative TE?</a:t>
            </a:r>
            <a:endParaRPr lang="en-US" sz="1654" dirty="0"/>
          </a:p>
        </p:txBody>
      </p:sp>
      <p:sp>
        <p:nvSpPr>
          <p:cNvPr id="113" name="te-look_112"/>
          <p:cNvSpPr txBox="1"/>
          <p:nvPr/>
        </p:nvSpPr>
        <p:spPr>
          <a:xfrm>
            <a:off x="2286000" y="4754880"/>
            <a:ext cx="166119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TE ✅</a:t>
            </a:r>
            <a:endParaRPr lang="en-US" sz="1654" dirty="0"/>
          </a:p>
        </p:txBody>
      </p:sp>
      <p:sp>
        <p:nvSpPr>
          <p:cNvPr id="114" name="te-look_113"/>
          <p:cNvSpPr txBox="1"/>
          <p:nvPr/>
        </p:nvSpPr>
        <p:spPr>
          <a:xfrm>
            <a:off x="4572000" y="3581430"/>
            <a:ext cx="3093690" cy="335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identity</a:t>
            </a:r>
            <a:endParaRPr lang="en-US" sz="1908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-0.13250 0.00000 E" pathEditMode="relative" rAng="0" ptsTypes="AA">
                                      <p:cBhvr>
                                        <p:cTn id="24" dur="1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-0.13250 0.00000 E" pathEditMode="relative" rAng="0" ptsTypes="AA">
                                      <p:cBhvr>
                                        <p:cTn id="26" dur="1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-0.13250 0.00000 E" pathEditMode="relative" rAng="0" ptsTypes="AA">
                                      <p:cBhvr>
                                        <p:cTn id="28" dur="1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-0.13250 0.00000 E" pathEditMode="relative" rAng="0" ptsTypes="AA">
                                      <p:cBhvr>
                                        <p:cTn id="30" dur="11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-0.13250 0.00000 E" pathEditMode="relative" rAng="0" ptsTypes="AA">
                                      <p:cBhvr>
                                        <p:cTn id="32" dur="1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-0.13250 0.00000 E" pathEditMode="relative" rAng="0" ptsTypes="AA">
                                      <p:cBhvr>
                                        <p:cTn id="34" dur="1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-0.13250 0.00000 E" pathEditMode="relative" rAng="0" ptsTypes="AA">
                                      <p:cBhvr>
                                        <p:cTn id="36" dur="1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-0.13250 0.00000 E" pathEditMode="relative" rAng="0" ptsTypes="AA">
                                      <p:cBhvr>
                                        <p:cTn id="38" dur="11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-0.13250 0.00000 E" pathEditMode="relative" rAng="0" ptsTypes="AA">
                                      <p:cBhvr>
                                        <p:cTn id="40" dur="11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-0.13250 0.00000 E" pathEditMode="relative" rAng="0" ptsTypes="AA">
                                      <p:cBhvr>
                                        <p:cTn id="42" dur="1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-0.13250 0.00000 E" pathEditMode="relative" rAng="0" ptsTypes="AA">
                                      <p:cBhvr>
                                        <p:cTn id="44" dur="1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-0.13250 0.00000 E" pathEditMode="relative" rAng="0" ptsTypes="AA">
                                      <p:cBhvr>
                                        <p:cTn id="46" dur="1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-0.13250 0.00000 E" pathEditMode="relative" rAng="0" ptsTypes="AA">
                                      <p:cBhvr>
                                        <p:cTn id="48" dur="1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13250 0.00000 E" pathEditMode="relative" rAng="0" ptsTypes="AA">
                                      <p:cBhvr>
                                        <p:cTn id="50" dur="11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13250 0.00000 E" pathEditMode="relative" rAng="0" ptsTypes="AA">
                                      <p:cBhvr>
                                        <p:cTn id="52" dur="11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13250 0.00000 E" pathEditMode="relative" rAng="0" ptsTypes="AA">
                                      <p:cBhvr>
                                        <p:cTn id="54" dur="11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13250 0.00000 E" pathEditMode="relative" rAng="0" ptsTypes="AA">
                                      <p:cBhvr>
                                        <p:cTn id="56" dur="11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13250 0.00000 E" pathEditMode="relative" rAng="0" ptsTypes="AA">
                                      <p:cBhvr>
                                        <p:cTn id="58" dur="11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13250 0.00000 E" pathEditMode="relative" rAng="0" ptsTypes="AA">
                                      <p:cBhvr>
                                        <p:cTn id="60" dur="11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13250 0.00000 E" pathEditMode="relative" rAng="0" ptsTypes="AA">
                                      <p:cBhvr>
                                        <p:cTn id="62" dur="11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13250 0.00000 E" pathEditMode="relative" rAng="0" ptsTypes="AA">
                                      <p:cBhvr>
                                        <p:cTn id="64" dur="11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13250 0.00000 E" pathEditMode="relative" rAng="0" ptsTypes="AA">
                                      <p:cBhvr>
                                        <p:cTn id="66" dur="11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13250 0.00000 E" pathEditMode="relative" rAng="0" ptsTypes="AA">
                                      <p:cBhvr>
                                        <p:cTn id="68" dur="11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13250 0.00000 E" pathEditMode="relative" rAng="0" ptsTypes="AA">
                                      <p:cBhvr>
                                        <p:cTn id="70" dur="11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1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13250 0.00000 E" pathEditMode="relative" rAng="0" ptsTypes="AA">
                                      <p:cBhvr>
                                        <p:cTn id="72" dur="11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13250 0.00000 E" pathEditMode="relative" rAng="0" ptsTypes="AA">
                                      <p:cBhvr>
                                        <p:cTn id="74" dur="11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0" presetClass="path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00000 0.24444 E" pathEditMode="relative" rAng="0" ptsTypes="AA">
                                      <p:cBhvr>
                                        <p:cTn id="79" dur="9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7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7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7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7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7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7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9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2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1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0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6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9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4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9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2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5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8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1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4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7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0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3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6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9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8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1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4" dur="6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7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0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3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6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9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2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5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8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7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0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3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6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3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6" dur="6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9" dur="6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2" dur="6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5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8" dur="6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4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7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0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3" dur="6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6" dur="6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9" dur="6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2" dur="6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5" dur="6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8" dur="6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3" dur="6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4" presetID="0" presetClass="path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.56000 0.00000 E" pathEditMode="relative" rAng="0" ptsTypes="AA">
                                      <p:cBhvr>
                                        <p:cTn id="475" dur="52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6" presetID="10" presetClass="exit" presetSubtype="0" fill="hold" grpId="0" nodeType="withEffect">
                                  <p:stCondLst>
                                    <p:cond delay="25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7" dur="3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9" presetID="10" presetClass="entr" presetSubtype="0" fill="hold" grpId="0" nodeType="withEffect">
                                  <p:stCondLst>
                                    <p:cond delay="254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1" dur="4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2" presetID="10" presetClass="exit" presetSubtype="0" fill="hold" grpId="0" nodeType="withEffect">
                                  <p:stCondLst>
                                    <p:cond delay="378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3" dur="3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5" presetID="10" presetClass="entr" presetSubtype="0" fill="hold" grpId="0" nodeType="withEffect">
                                  <p:stCondLst>
                                    <p:cond delay="3788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4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8" presetID="10" presetClass="exit" presetSubtype="0" fill="hold" grpId="0" nodeType="withEffect">
                                  <p:stCondLst>
                                    <p:cond delay="51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9" dur="3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1" presetID="10" presetClass="entr" presetSubtype="0" fill="hold" grpId="0" nodeType="withEffect">
                                  <p:stCondLst>
                                    <p:cond delay="514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3" dur="4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4" presetID="10" presetClass="exit" presetSubtype="0" fill="hold" grpId="0" nodeType="withEffect">
                                  <p:stCondLst>
                                    <p:cond delay="628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5" dur="3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7" presetID="10" presetClass="entr" presetSubtype="0" fill="hold" grpId="0" nodeType="withEffect">
                                  <p:stCondLst>
                                    <p:cond delay="6284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9" dur="4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0" fill="hold">
                      <p:stCondLst>
                        <p:cond delay="indefinite"/>
                      </p:stCondLst>
                      <p:childTnLst>
                        <p:par>
                          <p:cTn id="501" fill="hold">
                            <p:stCondLst>
                              <p:cond delay="0"/>
                            </p:stCondLst>
                            <p:childTnLst>
                              <p:par>
                                <p:cTn id="50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6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9" dur="6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2" dur="6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5" dur="6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8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1" dur="6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4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7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0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3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6" dur="6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9" dur="6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2" dur="6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5" dur="6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8" dur="6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1" dur="6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4" dur="6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7" dur="6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0" dur="6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6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6" dur="6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6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2" dur="6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5" dur="6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8" dur="6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6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4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0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3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6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" dur="6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6" dur="6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9" dur="9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2" dur="9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3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5" dur="2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6" presetID="0" presetClass="path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 0 L 0.32500 0.00000 E" pathEditMode="relative" rAng="0" ptsTypes="AA">
                                      <p:cBhvr>
                                        <p:cTn id="617" dur="1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8" presetID="10" presetClass="exit" presetSubtype="0" fill="hold" grpId="0" nodeType="withEffect">
                                  <p:stCondLst>
                                    <p:cond delay="4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9" dur="3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1" presetID="10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4" presetID="10" presetClass="exit" presetSubtype="0" fill="hold" grpId="0" nodeType="withEffect">
                                  <p:stCondLst>
                                    <p:cond delay="5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5" dur="3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7" presetID="10" presetClass="entr" presetSubtype="0" fill="hold" grpId="0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9" dur="4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 animBg="1"/>
      <p:bldP spid="23" grpId="0" animBg="1"/>
      <p:bldP spid="24" grpId="0" animBg="1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 animBg="1"/>
      <p:bldP spid="52" grpId="0" animBg="1"/>
      <p:bldP spid="53" grpId="0" animBg="1"/>
      <p:bldP spid="54" grpId="0" animBg="1"/>
      <p:bldP spid="55" grpId="0"/>
      <p:bldP spid="56" grpId="0" animBg="1"/>
      <p:bldP spid="57" grpId="0"/>
      <p:bldP spid="58" grpId="0" animBg="1"/>
      <p:bldP spid="59" grpId="0"/>
      <p:bldP spid="60" grpId="0" animBg="1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 animBg="1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 animBg="1"/>
      <p:bldP spid="92" grpId="0" animBg="1"/>
      <p:bldP spid="93" grpId="0"/>
      <p:bldP spid="94" grpId="0" animBg="1"/>
      <p:bldP spid="95" grpId="0"/>
      <p:bldP spid="96" grpId="0" animBg="1"/>
      <p:bldP spid="97" grpId="0"/>
      <p:bldP spid="98" grpId="0" animBg="1"/>
      <p:bldP spid="99" grpId="0"/>
      <p:bldP spid="100" grpId="0" animBg="1"/>
      <p:bldP spid="101" grpId="0"/>
      <p:bldP spid="102" grpId="0" animBg="1"/>
      <p:bldP spid="103" grpId="0"/>
      <p:bldP spid="104" grpId="0"/>
      <p:bldP spid="105" grpId="0" animBg="1"/>
      <p:bldP spid="106" grpId="0" animBg="1"/>
      <p:bldP spid="107" grpId="0" animBg="1"/>
      <p:bldP spid="108" grpId="0" animBg="1"/>
      <p:bldP spid="109" grpId="0"/>
      <p:bldP spid="110" grpId="0"/>
      <p:bldP spid="111" grpId="0"/>
      <p:bldP spid="112" grpId="0"/>
      <p:bldP spid="113" grpId="0"/>
      <p:bldP spid="1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-families_1"/>
          <p:cNvSpPr txBox="1"/>
          <p:nvPr/>
        </p:nvSpPr>
        <p:spPr>
          <a:xfrm>
            <a:off x="548640" y="396210"/>
            <a:ext cx="11140410" cy="464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 are split into different families</a:t>
            </a:r>
            <a:endParaRPr lang="en-US" sz="2880" dirty="0"/>
          </a:p>
        </p:txBody>
      </p:sp>
      <p:sp>
        <p:nvSpPr>
          <p:cNvPr id="3" name="te-families_2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family is defined by its consensus sequence</a:t>
            </a:r>
            <a:endParaRPr lang="en-US" sz="2544" dirty="0"/>
          </a:p>
        </p:txBody>
      </p:sp>
      <p:sp>
        <p:nvSpPr>
          <p:cNvPr id="4" name="te-families_3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 sequences use each position’s most common base</a:t>
            </a:r>
            <a:endParaRPr lang="en-US" sz="2544" dirty="0"/>
          </a:p>
        </p:txBody>
      </p:sp>
      <p:sp>
        <p:nvSpPr>
          <p:cNvPr id="5" name="te-families_4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families are catalogued in TE databases, such as Dfam</a:t>
            </a:r>
            <a:endParaRPr lang="en-US" sz="2544" dirty="0"/>
          </a:p>
        </p:txBody>
      </p:sp>
      <p:sp>
        <p:nvSpPr>
          <p:cNvPr id="6" name="te-families_5"/>
          <p:cNvSpPr/>
          <p:nvPr/>
        </p:nvSpPr>
        <p:spPr>
          <a:xfrm>
            <a:off x="1219170" y="4518690"/>
            <a:ext cx="1524030" cy="10671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7" name="te-families_6"/>
          <p:cNvSpPr/>
          <p:nvPr/>
        </p:nvSpPr>
        <p:spPr>
          <a:xfrm>
            <a:off x="3276570" y="4518690"/>
            <a:ext cx="1524030" cy="106710"/>
          </a:xfrm>
          <a:prstGeom prst="rect">
            <a:avLst/>
          </a:prstGeom>
          <a:solidFill>
            <a:srgbClr val="F93500"/>
          </a:solidFill>
          <a:ln/>
        </p:spPr>
      </p:sp>
      <p:sp>
        <p:nvSpPr>
          <p:cNvPr id="8" name="te-families_7"/>
          <p:cNvSpPr/>
          <p:nvPr/>
        </p:nvSpPr>
        <p:spPr>
          <a:xfrm>
            <a:off x="5333970" y="4518690"/>
            <a:ext cx="1524030" cy="106710"/>
          </a:xfrm>
          <a:prstGeom prst="rect">
            <a:avLst/>
          </a:prstGeom>
          <a:solidFill>
            <a:srgbClr val="F90081"/>
          </a:solidFill>
          <a:ln/>
        </p:spPr>
      </p:sp>
      <p:sp>
        <p:nvSpPr>
          <p:cNvPr id="9" name="te-families_8"/>
          <p:cNvSpPr/>
          <p:nvPr/>
        </p:nvSpPr>
        <p:spPr>
          <a:xfrm>
            <a:off x="7391370" y="4518690"/>
            <a:ext cx="1524030" cy="106710"/>
          </a:xfrm>
          <a:prstGeom prst="rect">
            <a:avLst/>
          </a:prstGeom>
          <a:solidFill>
            <a:srgbClr val="006FF9"/>
          </a:solidFill>
          <a:ln/>
        </p:spPr>
      </p:sp>
      <p:sp>
        <p:nvSpPr>
          <p:cNvPr id="10" name="te-families_9"/>
          <p:cNvSpPr/>
          <p:nvPr/>
        </p:nvSpPr>
        <p:spPr>
          <a:xfrm>
            <a:off x="9448770" y="4518690"/>
            <a:ext cx="1524030" cy="106710"/>
          </a:xfrm>
          <a:prstGeom prst="rect">
            <a:avLst/>
          </a:prstGeom>
          <a:solidFill>
            <a:srgbClr val="00F93B"/>
          </a:solidFill>
          <a:ln/>
        </p:spPr>
      </p:sp>
      <p:sp>
        <p:nvSpPr>
          <p:cNvPr id="11" name="te-families_10"/>
          <p:cNvSpPr/>
          <p:nvPr/>
        </p:nvSpPr>
        <p:spPr>
          <a:xfrm>
            <a:off x="4069080" y="3352830"/>
            <a:ext cx="396210" cy="2743200"/>
          </a:xfrm>
          <a:prstGeom prst="roundRect">
            <a:avLst>
              <a:gd name="adj" fmla="val 19225"/>
            </a:avLst>
          </a:prstGeom>
          <a:solidFill>
            <a:srgbClr val="FFFFFF">
              <a:alpha val="8000"/>
            </a:srgbClr>
          </a:solidFill>
          <a:ln w="1143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te-families_11"/>
          <p:cNvSpPr txBox="1"/>
          <p:nvPr/>
        </p:nvSpPr>
        <p:spPr>
          <a:xfrm>
            <a:off x="4100627" y="3419490"/>
            <a:ext cx="33640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62" dirty="0"/>
          </a:p>
        </p:txBody>
      </p:sp>
      <p:sp>
        <p:nvSpPr>
          <p:cNvPr id="13" name="te-families_12"/>
          <p:cNvSpPr txBox="1"/>
          <p:nvPr/>
        </p:nvSpPr>
        <p:spPr>
          <a:xfrm>
            <a:off x="4558010" y="341949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162" dirty="0"/>
          </a:p>
        </p:txBody>
      </p:sp>
      <p:sp>
        <p:nvSpPr>
          <p:cNvPr id="14" name="te-families_13"/>
          <p:cNvSpPr txBox="1"/>
          <p:nvPr/>
        </p:nvSpPr>
        <p:spPr>
          <a:xfrm>
            <a:off x="5015027" y="3419490"/>
            <a:ext cx="33640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62" dirty="0"/>
          </a:p>
        </p:txBody>
      </p:sp>
      <p:sp>
        <p:nvSpPr>
          <p:cNvPr id="15" name="te-families_14"/>
          <p:cNvSpPr txBox="1"/>
          <p:nvPr/>
        </p:nvSpPr>
        <p:spPr>
          <a:xfrm>
            <a:off x="5472410" y="341949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16" name="te-families_15"/>
          <p:cNvSpPr txBox="1"/>
          <p:nvPr/>
        </p:nvSpPr>
        <p:spPr>
          <a:xfrm>
            <a:off x="5929610" y="341949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162" dirty="0"/>
          </a:p>
        </p:txBody>
      </p:sp>
      <p:sp>
        <p:nvSpPr>
          <p:cNvPr id="17" name="te-families_16"/>
          <p:cNvSpPr txBox="1"/>
          <p:nvPr/>
        </p:nvSpPr>
        <p:spPr>
          <a:xfrm>
            <a:off x="6386810" y="341949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18" name="te-families_17"/>
          <p:cNvSpPr txBox="1"/>
          <p:nvPr/>
        </p:nvSpPr>
        <p:spPr>
          <a:xfrm>
            <a:off x="6844010" y="341949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162" dirty="0"/>
          </a:p>
        </p:txBody>
      </p:sp>
      <p:sp>
        <p:nvSpPr>
          <p:cNvPr id="19" name="te-families_18"/>
          <p:cNvSpPr txBox="1"/>
          <p:nvPr/>
        </p:nvSpPr>
        <p:spPr>
          <a:xfrm>
            <a:off x="7301210" y="341949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20" name="te-families_19"/>
          <p:cNvSpPr txBox="1"/>
          <p:nvPr/>
        </p:nvSpPr>
        <p:spPr>
          <a:xfrm>
            <a:off x="7758227" y="3419490"/>
            <a:ext cx="33640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62" dirty="0"/>
          </a:p>
        </p:txBody>
      </p:sp>
      <p:sp>
        <p:nvSpPr>
          <p:cNvPr id="21" name="te-families_20"/>
          <p:cNvSpPr txBox="1"/>
          <p:nvPr/>
        </p:nvSpPr>
        <p:spPr>
          <a:xfrm>
            <a:off x="4100627" y="3815700"/>
            <a:ext cx="33640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62" dirty="0"/>
          </a:p>
        </p:txBody>
      </p:sp>
      <p:sp>
        <p:nvSpPr>
          <p:cNvPr id="22" name="te-families_21"/>
          <p:cNvSpPr txBox="1"/>
          <p:nvPr/>
        </p:nvSpPr>
        <p:spPr>
          <a:xfrm>
            <a:off x="4558010" y="381570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162" dirty="0"/>
          </a:p>
        </p:txBody>
      </p:sp>
      <p:sp>
        <p:nvSpPr>
          <p:cNvPr id="23" name="te-families_22"/>
          <p:cNvSpPr txBox="1"/>
          <p:nvPr/>
        </p:nvSpPr>
        <p:spPr>
          <a:xfrm>
            <a:off x="5015027" y="3815700"/>
            <a:ext cx="33640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62" dirty="0"/>
          </a:p>
        </p:txBody>
      </p:sp>
      <p:sp>
        <p:nvSpPr>
          <p:cNvPr id="24" name="te-families_23"/>
          <p:cNvSpPr txBox="1"/>
          <p:nvPr/>
        </p:nvSpPr>
        <p:spPr>
          <a:xfrm>
            <a:off x="5472410" y="381570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25" name="te-families_24"/>
          <p:cNvSpPr txBox="1"/>
          <p:nvPr/>
        </p:nvSpPr>
        <p:spPr>
          <a:xfrm>
            <a:off x="5929610" y="381570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162" dirty="0"/>
          </a:p>
        </p:txBody>
      </p:sp>
      <p:sp>
        <p:nvSpPr>
          <p:cNvPr id="26" name="te-families_25"/>
          <p:cNvSpPr txBox="1"/>
          <p:nvPr/>
        </p:nvSpPr>
        <p:spPr>
          <a:xfrm>
            <a:off x="6386810" y="381570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27" name="te-families_26"/>
          <p:cNvSpPr txBox="1"/>
          <p:nvPr/>
        </p:nvSpPr>
        <p:spPr>
          <a:xfrm>
            <a:off x="6844010" y="381570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162" dirty="0"/>
          </a:p>
        </p:txBody>
      </p:sp>
      <p:sp>
        <p:nvSpPr>
          <p:cNvPr id="28" name="te-families_27"/>
          <p:cNvSpPr txBox="1"/>
          <p:nvPr/>
        </p:nvSpPr>
        <p:spPr>
          <a:xfrm>
            <a:off x="7301210" y="381570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29" name="te-families_28"/>
          <p:cNvSpPr txBox="1"/>
          <p:nvPr/>
        </p:nvSpPr>
        <p:spPr>
          <a:xfrm>
            <a:off x="7758410" y="381570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162" dirty="0"/>
          </a:p>
        </p:txBody>
      </p:sp>
      <p:sp>
        <p:nvSpPr>
          <p:cNvPr id="30" name="te-families_29"/>
          <p:cNvSpPr txBox="1"/>
          <p:nvPr/>
        </p:nvSpPr>
        <p:spPr>
          <a:xfrm>
            <a:off x="4100810" y="4212001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162" dirty="0"/>
          </a:p>
        </p:txBody>
      </p:sp>
      <p:sp>
        <p:nvSpPr>
          <p:cNvPr id="31" name="te-families_30"/>
          <p:cNvSpPr txBox="1"/>
          <p:nvPr/>
        </p:nvSpPr>
        <p:spPr>
          <a:xfrm>
            <a:off x="4558010" y="4212001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162" dirty="0"/>
          </a:p>
        </p:txBody>
      </p:sp>
      <p:sp>
        <p:nvSpPr>
          <p:cNvPr id="32" name="te-families_31"/>
          <p:cNvSpPr txBox="1"/>
          <p:nvPr/>
        </p:nvSpPr>
        <p:spPr>
          <a:xfrm>
            <a:off x="5015027" y="4212001"/>
            <a:ext cx="33640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62" dirty="0"/>
          </a:p>
        </p:txBody>
      </p:sp>
      <p:sp>
        <p:nvSpPr>
          <p:cNvPr id="33" name="te-families_32"/>
          <p:cNvSpPr txBox="1"/>
          <p:nvPr/>
        </p:nvSpPr>
        <p:spPr>
          <a:xfrm>
            <a:off x="5472410" y="4212001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34" name="te-families_33"/>
          <p:cNvSpPr txBox="1"/>
          <p:nvPr/>
        </p:nvSpPr>
        <p:spPr>
          <a:xfrm>
            <a:off x="5929610" y="4212001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162" dirty="0"/>
          </a:p>
        </p:txBody>
      </p:sp>
      <p:sp>
        <p:nvSpPr>
          <p:cNvPr id="35" name="te-families_34"/>
          <p:cNvSpPr txBox="1"/>
          <p:nvPr/>
        </p:nvSpPr>
        <p:spPr>
          <a:xfrm>
            <a:off x="6386810" y="4212001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162" dirty="0"/>
          </a:p>
        </p:txBody>
      </p:sp>
      <p:sp>
        <p:nvSpPr>
          <p:cNvPr id="36" name="te-families_35"/>
          <p:cNvSpPr txBox="1"/>
          <p:nvPr/>
        </p:nvSpPr>
        <p:spPr>
          <a:xfrm>
            <a:off x="6844010" y="4212001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37" name="te-families_36"/>
          <p:cNvSpPr txBox="1"/>
          <p:nvPr/>
        </p:nvSpPr>
        <p:spPr>
          <a:xfrm>
            <a:off x="7301210" y="4212001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38" name="te-families_37"/>
          <p:cNvSpPr txBox="1"/>
          <p:nvPr/>
        </p:nvSpPr>
        <p:spPr>
          <a:xfrm>
            <a:off x="7758227" y="4212001"/>
            <a:ext cx="33640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62" dirty="0"/>
          </a:p>
        </p:txBody>
      </p:sp>
      <p:sp>
        <p:nvSpPr>
          <p:cNvPr id="39" name="te-families_38"/>
          <p:cNvSpPr txBox="1"/>
          <p:nvPr/>
        </p:nvSpPr>
        <p:spPr>
          <a:xfrm>
            <a:off x="4100627" y="4608210"/>
            <a:ext cx="33640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62" dirty="0"/>
          </a:p>
        </p:txBody>
      </p:sp>
      <p:sp>
        <p:nvSpPr>
          <p:cNvPr id="40" name="te-families_39"/>
          <p:cNvSpPr txBox="1"/>
          <p:nvPr/>
        </p:nvSpPr>
        <p:spPr>
          <a:xfrm>
            <a:off x="4558010" y="460821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162" dirty="0"/>
          </a:p>
        </p:txBody>
      </p:sp>
      <p:sp>
        <p:nvSpPr>
          <p:cNvPr id="41" name="te-families_40"/>
          <p:cNvSpPr txBox="1"/>
          <p:nvPr/>
        </p:nvSpPr>
        <p:spPr>
          <a:xfrm>
            <a:off x="5015027" y="4608210"/>
            <a:ext cx="33640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62" dirty="0"/>
          </a:p>
        </p:txBody>
      </p:sp>
      <p:sp>
        <p:nvSpPr>
          <p:cNvPr id="42" name="te-families_41"/>
          <p:cNvSpPr txBox="1"/>
          <p:nvPr/>
        </p:nvSpPr>
        <p:spPr>
          <a:xfrm>
            <a:off x="5472410" y="460821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43" name="te-families_42"/>
          <p:cNvSpPr txBox="1"/>
          <p:nvPr/>
        </p:nvSpPr>
        <p:spPr>
          <a:xfrm>
            <a:off x="5929610" y="460821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162" dirty="0"/>
          </a:p>
        </p:txBody>
      </p:sp>
      <p:sp>
        <p:nvSpPr>
          <p:cNvPr id="44" name="te-families_43"/>
          <p:cNvSpPr txBox="1"/>
          <p:nvPr/>
        </p:nvSpPr>
        <p:spPr>
          <a:xfrm>
            <a:off x="6386810" y="460821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162" dirty="0"/>
          </a:p>
        </p:txBody>
      </p:sp>
      <p:sp>
        <p:nvSpPr>
          <p:cNvPr id="45" name="te-families_44"/>
          <p:cNvSpPr txBox="1"/>
          <p:nvPr/>
        </p:nvSpPr>
        <p:spPr>
          <a:xfrm>
            <a:off x="6844010" y="460821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46" name="te-families_45"/>
          <p:cNvSpPr txBox="1"/>
          <p:nvPr/>
        </p:nvSpPr>
        <p:spPr>
          <a:xfrm>
            <a:off x="7301210" y="460821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47" name="te-families_46"/>
          <p:cNvSpPr txBox="1"/>
          <p:nvPr/>
        </p:nvSpPr>
        <p:spPr>
          <a:xfrm>
            <a:off x="7758227" y="4608210"/>
            <a:ext cx="33640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62" dirty="0"/>
          </a:p>
        </p:txBody>
      </p:sp>
      <p:sp>
        <p:nvSpPr>
          <p:cNvPr id="48" name="te-families_47"/>
          <p:cNvSpPr txBox="1"/>
          <p:nvPr/>
        </p:nvSpPr>
        <p:spPr>
          <a:xfrm>
            <a:off x="4100627" y="5004420"/>
            <a:ext cx="33640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62" dirty="0"/>
          </a:p>
        </p:txBody>
      </p:sp>
      <p:sp>
        <p:nvSpPr>
          <p:cNvPr id="49" name="te-families_48"/>
          <p:cNvSpPr txBox="1"/>
          <p:nvPr/>
        </p:nvSpPr>
        <p:spPr>
          <a:xfrm>
            <a:off x="4558010" y="500442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162" dirty="0"/>
          </a:p>
        </p:txBody>
      </p:sp>
      <p:sp>
        <p:nvSpPr>
          <p:cNvPr id="50" name="te-families_49"/>
          <p:cNvSpPr txBox="1"/>
          <p:nvPr/>
        </p:nvSpPr>
        <p:spPr>
          <a:xfrm>
            <a:off x="5015027" y="5004420"/>
            <a:ext cx="33640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62" dirty="0"/>
          </a:p>
        </p:txBody>
      </p:sp>
      <p:sp>
        <p:nvSpPr>
          <p:cNvPr id="51" name="te-families_50"/>
          <p:cNvSpPr txBox="1"/>
          <p:nvPr/>
        </p:nvSpPr>
        <p:spPr>
          <a:xfrm>
            <a:off x="5472410" y="500442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52" name="te-families_51"/>
          <p:cNvSpPr txBox="1"/>
          <p:nvPr/>
        </p:nvSpPr>
        <p:spPr>
          <a:xfrm>
            <a:off x="5929610" y="500442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162" dirty="0"/>
          </a:p>
        </p:txBody>
      </p:sp>
      <p:sp>
        <p:nvSpPr>
          <p:cNvPr id="53" name="te-families_52"/>
          <p:cNvSpPr txBox="1"/>
          <p:nvPr/>
        </p:nvSpPr>
        <p:spPr>
          <a:xfrm>
            <a:off x="6386810" y="500442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162" dirty="0"/>
          </a:p>
        </p:txBody>
      </p:sp>
      <p:sp>
        <p:nvSpPr>
          <p:cNvPr id="54" name="te-families_53"/>
          <p:cNvSpPr txBox="1"/>
          <p:nvPr/>
        </p:nvSpPr>
        <p:spPr>
          <a:xfrm>
            <a:off x="6844010" y="500442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55" name="te-families_54"/>
          <p:cNvSpPr txBox="1"/>
          <p:nvPr/>
        </p:nvSpPr>
        <p:spPr>
          <a:xfrm>
            <a:off x="7301210" y="500442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56" name="te-families_55"/>
          <p:cNvSpPr txBox="1"/>
          <p:nvPr/>
        </p:nvSpPr>
        <p:spPr>
          <a:xfrm>
            <a:off x="7758227" y="5004420"/>
            <a:ext cx="33640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D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62" dirty="0"/>
          </a:p>
        </p:txBody>
      </p:sp>
      <p:sp>
        <p:nvSpPr>
          <p:cNvPr id="57" name="te-families_56"/>
          <p:cNvSpPr txBox="1"/>
          <p:nvPr/>
        </p:nvSpPr>
        <p:spPr>
          <a:xfrm>
            <a:off x="4100627" y="3419490"/>
            <a:ext cx="33640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62" dirty="0"/>
          </a:p>
        </p:txBody>
      </p:sp>
      <p:sp>
        <p:nvSpPr>
          <p:cNvPr id="58" name="te-families_57"/>
          <p:cNvSpPr txBox="1"/>
          <p:nvPr/>
        </p:nvSpPr>
        <p:spPr>
          <a:xfrm>
            <a:off x="4558010" y="341949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162" dirty="0"/>
          </a:p>
        </p:txBody>
      </p:sp>
      <p:sp>
        <p:nvSpPr>
          <p:cNvPr id="59" name="te-families_58"/>
          <p:cNvSpPr txBox="1"/>
          <p:nvPr/>
        </p:nvSpPr>
        <p:spPr>
          <a:xfrm>
            <a:off x="5015027" y="3419490"/>
            <a:ext cx="33640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62" dirty="0"/>
          </a:p>
        </p:txBody>
      </p:sp>
      <p:sp>
        <p:nvSpPr>
          <p:cNvPr id="60" name="te-families_59"/>
          <p:cNvSpPr txBox="1"/>
          <p:nvPr/>
        </p:nvSpPr>
        <p:spPr>
          <a:xfrm>
            <a:off x="5472410" y="341949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61" name="te-families_60"/>
          <p:cNvSpPr txBox="1"/>
          <p:nvPr/>
        </p:nvSpPr>
        <p:spPr>
          <a:xfrm>
            <a:off x="5929610" y="341949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162" dirty="0"/>
          </a:p>
        </p:txBody>
      </p:sp>
      <p:sp>
        <p:nvSpPr>
          <p:cNvPr id="62" name="te-families_61"/>
          <p:cNvSpPr txBox="1"/>
          <p:nvPr/>
        </p:nvSpPr>
        <p:spPr>
          <a:xfrm>
            <a:off x="7301210" y="341949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63" name="te-families_62"/>
          <p:cNvSpPr txBox="1"/>
          <p:nvPr/>
        </p:nvSpPr>
        <p:spPr>
          <a:xfrm>
            <a:off x="7758227" y="3419490"/>
            <a:ext cx="33640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62" dirty="0"/>
          </a:p>
        </p:txBody>
      </p:sp>
      <p:sp>
        <p:nvSpPr>
          <p:cNvPr id="64" name="te-families_63"/>
          <p:cNvSpPr txBox="1"/>
          <p:nvPr/>
        </p:nvSpPr>
        <p:spPr>
          <a:xfrm>
            <a:off x="4100627" y="3815700"/>
            <a:ext cx="33640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62" dirty="0"/>
          </a:p>
        </p:txBody>
      </p:sp>
      <p:sp>
        <p:nvSpPr>
          <p:cNvPr id="65" name="te-families_64"/>
          <p:cNvSpPr txBox="1"/>
          <p:nvPr/>
        </p:nvSpPr>
        <p:spPr>
          <a:xfrm>
            <a:off x="4558010" y="381570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162" dirty="0"/>
          </a:p>
        </p:txBody>
      </p:sp>
      <p:sp>
        <p:nvSpPr>
          <p:cNvPr id="66" name="te-families_65"/>
          <p:cNvSpPr txBox="1"/>
          <p:nvPr/>
        </p:nvSpPr>
        <p:spPr>
          <a:xfrm>
            <a:off x="5015027" y="3815700"/>
            <a:ext cx="33640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62" dirty="0"/>
          </a:p>
        </p:txBody>
      </p:sp>
      <p:sp>
        <p:nvSpPr>
          <p:cNvPr id="67" name="te-families_66"/>
          <p:cNvSpPr txBox="1"/>
          <p:nvPr/>
        </p:nvSpPr>
        <p:spPr>
          <a:xfrm>
            <a:off x="5472410" y="381570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68" name="te-families_67"/>
          <p:cNvSpPr txBox="1"/>
          <p:nvPr/>
        </p:nvSpPr>
        <p:spPr>
          <a:xfrm>
            <a:off x="5929610" y="381570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162" dirty="0"/>
          </a:p>
        </p:txBody>
      </p:sp>
      <p:sp>
        <p:nvSpPr>
          <p:cNvPr id="69" name="te-families_68"/>
          <p:cNvSpPr txBox="1"/>
          <p:nvPr/>
        </p:nvSpPr>
        <p:spPr>
          <a:xfrm>
            <a:off x="7301210" y="381570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70" name="te-families_69"/>
          <p:cNvSpPr txBox="1"/>
          <p:nvPr/>
        </p:nvSpPr>
        <p:spPr>
          <a:xfrm>
            <a:off x="4558010" y="4212001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162" dirty="0"/>
          </a:p>
        </p:txBody>
      </p:sp>
      <p:sp>
        <p:nvSpPr>
          <p:cNvPr id="71" name="te-families_70"/>
          <p:cNvSpPr txBox="1"/>
          <p:nvPr/>
        </p:nvSpPr>
        <p:spPr>
          <a:xfrm>
            <a:off x="5015027" y="4212001"/>
            <a:ext cx="33640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62" dirty="0"/>
          </a:p>
        </p:txBody>
      </p:sp>
      <p:sp>
        <p:nvSpPr>
          <p:cNvPr id="72" name="te-families_71"/>
          <p:cNvSpPr txBox="1"/>
          <p:nvPr/>
        </p:nvSpPr>
        <p:spPr>
          <a:xfrm>
            <a:off x="5472410" y="4212001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73" name="te-families_72"/>
          <p:cNvSpPr txBox="1"/>
          <p:nvPr/>
        </p:nvSpPr>
        <p:spPr>
          <a:xfrm>
            <a:off x="6386810" y="4212001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162" dirty="0"/>
          </a:p>
        </p:txBody>
      </p:sp>
      <p:sp>
        <p:nvSpPr>
          <p:cNvPr id="74" name="te-families_73"/>
          <p:cNvSpPr txBox="1"/>
          <p:nvPr/>
        </p:nvSpPr>
        <p:spPr>
          <a:xfrm>
            <a:off x="6844010" y="4212001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75" name="te-families_74"/>
          <p:cNvSpPr txBox="1"/>
          <p:nvPr/>
        </p:nvSpPr>
        <p:spPr>
          <a:xfrm>
            <a:off x="7301210" y="4212001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76" name="te-families_75"/>
          <p:cNvSpPr txBox="1"/>
          <p:nvPr/>
        </p:nvSpPr>
        <p:spPr>
          <a:xfrm>
            <a:off x="7758227" y="4212001"/>
            <a:ext cx="33640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62" dirty="0"/>
          </a:p>
        </p:txBody>
      </p:sp>
      <p:sp>
        <p:nvSpPr>
          <p:cNvPr id="77" name="te-families_76"/>
          <p:cNvSpPr txBox="1"/>
          <p:nvPr/>
        </p:nvSpPr>
        <p:spPr>
          <a:xfrm>
            <a:off x="4100627" y="4608210"/>
            <a:ext cx="33640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62" dirty="0"/>
          </a:p>
        </p:txBody>
      </p:sp>
      <p:sp>
        <p:nvSpPr>
          <p:cNvPr id="78" name="te-families_77"/>
          <p:cNvSpPr txBox="1"/>
          <p:nvPr/>
        </p:nvSpPr>
        <p:spPr>
          <a:xfrm>
            <a:off x="4558010" y="460821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162" dirty="0"/>
          </a:p>
        </p:txBody>
      </p:sp>
      <p:sp>
        <p:nvSpPr>
          <p:cNvPr id="79" name="te-families_78"/>
          <p:cNvSpPr txBox="1"/>
          <p:nvPr/>
        </p:nvSpPr>
        <p:spPr>
          <a:xfrm>
            <a:off x="5015027" y="4608210"/>
            <a:ext cx="33640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62" dirty="0"/>
          </a:p>
        </p:txBody>
      </p:sp>
      <p:sp>
        <p:nvSpPr>
          <p:cNvPr id="80" name="te-families_79"/>
          <p:cNvSpPr txBox="1"/>
          <p:nvPr/>
        </p:nvSpPr>
        <p:spPr>
          <a:xfrm>
            <a:off x="5472410" y="460821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81" name="te-families_80"/>
          <p:cNvSpPr txBox="1"/>
          <p:nvPr/>
        </p:nvSpPr>
        <p:spPr>
          <a:xfrm>
            <a:off x="6386810" y="460821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162" dirty="0"/>
          </a:p>
        </p:txBody>
      </p:sp>
      <p:sp>
        <p:nvSpPr>
          <p:cNvPr id="82" name="te-families_81"/>
          <p:cNvSpPr txBox="1"/>
          <p:nvPr/>
        </p:nvSpPr>
        <p:spPr>
          <a:xfrm>
            <a:off x="6844010" y="460821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83" name="te-families_82"/>
          <p:cNvSpPr txBox="1"/>
          <p:nvPr/>
        </p:nvSpPr>
        <p:spPr>
          <a:xfrm>
            <a:off x="7301210" y="460821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84" name="te-families_83"/>
          <p:cNvSpPr txBox="1"/>
          <p:nvPr/>
        </p:nvSpPr>
        <p:spPr>
          <a:xfrm>
            <a:off x="7758227" y="4608210"/>
            <a:ext cx="33640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62" dirty="0"/>
          </a:p>
        </p:txBody>
      </p:sp>
      <p:sp>
        <p:nvSpPr>
          <p:cNvPr id="85" name="te-families_84"/>
          <p:cNvSpPr txBox="1"/>
          <p:nvPr/>
        </p:nvSpPr>
        <p:spPr>
          <a:xfrm>
            <a:off x="4100627" y="5004420"/>
            <a:ext cx="33640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62" dirty="0"/>
          </a:p>
        </p:txBody>
      </p:sp>
      <p:sp>
        <p:nvSpPr>
          <p:cNvPr id="86" name="te-families_85"/>
          <p:cNvSpPr txBox="1"/>
          <p:nvPr/>
        </p:nvSpPr>
        <p:spPr>
          <a:xfrm>
            <a:off x="4558010" y="500442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162" dirty="0"/>
          </a:p>
        </p:txBody>
      </p:sp>
      <p:sp>
        <p:nvSpPr>
          <p:cNvPr id="87" name="te-families_86"/>
          <p:cNvSpPr txBox="1"/>
          <p:nvPr/>
        </p:nvSpPr>
        <p:spPr>
          <a:xfrm>
            <a:off x="5015027" y="5004420"/>
            <a:ext cx="33640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62" dirty="0"/>
          </a:p>
        </p:txBody>
      </p:sp>
      <p:sp>
        <p:nvSpPr>
          <p:cNvPr id="88" name="te-families_87"/>
          <p:cNvSpPr txBox="1"/>
          <p:nvPr/>
        </p:nvSpPr>
        <p:spPr>
          <a:xfrm>
            <a:off x="5472410" y="500442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89" name="te-families_88"/>
          <p:cNvSpPr txBox="1"/>
          <p:nvPr/>
        </p:nvSpPr>
        <p:spPr>
          <a:xfrm>
            <a:off x="5929610" y="500442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162" dirty="0"/>
          </a:p>
        </p:txBody>
      </p:sp>
      <p:sp>
        <p:nvSpPr>
          <p:cNvPr id="90" name="te-families_89"/>
          <p:cNvSpPr txBox="1"/>
          <p:nvPr/>
        </p:nvSpPr>
        <p:spPr>
          <a:xfrm>
            <a:off x="6386810" y="500442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162" dirty="0"/>
          </a:p>
        </p:txBody>
      </p:sp>
      <p:sp>
        <p:nvSpPr>
          <p:cNvPr id="91" name="te-families_90"/>
          <p:cNvSpPr txBox="1"/>
          <p:nvPr/>
        </p:nvSpPr>
        <p:spPr>
          <a:xfrm>
            <a:off x="6844010" y="500442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92" name="te-families_91"/>
          <p:cNvSpPr txBox="1"/>
          <p:nvPr/>
        </p:nvSpPr>
        <p:spPr>
          <a:xfrm>
            <a:off x="7301210" y="500442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93" name="te-families_92"/>
          <p:cNvSpPr txBox="1"/>
          <p:nvPr/>
        </p:nvSpPr>
        <p:spPr>
          <a:xfrm>
            <a:off x="7758227" y="5004420"/>
            <a:ext cx="33640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62" dirty="0"/>
          </a:p>
        </p:txBody>
      </p:sp>
      <p:sp>
        <p:nvSpPr>
          <p:cNvPr id="94" name="te-families_93"/>
          <p:cNvSpPr txBox="1"/>
          <p:nvPr/>
        </p:nvSpPr>
        <p:spPr>
          <a:xfrm>
            <a:off x="4100627" y="5705490"/>
            <a:ext cx="33640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62" dirty="0"/>
          </a:p>
        </p:txBody>
      </p:sp>
      <p:sp>
        <p:nvSpPr>
          <p:cNvPr id="95" name="te-families_94"/>
          <p:cNvSpPr txBox="1"/>
          <p:nvPr/>
        </p:nvSpPr>
        <p:spPr>
          <a:xfrm>
            <a:off x="4558010" y="570549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162" dirty="0"/>
          </a:p>
        </p:txBody>
      </p:sp>
      <p:sp>
        <p:nvSpPr>
          <p:cNvPr id="96" name="te-families_95"/>
          <p:cNvSpPr txBox="1"/>
          <p:nvPr/>
        </p:nvSpPr>
        <p:spPr>
          <a:xfrm>
            <a:off x="5015027" y="5705490"/>
            <a:ext cx="33640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62" dirty="0"/>
          </a:p>
        </p:txBody>
      </p:sp>
      <p:sp>
        <p:nvSpPr>
          <p:cNvPr id="97" name="te-families_96"/>
          <p:cNvSpPr txBox="1"/>
          <p:nvPr/>
        </p:nvSpPr>
        <p:spPr>
          <a:xfrm>
            <a:off x="5472410" y="570549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98" name="te-families_97"/>
          <p:cNvSpPr txBox="1"/>
          <p:nvPr/>
        </p:nvSpPr>
        <p:spPr>
          <a:xfrm>
            <a:off x="5929610" y="570549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162" dirty="0"/>
          </a:p>
        </p:txBody>
      </p:sp>
      <p:sp>
        <p:nvSpPr>
          <p:cNvPr id="99" name="te-families_98"/>
          <p:cNvSpPr txBox="1"/>
          <p:nvPr/>
        </p:nvSpPr>
        <p:spPr>
          <a:xfrm>
            <a:off x="6386810" y="570549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162" dirty="0"/>
          </a:p>
        </p:txBody>
      </p:sp>
      <p:sp>
        <p:nvSpPr>
          <p:cNvPr id="100" name="te-families_99"/>
          <p:cNvSpPr txBox="1"/>
          <p:nvPr/>
        </p:nvSpPr>
        <p:spPr>
          <a:xfrm>
            <a:off x="6844010" y="570549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101" name="te-families_100"/>
          <p:cNvSpPr txBox="1"/>
          <p:nvPr/>
        </p:nvSpPr>
        <p:spPr>
          <a:xfrm>
            <a:off x="7301210" y="5705490"/>
            <a:ext cx="3327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162" dirty="0"/>
          </a:p>
        </p:txBody>
      </p:sp>
      <p:sp>
        <p:nvSpPr>
          <p:cNvPr id="102" name="te-families_101"/>
          <p:cNvSpPr txBox="1"/>
          <p:nvPr/>
        </p:nvSpPr>
        <p:spPr>
          <a:xfrm>
            <a:off x="7758227" y="5705490"/>
            <a:ext cx="33640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62" dirty="0"/>
          </a:p>
        </p:txBody>
      </p:sp>
      <p:sp>
        <p:nvSpPr>
          <p:cNvPr id="103" name="te-families_102"/>
          <p:cNvSpPr/>
          <p:nvPr/>
        </p:nvSpPr>
        <p:spPr>
          <a:xfrm>
            <a:off x="4038630" y="5570250"/>
            <a:ext cx="4114800" cy="15270"/>
          </a:xfrm>
          <a:prstGeom prst="rect">
            <a:avLst/>
          </a:prstGeom>
          <a:solidFill>
            <a:srgbClr val="263240"/>
          </a:solidFill>
          <a:ln/>
        </p:spPr>
      </p:sp>
      <p:sp>
        <p:nvSpPr>
          <p:cNvPr id="104" name="te-families_103"/>
          <p:cNvSpPr txBox="1"/>
          <p:nvPr/>
        </p:nvSpPr>
        <p:spPr>
          <a:xfrm>
            <a:off x="1066830" y="4785330"/>
            <a:ext cx="18745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AluYc</a:t>
            </a:r>
            <a:endParaRPr lang="en-US" sz="1654" dirty="0"/>
          </a:p>
        </p:txBody>
      </p:sp>
      <p:sp>
        <p:nvSpPr>
          <p:cNvPr id="105" name="te-families_104"/>
          <p:cNvSpPr txBox="1"/>
          <p:nvPr/>
        </p:nvSpPr>
        <p:spPr>
          <a:xfrm>
            <a:off x="3124230" y="4785330"/>
            <a:ext cx="18745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L1M5</a:t>
            </a:r>
            <a:endParaRPr lang="en-US" sz="1654" dirty="0"/>
          </a:p>
        </p:txBody>
      </p:sp>
      <p:sp>
        <p:nvSpPr>
          <p:cNvPr id="106" name="te-families_105"/>
          <p:cNvSpPr txBox="1"/>
          <p:nvPr/>
        </p:nvSpPr>
        <p:spPr>
          <a:xfrm>
            <a:off x="5181630" y="4785330"/>
            <a:ext cx="18745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MADE1</a:t>
            </a:r>
            <a:endParaRPr lang="en-US" sz="1654" dirty="0"/>
          </a:p>
        </p:txBody>
      </p:sp>
      <p:sp>
        <p:nvSpPr>
          <p:cNvPr id="107" name="te-families_106"/>
          <p:cNvSpPr txBox="1"/>
          <p:nvPr/>
        </p:nvSpPr>
        <p:spPr>
          <a:xfrm>
            <a:off x="7239030" y="4785330"/>
            <a:ext cx="18745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GokuERV</a:t>
            </a:r>
            <a:endParaRPr lang="en-US" sz="1654" dirty="0"/>
          </a:p>
        </p:txBody>
      </p:sp>
      <p:sp>
        <p:nvSpPr>
          <p:cNvPr id="108" name="te-families_107"/>
          <p:cNvSpPr txBox="1"/>
          <p:nvPr/>
        </p:nvSpPr>
        <p:spPr>
          <a:xfrm>
            <a:off x="9296430" y="4785330"/>
            <a:ext cx="18745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Charlie10</a:t>
            </a:r>
            <a:endParaRPr lang="en-US" sz="1654" dirty="0"/>
          </a:p>
        </p:txBody>
      </p:sp>
      <p:sp>
        <p:nvSpPr>
          <p:cNvPr id="109" name="te-families_108"/>
          <p:cNvSpPr txBox="1"/>
          <p:nvPr/>
        </p:nvSpPr>
        <p:spPr>
          <a:xfrm>
            <a:off x="2872770" y="4251960"/>
            <a:ext cx="9829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copies</a:t>
            </a:r>
            <a:endParaRPr lang="en-US" sz="1654" dirty="0"/>
          </a:p>
        </p:txBody>
      </p:sp>
      <p:sp>
        <p:nvSpPr>
          <p:cNvPr id="110" name="te-families_109"/>
          <p:cNvSpPr txBox="1"/>
          <p:nvPr/>
        </p:nvSpPr>
        <p:spPr>
          <a:xfrm>
            <a:off x="2735610" y="5745450"/>
            <a:ext cx="11201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</a:t>
            </a:r>
            <a:endParaRPr lang="en-US" sz="1654" dirty="0"/>
          </a:p>
        </p:txBody>
      </p:sp>
      <p:sp>
        <p:nvSpPr>
          <p:cNvPr id="111" name="te-families_110"/>
          <p:cNvSpPr txBox="1"/>
          <p:nvPr/>
        </p:nvSpPr>
        <p:spPr>
          <a:xfrm>
            <a:off x="1767810" y="2682210"/>
            <a:ext cx="8709660" cy="830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52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But, is this database complete?</a:t>
            </a:r>
            <a:endParaRPr lang="en-US" sz="5520" dirty="0"/>
          </a:p>
        </p:txBody>
      </p:sp>
      <p:sp>
        <p:nvSpPr>
          <p:cNvPr id="112" name="te-families_111"/>
          <p:cNvSpPr txBox="1"/>
          <p:nvPr/>
        </p:nvSpPr>
        <p:spPr>
          <a:xfrm>
            <a:off x="1554480" y="3710910"/>
            <a:ext cx="9128730" cy="5333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36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there TE families that have yet to be discovered?</a:t>
            </a:r>
            <a:endParaRPr lang="en-US" sz="3360" dirty="0"/>
          </a:p>
        </p:txBody>
      </p:sp>
      <p:sp>
        <p:nvSpPr>
          <p:cNvPr id="113" name="te-families_112"/>
          <p:cNvSpPr/>
          <p:nvPr/>
        </p:nvSpPr>
        <p:spPr>
          <a:xfrm>
            <a:off x="548640" y="2590770"/>
            <a:ext cx="11094690" cy="3185130"/>
          </a:xfrm>
          <a:prstGeom prst="roundRect">
            <a:avLst>
              <a:gd name="adj" fmla="val 3350"/>
            </a:avLst>
          </a:prstGeom>
          <a:solidFill>
            <a:srgbClr val="111821"/>
          </a:solidFill>
          <a:ln w="11430">
            <a:solidFill>
              <a:srgbClr val="263240"/>
            </a:solidFill>
            <a:prstDash val="solid"/>
          </a:ln>
        </p:spPr>
      </p:sp>
      <p:sp>
        <p:nvSpPr>
          <p:cNvPr id="114" name="te-families_113"/>
          <p:cNvSpPr txBox="1"/>
          <p:nvPr/>
        </p:nvSpPr>
        <p:spPr>
          <a:xfrm>
            <a:off x="731520" y="2636490"/>
            <a:ext cx="4572000" cy="335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Dfam</a:t>
            </a:r>
            <a:pPr algn="l" indent="0" marL="0">
              <a:buNone/>
            </a:pPr>
            <a:r>
              <a:rPr lang="en-US" sz="1200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Browse families</a:t>
            </a:r>
            <a:endParaRPr lang="en-US" sz="1400" dirty="0"/>
          </a:p>
        </p:txBody>
      </p:sp>
      <p:sp>
        <p:nvSpPr>
          <p:cNvPr id="115" name="te-families_114"/>
          <p:cNvSpPr txBox="1"/>
          <p:nvPr/>
        </p:nvSpPr>
        <p:spPr>
          <a:xfrm>
            <a:off x="9144000" y="2636490"/>
            <a:ext cx="2286000" cy="335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D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dfam.org/browse</a:t>
            </a:r>
            <a:endParaRPr lang="en-US" sz="1000" dirty="0"/>
          </a:p>
        </p:txBody>
      </p:sp>
      <p:graphicFrame>
        <p:nvGraphicFramePr>
          <p:cNvPr id="9001" name="te-families_1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94660"/>
          <a:ext cx="11094690" cy="914400"/>
        </p:xfrm>
        <a:graphic>
          <a:graphicData uri="http://schemas.openxmlformats.org/drawingml/2006/table">
            <a:tbl>
              <a:tblPr/>
              <a:tblGrid>
                <a:gridCol w="1447770"/>
                <a:gridCol w="1447770"/>
                <a:gridCol w="1904970"/>
                <a:gridCol w="1447770"/>
                <a:gridCol w="3886200"/>
                <a:gridCol w="9601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F7D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F7D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F7D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CLASSIFICATION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F7D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CLADES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F7D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F7D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F7D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DF000000001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9B5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SINE/MIR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9B5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Mammalia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7A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 is a pan-mammalian SINE with a 5′ end derived from a tRNA…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F7D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DF000000008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L1M5_orf2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9B5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LINE/L1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9B5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Theria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7A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Present in eutherians.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F7D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DF000000057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AluYc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9B5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SINE/Alu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9B5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Hominoidea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7A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Alu elements derive from a pair of internally-deleted 7SL RNA mo…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F7D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DF000000081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Charlie10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9B5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DNA/hAT-Charlie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9B5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Eutheria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7A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Charlie10 is a full-length hAT-Charlie DNA transposon.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F7D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DF000000188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HERVK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9B5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LTR/ERVK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9B5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Catarrhini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7A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gag (~156–2297), protease (~2063–3082), pol (~3037–5785) and env…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F7D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DF000000225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L1HS_3end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9B5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LINE/L1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9B5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Homininae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7A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Currently active in human genome.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F7D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DF000000629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MADE1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9B5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DNA/TcMar-Mariner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9B5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Simiiformes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7A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Resembles an internal deletion product of Mariner1; has 37 bp TI…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F7D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DF000000818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THE1B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9B5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LTR/ERVL-MaLR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9B5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Haplorrhini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7A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LTR of the THE1B retrovirus-like MaLR element. Has 5 bp TSDs…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F7D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DF000000876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MER5A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9B5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DNA/hAT-Charlie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9B5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Eutheria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7A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MER5A has 14 bp TIRs and 8 bp TSDs…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6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6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6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6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6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18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18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8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8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26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0" presetClass="path" presetSubtype="0" fill="hold" grpId="0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 0 L 0.03750 0.00000 E" pathEditMode="relative" rAng="0" ptsTypes="AA">
                                      <p:cBhvr>
                                        <p:cTn id="204" dur="2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xit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26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26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xit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26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26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18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18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18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18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18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26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0" presetClass="path" presetSubtype="0" fill="hold" grpId="0" nodeType="withEffect">
                                  <p:stCondLst>
                                    <p:cond delay="2540"/>
                                  </p:stCondLst>
                                  <p:childTnLst>
                                    <p:animMotion origin="layout" path="M 0 0 L 0.03750 0.00000 E" pathEditMode="relative" rAng="0" ptsTypes="AA">
                                      <p:cBhvr>
                                        <p:cTn id="236" dur="2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7" presetID="10" presetClass="exit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8" dur="26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0" presetClass="exit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1" dur="26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0" presetClass="exit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26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26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0" presetClass="exit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0" dur="26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grpId="0" nodeType="withEffect">
                                  <p:stCondLst>
                                    <p:cond delay="278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18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grpId="0" nodeType="withEffect">
                                  <p:stCondLst>
                                    <p:cond delay="278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18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grpId="0" nodeType="withEffect">
                                  <p:stCondLst>
                                    <p:cond delay="278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18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grpId="0" nodeType="withEffect">
                                  <p:stCondLst>
                                    <p:cond delay="278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18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grpId="0" nodeType="withEffect">
                                  <p:stCondLst>
                                    <p:cond delay="278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18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26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0" presetClass="path" presetSubtype="0" fill="hold" grpId="0" nodeType="withEffect">
                                  <p:stCondLst>
                                    <p:cond delay="3160"/>
                                  </p:stCondLst>
                                  <p:childTnLst>
                                    <p:animMotion origin="layout" path="M 0 0 L 0.03750 0.00000 E" pathEditMode="relative" rAng="0" ptsTypes="AA">
                                      <p:cBhvr>
                                        <p:cTn id="271" dur="2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32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26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0" presetClass="exit" presetSubtype="0" fill="hold" grpId="0" nodeType="withEffect">
                                  <p:stCondLst>
                                    <p:cond delay="32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6" dur="26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0" presetClass="exit" presetSubtype="0" fill="hold" grpId="0" nodeType="withEffect">
                                  <p:stCondLst>
                                    <p:cond delay="32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9" dur="26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0" presetClass="exit" presetSubtype="0" fill="hold" grpId="0" nodeType="withEffect">
                                  <p:stCondLst>
                                    <p:cond delay="32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2" dur="26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0" presetClass="exit" presetSubtype="0" fill="hold" grpId="0" nodeType="withEffect">
                                  <p:stCondLst>
                                    <p:cond delay="32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5" dur="26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18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18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18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18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18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grpId="0" nodeType="withEffect">
                                  <p:stCondLst>
                                    <p:cond delay="362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26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0" presetClass="path" presetSubtype="0" fill="hold" grpId="0" nodeType="withEffect">
                                  <p:stCondLst>
                                    <p:cond delay="3780"/>
                                  </p:stCondLst>
                                  <p:childTnLst>
                                    <p:animMotion origin="layout" path="M 0 0 L 0.03750 0.00000 E" pathEditMode="relative" rAng="0" ptsTypes="AA">
                                      <p:cBhvr>
                                        <p:cTn id="306" dur="2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7" presetID="10" presetClass="exit" presetSubtype="0" fill="hold" grpId="0" nodeType="withEffect">
                                  <p:stCondLst>
                                    <p:cond delay="38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8" dur="26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grpId="0" nodeType="withEffect">
                                  <p:stCondLst>
                                    <p:cond delay="38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26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xit" presetSubtype="0" fill="hold" grpId="0" nodeType="withEffect">
                                  <p:stCondLst>
                                    <p:cond delay="38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4" dur="26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10" presetClass="exit" presetSubtype="0" fill="hold" grpId="0" nodeType="withEffect">
                                  <p:stCondLst>
                                    <p:cond delay="38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26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0" presetClass="exit" presetSubtype="0" fill="hold" grpId="0" nodeType="withEffect">
                                  <p:stCondLst>
                                    <p:cond delay="38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26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0" presetClass="entr" presetSubtype="0" fill="hold" grpId="0" nodeType="withEffect">
                                  <p:stCondLst>
                                    <p:cond delay="402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18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0" nodeType="withEffect">
                                  <p:stCondLst>
                                    <p:cond delay="402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18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ntr" presetSubtype="0" fill="hold" grpId="0" nodeType="withEffect">
                                  <p:stCondLst>
                                    <p:cond delay="402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18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0" nodeType="withEffect">
                                  <p:stCondLst>
                                    <p:cond delay="424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26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0" presetClass="path" presetSubtype="0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animMotion origin="layout" path="M 0 0 L 0.03750 0.00000 E" pathEditMode="relative" rAng="0" ptsTypes="AA">
                                      <p:cBhvr>
                                        <p:cTn id="335" dur="2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6" presetID="10" presetClass="exit" presetSubtype="0" fill="hold" grpId="0" nodeType="withEffect">
                                  <p:stCondLst>
                                    <p:cond delay="44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7" dur="26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0" presetClass="exit" presetSubtype="0" fill="hold" grpId="0" nodeType="withEffect">
                                  <p:stCondLst>
                                    <p:cond delay="44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0" dur="26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0" presetClass="exit" presetSubtype="0" fill="hold" grpId="0" nodeType="withEffect">
                                  <p:stCondLst>
                                    <p:cond delay="44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3" dur="26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10" presetClass="entr" presetSubtype="0" fill="hold" grpId="0" nodeType="withEffect">
                                  <p:stCondLst>
                                    <p:cond delay="464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18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10" presetClass="entr" presetSubtype="0" fill="hold" grpId="0" nodeType="withEffect">
                                  <p:stCondLst>
                                    <p:cond delay="464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18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1" presetID="10" presetClass="entr" presetSubtype="0" fill="hold" grpId="0" nodeType="withEffect">
                                  <p:stCondLst>
                                    <p:cond delay="464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18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10" presetClass="entr" presetSubtype="0" fill="hold" grpId="0" nodeType="withEffect">
                                  <p:stCondLst>
                                    <p:cond delay="486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6" dur="26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presetID="0" presetClass="path" presetSubtype="0" fill="hold" grpId="0" nodeType="withEffect">
                                  <p:stCondLst>
                                    <p:cond delay="5020"/>
                                  </p:stCondLst>
                                  <p:childTnLst>
                                    <p:animMotion origin="layout" path="M 0 0 L 0.03750 0.00000 E" pathEditMode="relative" rAng="0" ptsTypes="AA">
                                      <p:cBhvr>
                                        <p:cTn id="358" dur="2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9" presetID="10" presetClass="exit" presetSubtype="0" fill="hold" grpId="0" nodeType="withEffect">
                                  <p:stCondLst>
                                    <p:cond delay="50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0" dur="26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10" presetClass="exit" presetSubtype="0" fill="hold" grpId="0" nodeType="withEffect">
                                  <p:stCondLst>
                                    <p:cond delay="50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3" dur="26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10" presetClass="exit" presetSubtype="0" fill="hold" grpId="0" nodeType="withEffect">
                                  <p:stCondLst>
                                    <p:cond delay="50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6" dur="26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0" presetClass="entr" presetSubtype="0" fill="hold" grpId="0" nodeType="withEffect">
                                  <p:stCondLst>
                                    <p:cond delay="526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18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10" presetClass="entr" presetSubtype="0" fill="hold" grpId="0" nodeType="withEffect">
                                  <p:stCondLst>
                                    <p:cond delay="526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18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0" presetClass="entr" presetSubtype="0" fill="hold" grpId="0" nodeType="withEffect">
                                  <p:stCondLst>
                                    <p:cond delay="526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6" dur="18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presetID="10" presetClass="entr" presetSubtype="0" fill="hold" grpId="0" nodeType="withEffect">
                                  <p:stCondLst>
                                    <p:cond delay="548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26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0" presetClass="path" presetSubtype="0" fill="hold" grpId="0" nodeType="withEffect">
                                  <p:stCondLst>
                                    <p:cond delay="5640"/>
                                  </p:stCondLst>
                                  <p:childTnLst>
                                    <p:animMotion origin="layout" path="M 0 0 L 0.03750 0.00000 E" pathEditMode="relative" rAng="0" ptsTypes="AA">
                                      <p:cBhvr>
                                        <p:cTn id="381" dur="2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2" presetID="10" presetClass="exit" presetSubtype="0" fill="hold" grpId="0" nodeType="withEffect">
                                  <p:stCondLst>
                                    <p:cond delay="5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3" dur="26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0" presetClass="exit" presetSubtype="0" fill="hold" grpId="0" nodeType="withEffect">
                                  <p:stCondLst>
                                    <p:cond delay="5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6" dur="26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" presetID="10" presetClass="exit" presetSubtype="0" fill="hold" grpId="0" nodeType="withEffect">
                                  <p:stCondLst>
                                    <p:cond delay="5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9" dur="26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0" presetClass="entr" presetSubtype="0" fill="hold" grpId="0" nodeType="withEffect">
                                  <p:stCondLst>
                                    <p:cond delay="588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18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10" presetClass="entr" presetSubtype="0" fill="hold" grpId="0" nodeType="withEffect">
                                  <p:stCondLst>
                                    <p:cond delay="588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6" dur="18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7" presetID="10" presetClass="entr" presetSubtype="0" fill="hold" grpId="0" nodeType="withEffect">
                                  <p:stCondLst>
                                    <p:cond delay="588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18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10" presetClass="entr" presetSubtype="0" fill="hold" grpId="0" nodeType="withEffect">
                                  <p:stCondLst>
                                    <p:cond delay="588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2" dur="18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3" presetID="10" presetClass="entr" presetSubtype="0" fill="hold" grpId="0" nodeType="withEffect">
                                  <p:stCondLst>
                                    <p:cond delay="588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18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10" presetClass="entr" presetSubtype="0" fill="hold" grpId="0" nodeType="withEffect">
                                  <p:stCondLst>
                                    <p:cond delay="610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8" dur="26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9" presetID="0" presetClass="path" presetSubtype="0" fill="hold" grpId="0" nodeType="withEffect">
                                  <p:stCondLst>
                                    <p:cond delay="6260"/>
                                  </p:stCondLst>
                                  <p:childTnLst>
                                    <p:animMotion origin="layout" path="M 0 0 L 0.03750 0.00000 E" pathEditMode="relative" rAng="0" ptsTypes="AA">
                                      <p:cBhvr>
                                        <p:cTn id="410" dur="2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1" presetID="10" presetClass="exit" presetSubtype="0" fill="hold" grpId="0" nodeType="withEffect">
                                  <p:stCondLst>
                                    <p:cond delay="63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2" dur="26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10" presetClass="exit" presetSubtype="0" fill="hold" grpId="0" nodeType="withEffect">
                                  <p:stCondLst>
                                    <p:cond delay="63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5" dur="26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10" presetClass="exit" presetSubtype="0" fill="hold" grpId="0" nodeType="withEffect">
                                  <p:stCondLst>
                                    <p:cond delay="63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8" dur="26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10" presetClass="exit" presetSubtype="0" fill="hold" grpId="0" nodeType="withEffect">
                                  <p:stCondLst>
                                    <p:cond delay="63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1" dur="26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10" presetClass="exit" presetSubtype="0" fill="hold" grpId="0" nodeType="withEffect">
                                  <p:stCondLst>
                                    <p:cond delay="63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4" dur="26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10" presetClass="entr" presetSubtype="0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8" dur="18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9" presetID="10" presetClass="entr" presetSubtype="0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" dur="18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2" presetID="10" presetClass="entr" presetSubtype="0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4" dur="18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5" presetID="10" presetClass="entr" presetSubtype="0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7" dur="18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8" presetID="10" presetClass="entr" presetSubtype="0" fill="hold" grpId="0" nodeType="withEffect">
                                  <p:stCondLst>
                                    <p:cond delay="672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0" dur="26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1" presetID="10" presetClass="exit" presetSubtype="0" fill="hold" grpId="0" nodeType="withEffect">
                                  <p:stCondLst>
                                    <p:cond delay="69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2" dur="26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10" presetClass="exit" presetSubtype="0" fill="hold" grpId="0" nodeType="withEffect">
                                  <p:stCondLst>
                                    <p:cond delay="69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5" dur="26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10" presetClass="exit" presetSubtype="0" fill="hold" grpId="0" nodeType="withEffect">
                                  <p:stCondLst>
                                    <p:cond delay="69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8" dur="26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0" presetID="10" presetClass="exit" presetSubtype="0" fill="hold" grpId="0" nodeType="withEffect">
                                  <p:stCondLst>
                                    <p:cond delay="69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1" dur="26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10" presetClass="exit" presetSubtype="0" fill="hold" grpId="0" nodeType="withEffect">
                                  <p:stCondLst>
                                    <p:cond delay="69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6" fill="hold">
                      <p:stCondLst>
                        <p:cond delay="indefinite"/>
                      </p:stCondLst>
                      <p:childTnLst>
                        <p:par>
                          <p:cTn id="457" fill="hold">
                            <p:stCondLst>
                              <p:cond delay="0"/>
                            </p:stCondLst>
                            <p:childTnLst>
                              <p:par>
                                <p:cTn id="45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7" dur="6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0" dur="6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3" dur="6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6" dur="600"/>
                                        <p:tgtEl>
                                          <p:spTgt spid="9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7" fill="hold">
                      <p:stCondLst>
                        <p:cond delay="indefinite"/>
                      </p:stCondLst>
                      <p:childTnLst>
                        <p:par>
                          <p:cTn id="648" fill="hold">
                            <p:stCondLst>
                              <p:cond delay="0"/>
                            </p:stCondLst>
                            <p:childTnLst>
                              <p:par>
                                <p:cTn id="6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0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6" dur="6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9" dur="6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2" dur="6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5" dur="600"/>
                                        <p:tgtEl>
                                          <p:spTgt spid="90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9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9" dur="8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2" dur="8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  <p:bldP spid="102" grpId="0"/>
      <p:bldP spid="103" grpId="0" animBg="1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113" grpId="0" animBg="1"/>
      <p:bldP spid="114" grpId="0"/>
      <p:bldP spid="1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-discover_1"/>
          <p:cNvSpPr txBox="1"/>
          <p:nvPr/>
        </p:nvSpPr>
        <p:spPr>
          <a:xfrm>
            <a:off x="548640" y="396210"/>
            <a:ext cx="11140410" cy="464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90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Discovering new TE families with REPrise and RepeatModeler</a:t>
            </a:r>
            <a:endParaRPr lang="en-US" sz="2690" dirty="0"/>
          </a:p>
        </p:txBody>
      </p:sp>
      <p:sp>
        <p:nvSpPr>
          <p:cNvPr id="3" name="te-discover_2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tools search commonly reoccurring k-mers to find repeats</a:t>
            </a:r>
            <a:endParaRPr lang="en-US" sz="2544" dirty="0"/>
          </a:p>
        </p:txBody>
      </p:sp>
      <p:sp>
        <p:nvSpPr>
          <p:cNvPr id="4" name="te-discover_3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RepeatModeler counts </a:t>
            </a:r>
            <a:pPr algn="ctr" indent="0" marL="0">
              <a:buNone/>
            </a:pPr>
            <a:r>
              <a:rPr lang="en-US" sz="2544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</a:t>
            </a:r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k-mer occurrences</a:t>
            </a:r>
            <a:endParaRPr lang="en-US" sz="2544" dirty="0"/>
          </a:p>
        </p:txBody>
      </p:sp>
      <p:sp>
        <p:nvSpPr>
          <p:cNvPr id="5" name="te-discover_4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Whereas REPrise counts inexact k-mer occurrences</a:t>
            </a:r>
            <a:endParaRPr lang="en-US" sz="2544" dirty="0"/>
          </a:p>
        </p:txBody>
      </p:sp>
      <p:sp>
        <p:nvSpPr>
          <p:cNvPr id="6" name="te-discover_5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two tools can be used to model repeat families</a:t>
            </a:r>
            <a:endParaRPr lang="en-US" sz="2544" dirty="0"/>
          </a:p>
        </p:txBody>
      </p:sp>
      <p:sp>
        <p:nvSpPr>
          <p:cNvPr id="7" name="te-discover_6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finding sequences which are similar to each other within the genome</a:t>
            </a:r>
            <a:endParaRPr lang="en-US" sz="2544" dirty="0"/>
          </a:p>
        </p:txBody>
      </p:sp>
      <p:sp>
        <p:nvSpPr>
          <p:cNvPr id="8" name="te-discover_7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consensus sequences built by multiple alignment</a:t>
            </a:r>
            <a:endParaRPr lang="en-US" sz="2544" dirty="0"/>
          </a:p>
        </p:txBody>
      </p:sp>
      <p:sp>
        <p:nvSpPr>
          <p:cNvPr id="9" name="te-discover_8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discovered sequences masked, so they aren’t rediscovered</a:t>
            </a:r>
            <a:endParaRPr lang="en-US" sz="2544" dirty="0"/>
          </a:p>
        </p:txBody>
      </p:sp>
      <p:sp>
        <p:nvSpPr>
          <p:cNvPr id="10" name="te-discover_9"/>
          <p:cNvSpPr/>
          <p:nvPr/>
        </p:nvSpPr>
        <p:spPr>
          <a:xfrm>
            <a:off x="1219170" y="4815870"/>
            <a:ext cx="975363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1" name="te-discover_10"/>
          <p:cNvSpPr/>
          <p:nvPr/>
        </p:nvSpPr>
        <p:spPr>
          <a:xfrm>
            <a:off x="2514600" y="4823460"/>
            <a:ext cx="914400" cy="10671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12" name="te-discover_11"/>
          <p:cNvSpPr/>
          <p:nvPr/>
        </p:nvSpPr>
        <p:spPr>
          <a:xfrm>
            <a:off x="5638830" y="4823460"/>
            <a:ext cx="914400" cy="106710"/>
          </a:xfrm>
          <a:prstGeom prst="rect">
            <a:avLst/>
          </a:prstGeom>
          <a:solidFill>
            <a:srgbClr val="FFDC6D"/>
          </a:solidFill>
          <a:ln/>
        </p:spPr>
      </p:sp>
      <p:sp>
        <p:nvSpPr>
          <p:cNvPr id="13" name="te-discover_12"/>
          <p:cNvSpPr/>
          <p:nvPr/>
        </p:nvSpPr>
        <p:spPr>
          <a:xfrm>
            <a:off x="8458200" y="4823460"/>
            <a:ext cx="914400" cy="106710"/>
          </a:xfrm>
          <a:prstGeom prst="rect">
            <a:avLst/>
          </a:prstGeom>
          <a:solidFill>
            <a:srgbClr val="FFEBA9"/>
          </a:solidFill>
          <a:ln/>
        </p:spPr>
      </p:sp>
      <p:sp>
        <p:nvSpPr>
          <p:cNvPr id="14" name="te-discover_13"/>
          <p:cNvSpPr/>
          <p:nvPr/>
        </p:nvSpPr>
        <p:spPr>
          <a:xfrm>
            <a:off x="2514600" y="4819620"/>
            <a:ext cx="914400" cy="1143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-discover_14"/>
          <p:cNvSpPr/>
          <p:nvPr/>
        </p:nvSpPr>
        <p:spPr>
          <a:xfrm>
            <a:off x="5638830" y="4819620"/>
            <a:ext cx="914400" cy="1143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-discover_15"/>
          <p:cNvSpPr/>
          <p:nvPr/>
        </p:nvSpPr>
        <p:spPr>
          <a:xfrm>
            <a:off x="8458200" y="4819620"/>
            <a:ext cx="914400" cy="1143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-discover_16"/>
          <p:cNvSpPr/>
          <p:nvPr/>
        </p:nvSpPr>
        <p:spPr>
          <a:xfrm>
            <a:off x="2514600" y="4823460"/>
            <a:ext cx="914400" cy="10671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18" name="te-discover_17"/>
          <p:cNvSpPr/>
          <p:nvPr/>
        </p:nvSpPr>
        <p:spPr>
          <a:xfrm>
            <a:off x="5638830" y="4823460"/>
            <a:ext cx="914400" cy="106710"/>
          </a:xfrm>
          <a:prstGeom prst="rect">
            <a:avLst/>
          </a:prstGeom>
          <a:solidFill>
            <a:srgbClr val="FFDC6D"/>
          </a:solidFill>
          <a:ln/>
        </p:spPr>
      </p:sp>
      <p:sp>
        <p:nvSpPr>
          <p:cNvPr id="19" name="te-discover_18"/>
          <p:cNvSpPr/>
          <p:nvPr/>
        </p:nvSpPr>
        <p:spPr>
          <a:xfrm>
            <a:off x="8458200" y="4823460"/>
            <a:ext cx="914400" cy="106710"/>
          </a:xfrm>
          <a:prstGeom prst="rect">
            <a:avLst/>
          </a:prstGeom>
          <a:solidFill>
            <a:srgbClr val="FFEBA9"/>
          </a:solidFill>
          <a:ln/>
        </p:spPr>
      </p:sp>
      <p:sp>
        <p:nvSpPr>
          <p:cNvPr id="20" name="te-discover_19"/>
          <p:cNvSpPr/>
          <p:nvPr/>
        </p:nvSpPr>
        <p:spPr>
          <a:xfrm>
            <a:off x="5638830" y="2811780"/>
            <a:ext cx="914400" cy="10671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21" name="te-discover_20"/>
          <p:cNvSpPr/>
          <p:nvPr/>
        </p:nvSpPr>
        <p:spPr>
          <a:xfrm>
            <a:off x="4724430" y="3505170"/>
            <a:ext cx="3299430" cy="30477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22" name="te-discover_21"/>
          <p:cNvSpPr/>
          <p:nvPr/>
        </p:nvSpPr>
        <p:spPr>
          <a:xfrm>
            <a:off x="8023860" y="3505170"/>
            <a:ext cx="2461290" cy="304770"/>
          </a:xfrm>
          <a:prstGeom prst="rect">
            <a:avLst/>
          </a:prstGeom>
          <a:solidFill>
            <a:srgbClr val="FFDC6D"/>
          </a:solidFill>
          <a:ln/>
        </p:spPr>
      </p:sp>
      <p:sp>
        <p:nvSpPr>
          <p:cNvPr id="23" name="te-discover_22"/>
          <p:cNvSpPr/>
          <p:nvPr/>
        </p:nvSpPr>
        <p:spPr>
          <a:xfrm>
            <a:off x="4724430" y="4160520"/>
            <a:ext cx="2819370" cy="30477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24" name="te-discover_23"/>
          <p:cNvSpPr/>
          <p:nvPr/>
        </p:nvSpPr>
        <p:spPr>
          <a:xfrm>
            <a:off x="7543800" y="4160520"/>
            <a:ext cx="1402050" cy="304770"/>
          </a:xfrm>
          <a:prstGeom prst="rect">
            <a:avLst/>
          </a:prstGeom>
          <a:solidFill>
            <a:srgbClr val="FFDC6D"/>
          </a:solidFill>
          <a:ln/>
        </p:spPr>
      </p:sp>
      <p:sp>
        <p:nvSpPr>
          <p:cNvPr id="25" name="te-discover_24"/>
          <p:cNvSpPr/>
          <p:nvPr/>
        </p:nvSpPr>
        <p:spPr>
          <a:xfrm>
            <a:off x="4724430" y="4815870"/>
            <a:ext cx="1386870" cy="30477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26" name="te-discover_25"/>
          <p:cNvSpPr/>
          <p:nvPr/>
        </p:nvSpPr>
        <p:spPr>
          <a:xfrm>
            <a:off x="6111210" y="4815870"/>
            <a:ext cx="1813530" cy="304770"/>
          </a:xfrm>
          <a:prstGeom prst="rect">
            <a:avLst/>
          </a:prstGeom>
          <a:solidFill>
            <a:srgbClr val="FFDC6D"/>
          </a:solidFill>
          <a:ln/>
        </p:spPr>
      </p:sp>
      <p:sp>
        <p:nvSpPr>
          <p:cNvPr id="27" name="te-discover_26"/>
          <p:cNvSpPr/>
          <p:nvPr/>
        </p:nvSpPr>
        <p:spPr>
          <a:xfrm>
            <a:off x="4724430" y="5471130"/>
            <a:ext cx="731520" cy="30477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28" name="te-discover_27"/>
          <p:cNvSpPr/>
          <p:nvPr/>
        </p:nvSpPr>
        <p:spPr>
          <a:xfrm>
            <a:off x="5455950" y="5471130"/>
            <a:ext cx="944850" cy="304770"/>
          </a:xfrm>
          <a:prstGeom prst="rect">
            <a:avLst/>
          </a:prstGeom>
          <a:solidFill>
            <a:srgbClr val="FFDC6D"/>
          </a:solidFill>
          <a:ln/>
        </p:spPr>
      </p:sp>
      <p:sp>
        <p:nvSpPr>
          <p:cNvPr id="29" name="te-discover_28"/>
          <p:cNvSpPr txBox="1"/>
          <p:nvPr/>
        </p:nvSpPr>
        <p:spPr>
          <a:xfrm>
            <a:off x="3514954" y="3495660"/>
            <a:ext cx="104506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162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TTATA</a:t>
            </a:r>
            <a:endParaRPr lang="en-US" sz="2162" dirty="0"/>
          </a:p>
        </p:txBody>
      </p:sp>
      <p:sp>
        <p:nvSpPr>
          <p:cNvPr id="30" name="te-discover_29"/>
          <p:cNvSpPr txBox="1"/>
          <p:nvPr/>
        </p:nvSpPr>
        <p:spPr>
          <a:xfrm>
            <a:off x="2555108" y="3524280"/>
            <a:ext cx="865571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78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TAATA</a:t>
            </a:r>
            <a:endParaRPr lang="en-US" sz="1781" dirty="0"/>
          </a:p>
        </p:txBody>
      </p:sp>
      <p:sp>
        <p:nvSpPr>
          <p:cNvPr id="31" name="te-discover_30"/>
          <p:cNvSpPr txBox="1"/>
          <p:nvPr/>
        </p:nvSpPr>
        <p:spPr>
          <a:xfrm>
            <a:off x="1413022" y="3524280"/>
            <a:ext cx="857707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78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TTATT</a:t>
            </a:r>
            <a:endParaRPr lang="en-US" sz="1781" dirty="0"/>
          </a:p>
        </p:txBody>
      </p:sp>
      <p:sp>
        <p:nvSpPr>
          <p:cNvPr id="32" name="te-discover_31"/>
          <p:cNvSpPr txBox="1"/>
          <p:nvPr/>
        </p:nvSpPr>
        <p:spPr>
          <a:xfrm>
            <a:off x="3514954" y="4151010"/>
            <a:ext cx="104506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162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TCGCA</a:t>
            </a:r>
            <a:endParaRPr lang="en-US" sz="2162" dirty="0"/>
          </a:p>
        </p:txBody>
      </p:sp>
      <p:sp>
        <p:nvSpPr>
          <p:cNvPr id="33" name="te-discover_32"/>
          <p:cNvSpPr txBox="1"/>
          <p:nvPr/>
        </p:nvSpPr>
        <p:spPr>
          <a:xfrm>
            <a:off x="2555108" y="4179540"/>
            <a:ext cx="865571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78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TGGCA</a:t>
            </a:r>
            <a:endParaRPr lang="en-US" sz="1781" dirty="0"/>
          </a:p>
        </p:txBody>
      </p:sp>
      <p:sp>
        <p:nvSpPr>
          <p:cNvPr id="34" name="te-discover_33"/>
          <p:cNvSpPr txBox="1"/>
          <p:nvPr/>
        </p:nvSpPr>
        <p:spPr>
          <a:xfrm>
            <a:off x="1413022" y="4179540"/>
            <a:ext cx="857707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78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TCGCC</a:t>
            </a:r>
            <a:endParaRPr lang="en-US" sz="1781" dirty="0"/>
          </a:p>
        </p:txBody>
      </p:sp>
      <p:sp>
        <p:nvSpPr>
          <p:cNvPr id="35" name="te-discover_34"/>
          <p:cNvSpPr txBox="1"/>
          <p:nvPr/>
        </p:nvSpPr>
        <p:spPr>
          <a:xfrm>
            <a:off x="3515411" y="4806361"/>
            <a:ext cx="104141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162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CGTAG</a:t>
            </a:r>
            <a:endParaRPr lang="en-US" sz="2162" dirty="0"/>
          </a:p>
        </p:txBody>
      </p:sp>
      <p:sp>
        <p:nvSpPr>
          <p:cNvPr id="36" name="te-discover_35"/>
          <p:cNvSpPr txBox="1"/>
          <p:nvPr/>
        </p:nvSpPr>
        <p:spPr>
          <a:xfrm>
            <a:off x="2556022" y="4834890"/>
            <a:ext cx="857707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78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CTTAG</a:t>
            </a:r>
            <a:endParaRPr lang="en-US" sz="1781" dirty="0"/>
          </a:p>
        </p:txBody>
      </p:sp>
      <p:sp>
        <p:nvSpPr>
          <p:cNvPr id="37" name="te-discover_36"/>
          <p:cNvSpPr txBox="1"/>
          <p:nvPr/>
        </p:nvSpPr>
        <p:spPr>
          <a:xfrm>
            <a:off x="1412108" y="4834890"/>
            <a:ext cx="865571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78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CGTAA</a:t>
            </a:r>
            <a:endParaRPr lang="en-US" sz="1781" dirty="0"/>
          </a:p>
        </p:txBody>
      </p:sp>
      <p:sp>
        <p:nvSpPr>
          <p:cNvPr id="38" name="te-discover_37"/>
          <p:cNvSpPr txBox="1"/>
          <p:nvPr/>
        </p:nvSpPr>
        <p:spPr>
          <a:xfrm>
            <a:off x="3515411" y="5461620"/>
            <a:ext cx="104141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162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GCGCG</a:t>
            </a:r>
            <a:endParaRPr lang="en-US" sz="2162" dirty="0"/>
          </a:p>
        </p:txBody>
      </p:sp>
      <p:sp>
        <p:nvSpPr>
          <p:cNvPr id="39" name="te-discover_38"/>
          <p:cNvSpPr txBox="1"/>
          <p:nvPr/>
        </p:nvSpPr>
        <p:spPr>
          <a:xfrm>
            <a:off x="2556022" y="5490240"/>
            <a:ext cx="857707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78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GCGTG</a:t>
            </a:r>
            <a:endParaRPr lang="en-US" sz="1781" dirty="0"/>
          </a:p>
        </p:txBody>
      </p:sp>
      <p:sp>
        <p:nvSpPr>
          <p:cNvPr id="40" name="te-discover_39"/>
          <p:cNvSpPr txBox="1"/>
          <p:nvPr/>
        </p:nvSpPr>
        <p:spPr>
          <a:xfrm>
            <a:off x="1413022" y="5490240"/>
            <a:ext cx="857707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78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GCGCC</a:t>
            </a:r>
            <a:endParaRPr lang="en-US" sz="1781" dirty="0"/>
          </a:p>
        </p:txBody>
      </p:sp>
      <p:sp>
        <p:nvSpPr>
          <p:cNvPr id="41" name="te-discover_40"/>
          <p:cNvSpPr txBox="1"/>
          <p:nvPr/>
        </p:nvSpPr>
        <p:spPr>
          <a:xfrm>
            <a:off x="8130570" y="3533790"/>
            <a:ext cx="530443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722</a:t>
            </a:r>
            <a:endParaRPr lang="en-US" sz="1654" dirty="0"/>
          </a:p>
        </p:txBody>
      </p:sp>
      <p:sp>
        <p:nvSpPr>
          <p:cNvPr id="42" name="te-discover_41"/>
          <p:cNvSpPr txBox="1"/>
          <p:nvPr/>
        </p:nvSpPr>
        <p:spPr>
          <a:xfrm>
            <a:off x="10599450" y="3533790"/>
            <a:ext cx="667055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1,261</a:t>
            </a:r>
            <a:endParaRPr lang="en-US" sz="1654" dirty="0"/>
          </a:p>
        </p:txBody>
      </p:sp>
      <p:sp>
        <p:nvSpPr>
          <p:cNvPr id="43" name="te-discover_42"/>
          <p:cNvSpPr txBox="1"/>
          <p:nvPr/>
        </p:nvSpPr>
        <p:spPr>
          <a:xfrm>
            <a:off x="7650510" y="4189141"/>
            <a:ext cx="488838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617</a:t>
            </a:r>
            <a:endParaRPr lang="en-US" sz="1654" dirty="0"/>
          </a:p>
        </p:txBody>
      </p:sp>
      <p:sp>
        <p:nvSpPr>
          <p:cNvPr id="44" name="te-discover_43"/>
          <p:cNvSpPr txBox="1"/>
          <p:nvPr/>
        </p:nvSpPr>
        <p:spPr>
          <a:xfrm>
            <a:off x="9052560" y="4189141"/>
            <a:ext cx="547726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923</a:t>
            </a:r>
            <a:endParaRPr lang="en-US" sz="1654" dirty="0"/>
          </a:p>
        </p:txBody>
      </p:sp>
      <p:sp>
        <p:nvSpPr>
          <p:cNvPr id="45" name="te-discover_44"/>
          <p:cNvSpPr txBox="1"/>
          <p:nvPr/>
        </p:nvSpPr>
        <p:spPr>
          <a:xfrm>
            <a:off x="6217920" y="4844400"/>
            <a:ext cx="561990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304</a:t>
            </a:r>
            <a:endParaRPr lang="en-US" sz="1654" dirty="0"/>
          </a:p>
        </p:txBody>
      </p:sp>
      <p:sp>
        <p:nvSpPr>
          <p:cNvPr id="46" name="te-discover_45"/>
          <p:cNvSpPr txBox="1"/>
          <p:nvPr/>
        </p:nvSpPr>
        <p:spPr>
          <a:xfrm>
            <a:off x="8039130" y="4844400"/>
            <a:ext cx="489844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701</a:t>
            </a:r>
            <a:endParaRPr lang="en-US" sz="1654" dirty="0"/>
          </a:p>
        </p:txBody>
      </p:sp>
      <p:sp>
        <p:nvSpPr>
          <p:cNvPr id="47" name="te-discover_46"/>
          <p:cNvSpPr txBox="1"/>
          <p:nvPr/>
        </p:nvSpPr>
        <p:spPr>
          <a:xfrm>
            <a:off x="5562570" y="5499750"/>
            <a:ext cx="507858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</a:t>
            </a:r>
            <a:endParaRPr lang="en-US" sz="1654" dirty="0"/>
          </a:p>
        </p:txBody>
      </p:sp>
      <p:sp>
        <p:nvSpPr>
          <p:cNvPr id="48" name="te-discover_47"/>
          <p:cNvSpPr txBox="1"/>
          <p:nvPr/>
        </p:nvSpPr>
        <p:spPr>
          <a:xfrm>
            <a:off x="6507510" y="5499750"/>
            <a:ext cx="537119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367</a:t>
            </a:r>
            <a:endParaRPr lang="en-US" sz="1654" dirty="0"/>
          </a:p>
        </p:txBody>
      </p:sp>
      <p:sp>
        <p:nvSpPr>
          <p:cNvPr id="49" name="te-discover_48"/>
          <p:cNvSpPr/>
          <p:nvPr/>
        </p:nvSpPr>
        <p:spPr>
          <a:xfrm>
            <a:off x="1211580" y="4572000"/>
            <a:ext cx="15270" cy="6096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-discover_49"/>
          <p:cNvSpPr txBox="1"/>
          <p:nvPr/>
        </p:nvSpPr>
        <p:spPr>
          <a:xfrm>
            <a:off x="6736110" y="2872770"/>
            <a:ext cx="1333470" cy="259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consensus</a:t>
            </a:r>
            <a:endParaRPr lang="en-US" sz="1399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8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0" nodeType="withEffect">
                                  <p:stCondLst>
                                    <p:cond delay="18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0" nodeType="withEffect">
                                  <p:stCondLst>
                                    <p:cond delay="20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268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30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2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0" presetClass="path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.80000 0.00000 E" pathEditMode="relative" rAng="0" ptsTypes="AA">
                                      <p:cBhvr>
                                        <p:cTn id="190" dur="3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2039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3867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xit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1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0" presetClass="path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animMotion origin="layout" path="M 0 0 L -0.80000 0.00000 E" pathEditMode="relative" rAng="0" ptsTypes="AA">
                                      <p:cBhvr>
                                        <p:cTn id="212" dur="6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2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0" presetClass="path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80000 0.00000 E" pathEditMode="relative" rAng="0" ptsTypes="AA">
                                      <p:cBhvr>
                                        <p:cTn id="217" dur="3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1139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0" presetClass="path" presetSubtype="0" fill="hold" grpId="0" nodeType="withEffect">
                                  <p:stCondLst>
                                    <p:cond delay="1139"/>
                                  </p:stCondLst>
                                  <p:childTnLst>
                                    <p:animMotion origin="layout" path="M 0 0 L 0.00000 -0.08889 E" pathEditMode="relative" rAng="0" ptsTypes="AA">
                                      <p:cBhvr>
                                        <p:cTn id="2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0" presetClass="path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00000 -0.08889 E" pathEditMode="relative" rAng="0" ptsTypes="AA">
                                      <p:cBhvr>
                                        <p:cTn id="2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withEffect">
                                  <p:stCondLst>
                                    <p:cond delay="2967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0" presetClass="path" presetSubtype="0" fill="hold" grpId="0" nodeType="withEffect">
                                  <p:stCondLst>
                                    <p:cond delay="2967"/>
                                  </p:stCondLst>
                                  <p:childTnLst>
                                    <p:animMotion origin="layout" path="M 0 0 L 0.00000 -0.08889 E" pathEditMode="relative" rAng="0" ptsTypes="AA">
                                      <p:cBhvr>
                                        <p:cTn id="2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0" presetClass="path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0 0 L 0.25625 -0.04444 E" pathEditMode="relative" rAng="0" ptsTypes="AA">
                                      <p:cBhvr>
                                        <p:cTn id="237" dur="9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8" presetID="0" presetClass="path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0 0 L 0.00000 -0.08889 E" pathEditMode="relative" rAng="0" ptsTypes="AA">
                                      <p:cBhvr>
                                        <p:cTn id="239" dur="9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0" presetClass="path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0 0 L -0.23125 -0.13333 E" pathEditMode="relative" rAng="0" ptsTypes="AA">
                                      <p:cBhvr>
                                        <p:cTn id="241" dur="9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4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 animBg="1"/>
      <p:bldP spid="5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-repeats_1"/>
          <p:cNvSpPr txBox="1"/>
          <p:nvPr/>
        </p:nvSpPr>
        <p:spPr>
          <a:xfrm>
            <a:off x="548640" y="396210"/>
            <a:ext cx="11140410" cy="464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But, RepeatModeler also finds repeats which </a:t>
            </a:r>
            <a:pPr algn="l" indent="0" marL="0">
              <a:buNone/>
            </a:pPr>
            <a:r>
              <a:rPr lang="en-US" sz="2880" u="sng" dirty="0">
                <a:solidFill>
                  <a:srgbClr val="EEF2F6"/>
                </a:solidFill>
                <a:uFill>
                  <a:solidFill>
                    <a:srgbClr val="FFFFFF"/>
                  </a:solidFill>
                </a:uFill>
                <a:latin typeface="Cambria" pitchFamily="34" charset="0"/>
                <a:ea typeface="Cambria" pitchFamily="34" charset="-122"/>
                <a:cs typeface="Cambria" pitchFamily="34" charset="-120"/>
              </a:rPr>
              <a:t>aren’t</a:t>
            </a:r>
            <a:pPr algn="l" indent="0" marL="0">
              <a:buNone/>
            </a:pPr>
            <a:r>
              <a:rPr lang="en-US" sz="2880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TEs</a:t>
            </a:r>
            <a:endParaRPr lang="en-US" sz="2880" dirty="0"/>
          </a:p>
        </p:txBody>
      </p:sp>
      <p:sp>
        <p:nvSpPr>
          <p:cNvPr id="3" name="te-repeats_2"/>
          <p:cNvSpPr/>
          <p:nvPr/>
        </p:nvSpPr>
        <p:spPr>
          <a:xfrm>
            <a:off x="2286000" y="3291840"/>
            <a:ext cx="60963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4" name="te-repeats_3"/>
          <p:cNvSpPr/>
          <p:nvPr/>
        </p:nvSpPr>
        <p:spPr>
          <a:xfrm>
            <a:off x="2895630" y="3291840"/>
            <a:ext cx="304770" cy="121890"/>
          </a:xfrm>
          <a:prstGeom prst="rect">
            <a:avLst/>
          </a:prstGeom>
          <a:solidFill>
            <a:srgbClr val="00F93B"/>
          </a:solidFill>
          <a:ln/>
        </p:spPr>
      </p:sp>
      <p:sp>
        <p:nvSpPr>
          <p:cNvPr id="5" name="te-repeats_4"/>
          <p:cNvSpPr/>
          <p:nvPr/>
        </p:nvSpPr>
        <p:spPr>
          <a:xfrm>
            <a:off x="3200400" y="3291840"/>
            <a:ext cx="60963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6" name="te-repeats_5"/>
          <p:cNvSpPr/>
          <p:nvPr/>
        </p:nvSpPr>
        <p:spPr>
          <a:xfrm>
            <a:off x="3810030" y="3291840"/>
            <a:ext cx="304770" cy="121890"/>
          </a:xfrm>
          <a:prstGeom prst="rect">
            <a:avLst/>
          </a:prstGeom>
          <a:solidFill>
            <a:srgbClr val="006FF9"/>
          </a:solidFill>
          <a:ln/>
        </p:spPr>
      </p:sp>
      <p:sp>
        <p:nvSpPr>
          <p:cNvPr id="7" name="te-repeats_6"/>
          <p:cNvSpPr/>
          <p:nvPr/>
        </p:nvSpPr>
        <p:spPr>
          <a:xfrm>
            <a:off x="2286000" y="3291840"/>
            <a:ext cx="60963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8" name="te-repeats_7"/>
          <p:cNvSpPr/>
          <p:nvPr/>
        </p:nvSpPr>
        <p:spPr>
          <a:xfrm>
            <a:off x="2895630" y="3291840"/>
            <a:ext cx="304770" cy="121890"/>
          </a:xfrm>
          <a:prstGeom prst="rect">
            <a:avLst/>
          </a:prstGeom>
          <a:solidFill>
            <a:srgbClr val="00F93B"/>
          </a:solidFill>
          <a:ln/>
        </p:spPr>
      </p:sp>
      <p:sp>
        <p:nvSpPr>
          <p:cNvPr id="9" name="te-repeats_8"/>
          <p:cNvSpPr/>
          <p:nvPr/>
        </p:nvSpPr>
        <p:spPr>
          <a:xfrm>
            <a:off x="3200400" y="3291840"/>
            <a:ext cx="60963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0" name="te-repeats_9"/>
          <p:cNvSpPr/>
          <p:nvPr/>
        </p:nvSpPr>
        <p:spPr>
          <a:xfrm>
            <a:off x="3810030" y="3291840"/>
            <a:ext cx="304770" cy="121890"/>
          </a:xfrm>
          <a:prstGeom prst="rect">
            <a:avLst/>
          </a:prstGeom>
          <a:solidFill>
            <a:srgbClr val="006FF9"/>
          </a:solidFill>
          <a:ln/>
        </p:spPr>
      </p:sp>
      <p:sp>
        <p:nvSpPr>
          <p:cNvPr id="11" name="te-repeats_10"/>
          <p:cNvSpPr/>
          <p:nvPr/>
        </p:nvSpPr>
        <p:spPr>
          <a:xfrm>
            <a:off x="7193310" y="3291840"/>
            <a:ext cx="304770" cy="121890"/>
          </a:xfrm>
          <a:prstGeom prst="rect">
            <a:avLst/>
          </a:prstGeom>
          <a:solidFill>
            <a:srgbClr val="006FF9"/>
          </a:solidFill>
          <a:ln/>
        </p:spPr>
      </p:sp>
      <p:sp>
        <p:nvSpPr>
          <p:cNvPr id="12" name="te-repeats_11"/>
          <p:cNvSpPr/>
          <p:nvPr/>
        </p:nvSpPr>
        <p:spPr>
          <a:xfrm>
            <a:off x="7193310" y="3291840"/>
            <a:ext cx="304770" cy="121890"/>
          </a:xfrm>
          <a:prstGeom prst="rect">
            <a:avLst/>
          </a:prstGeom>
          <a:solidFill>
            <a:srgbClr val="006FF9"/>
          </a:solidFill>
          <a:ln/>
        </p:spPr>
      </p:sp>
      <p:sp>
        <p:nvSpPr>
          <p:cNvPr id="13" name="te-repeats_12"/>
          <p:cNvSpPr/>
          <p:nvPr/>
        </p:nvSpPr>
        <p:spPr>
          <a:xfrm>
            <a:off x="7559070" y="3291840"/>
            <a:ext cx="304770" cy="121890"/>
          </a:xfrm>
          <a:prstGeom prst="rect">
            <a:avLst/>
          </a:prstGeom>
          <a:solidFill>
            <a:srgbClr val="006FF9"/>
          </a:solidFill>
          <a:ln/>
        </p:spPr>
      </p:sp>
      <p:sp>
        <p:nvSpPr>
          <p:cNvPr id="14" name="te-repeats_13"/>
          <p:cNvSpPr/>
          <p:nvPr/>
        </p:nvSpPr>
        <p:spPr>
          <a:xfrm>
            <a:off x="7924830" y="3291840"/>
            <a:ext cx="304770" cy="121890"/>
          </a:xfrm>
          <a:prstGeom prst="rect">
            <a:avLst/>
          </a:prstGeom>
          <a:solidFill>
            <a:srgbClr val="006FF9"/>
          </a:solidFill>
          <a:ln/>
        </p:spPr>
      </p:sp>
      <p:sp>
        <p:nvSpPr>
          <p:cNvPr id="15" name="te-repeats_14"/>
          <p:cNvSpPr/>
          <p:nvPr/>
        </p:nvSpPr>
        <p:spPr>
          <a:xfrm>
            <a:off x="8290590" y="3291840"/>
            <a:ext cx="304770" cy="121890"/>
          </a:xfrm>
          <a:prstGeom prst="rect">
            <a:avLst/>
          </a:prstGeom>
          <a:solidFill>
            <a:srgbClr val="006FF9"/>
          </a:solidFill>
          <a:ln/>
        </p:spPr>
      </p:sp>
      <p:sp>
        <p:nvSpPr>
          <p:cNvPr id="16" name="te-repeats_15"/>
          <p:cNvSpPr/>
          <p:nvPr/>
        </p:nvSpPr>
        <p:spPr>
          <a:xfrm>
            <a:off x="8656350" y="3291840"/>
            <a:ext cx="304770" cy="121890"/>
          </a:xfrm>
          <a:prstGeom prst="rect">
            <a:avLst/>
          </a:prstGeom>
          <a:solidFill>
            <a:srgbClr val="006FF9"/>
          </a:solidFill>
          <a:ln/>
        </p:spPr>
      </p:sp>
      <p:sp>
        <p:nvSpPr>
          <p:cNvPr id="17" name="te-repeats_16"/>
          <p:cNvSpPr/>
          <p:nvPr/>
        </p:nvSpPr>
        <p:spPr>
          <a:xfrm>
            <a:off x="9022110" y="3291840"/>
            <a:ext cx="304770" cy="121890"/>
          </a:xfrm>
          <a:prstGeom prst="rect">
            <a:avLst/>
          </a:prstGeom>
          <a:solidFill>
            <a:srgbClr val="006FF9"/>
          </a:solidFill>
          <a:ln/>
        </p:spPr>
      </p:sp>
      <p:sp>
        <p:nvSpPr>
          <p:cNvPr id="18" name="te-repeats_17"/>
          <p:cNvSpPr/>
          <p:nvPr/>
        </p:nvSpPr>
        <p:spPr>
          <a:xfrm>
            <a:off x="9387870" y="3291840"/>
            <a:ext cx="304770" cy="121890"/>
          </a:xfrm>
          <a:prstGeom prst="rect">
            <a:avLst/>
          </a:prstGeom>
          <a:solidFill>
            <a:srgbClr val="006FF9"/>
          </a:solidFill>
          <a:ln/>
        </p:spPr>
      </p:sp>
      <p:sp>
        <p:nvSpPr>
          <p:cNvPr id="19" name="te-repeats_18"/>
          <p:cNvSpPr/>
          <p:nvPr/>
        </p:nvSpPr>
        <p:spPr>
          <a:xfrm>
            <a:off x="9753630" y="3291840"/>
            <a:ext cx="304770" cy="121890"/>
          </a:xfrm>
          <a:prstGeom prst="rect">
            <a:avLst/>
          </a:prstGeom>
          <a:solidFill>
            <a:srgbClr val="006FF9"/>
          </a:solidFill>
          <a:ln/>
        </p:spPr>
      </p:sp>
      <p:sp>
        <p:nvSpPr>
          <p:cNvPr id="20" name="te-repeats_19"/>
          <p:cNvSpPr/>
          <p:nvPr/>
        </p:nvSpPr>
        <p:spPr>
          <a:xfrm>
            <a:off x="10119390" y="3291840"/>
            <a:ext cx="304770" cy="121890"/>
          </a:xfrm>
          <a:prstGeom prst="rect">
            <a:avLst/>
          </a:prstGeom>
          <a:solidFill>
            <a:srgbClr val="006FF9"/>
          </a:solidFill>
          <a:ln/>
        </p:spPr>
      </p:sp>
      <p:sp>
        <p:nvSpPr>
          <p:cNvPr id="21" name="te-repeats_20"/>
          <p:cNvSpPr/>
          <p:nvPr/>
        </p:nvSpPr>
        <p:spPr>
          <a:xfrm>
            <a:off x="1303020" y="5501670"/>
            <a:ext cx="274320" cy="121890"/>
          </a:xfrm>
          <a:prstGeom prst="rect">
            <a:avLst/>
          </a:prstGeom>
          <a:solidFill>
            <a:srgbClr val="006FF9"/>
          </a:solidFill>
          <a:ln/>
        </p:spPr>
      </p:sp>
      <p:sp>
        <p:nvSpPr>
          <p:cNvPr id="22" name="te-repeats_21"/>
          <p:cNvSpPr/>
          <p:nvPr/>
        </p:nvSpPr>
        <p:spPr>
          <a:xfrm>
            <a:off x="1623060" y="5501670"/>
            <a:ext cx="274320" cy="121890"/>
          </a:xfrm>
          <a:prstGeom prst="rect">
            <a:avLst/>
          </a:prstGeom>
          <a:solidFill>
            <a:srgbClr val="F93500"/>
          </a:solidFill>
          <a:ln/>
        </p:spPr>
      </p:sp>
      <p:sp>
        <p:nvSpPr>
          <p:cNvPr id="23" name="te-repeats_22"/>
          <p:cNvSpPr/>
          <p:nvPr/>
        </p:nvSpPr>
        <p:spPr>
          <a:xfrm>
            <a:off x="1943100" y="5501670"/>
            <a:ext cx="274320" cy="121890"/>
          </a:xfrm>
          <a:prstGeom prst="rect">
            <a:avLst/>
          </a:prstGeom>
          <a:solidFill>
            <a:srgbClr val="00F93B"/>
          </a:solidFill>
          <a:ln/>
        </p:spPr>
      </p:sp>
      <p:sp>
        <p:nvSpPr>
          <p:cNvPr id="24" name="te-repeats_23"/>
          <p:cNvSpPr/>
          <p:nvPr/>
        </p:nvSpPr>
        <p:spPr>
          <a:xfrm>
            <a:off x="1303020" y="5501670"/>
            <a:ext cx="274320" cy="121890"/>
          </a:xfrm>
          <a:prstGeom prst="rect">
            <a:avLst/>
          </a:prstGeom>
          <a:solidFill>
            <a:srgbClr val="006FF9"/>
          </a:solidFill>
          <a:ln/>
        </p:spPr>
      </p:sp>
      <p:sp>
        <p:nvSpPr>
          <p:cNvPr id="25" name="te-repeats_24"/>
          <p:cNvSpPr/>
          <p:nvPr/>
        </p:nvSpPr>
        <p:spPr>
          <a:xfrm>
            <a:off x="1623060" y="5501670"/>
            <a:ext cx="274320" cy="121890"/>
          </a:xfrm>
          <a:prstGeom prst="rect">
            <a:avLst/>
          </a:prstGeom>
          <a:solidFill>
            <a:srgbClr val="F93500"/>
          </a:solidFill>
          <a:ln/>
        </p:spPr>
      </p:sp>
      <p:sp>
        <p:nvSpPr>
          <p:cNvPr id="26" name="te-repeats_25"/>
          <p:cNvSpPr/>
          <p:nvPr/>
        </p:nvSpPr>
        <p:spPr>
          <a:xfrm>
            <a:off x="1943100" y="5501670"/>
            <a:ext cx="274320" cy="121890"/>
          </a:xfrm>
          <a:prstGeom prst="rect">
            <a:avLst/>
          </a:prstGeom>
          <a:solidFill>
            <a:srgbClr val="00F93B"/>
          </a:solidFill>
          <a:ln/>
        </p:spPr>
      </p:sp>
      <p:sp>
        <p:nvSpPr>
          <p:cNvPr id="27" name="te-repeats_26"/>
          <p:cNvSpPr/>
          <p:nvPr/>
        </p:nvSpPr>
        <p:spPr>
          <a:xfrm>
            <a:off x="2263140" y="5501670"/>
            <a:ext cx="274320" cy="121890"/>
          </a:xfrm>
          <a:prstGeom prst="rect">
            <a:avLst/>
          </a:prstGeom>
          <a:solidFill>
            <a:srgbClr val="006FF9"/>
          </a:solidFill>
          <a:ln/>
        </p:spPr>
      </p:sp>
      <p:sp>
        <p:nvSpPr>
          <p:cNvPr id="28" name="te-repeats_27"/>
          <p:cNvSpPr/>
          <p:nvPr/>
        </p:nvSpPr>
        <p:spPr>
          <a:xfrm>
            <a:off x="2583180" y="5501670"/>
            <a:ext cx="274320" cy="121890"/>
          </a:xfrm>
          <a:prstGeom prst="rect">
            <a:avLst/>
          </a:prstGeom>
          <a:solidFill>
            <a:srgbClr val="F93500"/>
          </a:solidFill>
          <a:ln/>
        </p:spPr>
      </p:sp>
      <p:sp>
        <p:nvSpPr>
          <p:cNvPr id="29" name="te-repeats_28"/>
          <p:cNvSpPr/>
          <p:nvPr/>
        </p:nvSpPr>
        <p:spPr>
          <a:xfrm>
            <a:off x="2903220" y="5501670"/>
            <a:ext cx="274320" cy="121890"/>
          </a:xfrm>
          <a:prstGeom prst="rect">
            <a:avLst/>
          </a:prstGeom>
          <a:solidFill>
            <a:srgbClr val="00F93B"/>
          </a:solidFill>
          <a:ln/>
        </p:spPr>
      </p:sp>
      <p:sp>
        <p:nvSpPr>
          <p:cNvPr id="30" name="te-repeats_29"/>
          <p:cNvSpPr/>
          <p:nvPr/>
        </p:nvSpPr>
        <p:spPr>
          <a:xfrm>
            <a:off x="3223260" y="5501670"/>
            <a:ext cx="274320" cy="121890"/>
          </a:xfrm>
          <a:prstGeom prst="rect">
            <a:avLst/>
          </a:prstGeom>
          <a:solidFill>
            <a:srgbClr val="006FF9"/>
          </a:solidFill>
          <a:ln/>
        </p:spPr>
      </p:sp>
      <p:sp>
        <p:nvSpPr>
          <p:cNvPr id="31" name="te-repeats_30"/>
          <p:cNvSpPr/>
          <p:nvPr/>
        </p:nvSpPr>
        <p:spPr>
          <a:xfrm>
            <a:off x="3543300" y="5501670"/>
            <a:ext cx="274320" cy="121890"/>
          </a:xfrm>
          <a:prstGeom prst="rect">
            <a:avLst/>
          </a:prstGeom>
          <a:solidFill>
            <a:srgbClr val="F93500"/>
          </a:solidFill>
          <a:ln/>
        </p:spPr>
      </p:sp>
      <p:sp>
        <p:nvSpPr>
          <p:cNvPr id="32" name="te-repeats_31"/>
          <p:cNvSpPr/>
          <p:nvPr/>
        </p:nvSpPr>
        <p:spPr>
          <a:xfrm>
            <a:off x="3863340" y="5501670"/>
            <a:ext cx="274320" cy="121890"/>
          </a:xfrm>
          <a:prstGeom prst="rect">
            <a:avLst/>
          </a:prstGeom>
          <a:solidFill>
            <a:srgbClr val="00F93B"/>
          </a:solidFill>
          <a:ln/>
        </p:spPr>
      </p:sp>
      <p:sp>
        <p:nvSpPr>
          <p:cNvPr id="33" name="te-repeats_32"/>
          <p:cNvSpPr/>
          <p:nvPr/>
        </p:nvSpPr>
        <p:spPr>
          <a:xfrm>
            <a:off x="7315200" y="5501670"/>
            <a:ext cx="167637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34" name="te-repeats_33"/>
          <p:cNvSpPr/>
          <p:nvPr/>
        </p:nvSpPr>
        <p:spPr>
          <a:xfrm>
            <a:off x="8991570" y="5501670"/>
            <a:ext cx="167637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35" name="te-repeats_34"/>
          <p:cNvSpPr/>
          <p:nvPr/>
        </p:nvSpPr>
        <p:spPr>
          <a:xfrm>
            <a:off x="8382030" y="5501670"/>
            <a:ext cx="121917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36" name="te-repeats_35"/>
          <p:cNvSpPr txBox="1"/>
          <p:nvPr/>
        </p:nvSpPr>
        <p:spPr>
          <a:xfrm>
            <a:off x="533370" y="2438430"/>
            <a:ext cx="5379690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Such as satellite duplications</a:t>
            </a:r>
            <a:endParaRPr lang="en-US" sz="2290" dirty="0"/>
          </a:p>
        </p:txBody>
      </p:sp>
      <p:sp>
        <p:nvSpPr>
          <p:cNvPr id="37" name="te-repeats_36"/>
          <p:cNvSpPr txBox="1"/>
          <p:nvPr/>
        </p:nvSpPr>
        <p:spPr>
          <a:xfrm>
            <a:off x="6324630" y="2438430"/>
            <a:ext cx="5379690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repeats</a:t>
            </a:r>
            <a:endParaRPr lang="en-US" sz="2290" dirty="0"/>
          </a:p>
        </p:txBody>
      </p:sp>
      <p:sp>
        <p:nvSpPr>
          <p:cNvPr id="38" name="te-repeats_37"/>
          <p:cNvSpPr txBox="1"/>
          <p:nvPr/>
        </p:nvSpPr>
        <p:spPr>
          <a:xfrm>
            <a:off x="533370" y="4648170"/>
            <a:ext cx="5379690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order repeats</a:t>
            </a:r>
            <a:endParaRPr lang="en-US" sz="2290" dirty="0"/>
          </a:p>
        </p:txBody>
      </p:sp>
      <p:sp>
        <p:nvSpPr>
          <p:cNvPr id="39" name="te-repeats_38"/>
          <p:cNvSpPr txBox="1"/>
          <p:nvPr/>
        </p:nvSpPr>
        <p:spPr>
          <a:xfrm>
            <a:off x="6324630" y="4648170"/>
            <a:ext cx="5379690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known TE families</a:t>
            </a:r>
            <a:endParaRPr lang="en-US" sz="229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0" presetClass="path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 L 0.00000 -0.03111 E" pathEditMode="relative" rAng="0" ptsTypes="AA">
                                      <p:cBhvr>
                                        <p:cTn id="24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0" presetClass="path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 L 0.00000 -0.03111 E" pathEditMode="relative" rAng="0" ptsTypes="AA">
                                      <p:cBhvr>
                                        <p:cTn id="29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0" presetClass="path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 L 0.00000 -0.03111 E" pathEditMode="relative" rAng="0" ptsTypes="AA">
                                      <p:cBhvr>
                                        <p:cTn id="34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0" presetClass="path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 L 0.00000 -0.03111 E" pathEditMode="relative" rAng="0" ptsTypes="AA">
                                      <p:cBhvr>
                                        <p:cTn id="39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0" presetClass="path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-0.07500 0.00000 E" pathEditMode="relative" rAng="0" ptsTypes="AA">
                                      <p:cBhvr>
                                        <p:cTn id="41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0" presetClass="path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-0.07500 0.00000 E" pathEditMode="relative" rAng="0" ptsTypes="AA">
                                      <p:cBhvr>
                                        <p:cTn id="43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" presetID="0" presetClass="path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-0.07500 0.00000 E" pathEditMode="relative" rAng="0" ptsTypes="AA">
                                      <p:cBhvr>
                                        <p:cTn id="45" dur="9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0" presetClass="path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-0.07500 0.00000 E" pathEditMode="relative" rAng="0" ptsTypes="AA">
                                      <p:cBhvr>
                                        <p:cTn id="47" dur="9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0" presetClass="path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.07500 0.00000 E" pathEditMode="relative" rAng="0" ptsTypes="AA">
                                      <p:cBhvr>
                                        <p:cTn id="49" dur="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0" presetClass="path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.07500 0.00000 E" pathEditMode="relative" rAng="0" ptsTypes="AA">
                                      <p:cBhvr>
                                        <p:cTn id="51" dur="9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0" presetClass="path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.07500 0.00000 E" pathEditMode="relative" rAng="0" ptsTypes="AA">
                                      <p:cBhvr>
                                        <p:cTn id="53" dur="9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" presetID="0" presetClass="path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.07500 0.00000 E" pathEditMode="relative" rAng="0" ptsTypes="AA">
                                      <p:cBhvr>
                                        <p:cTn id="55" dur="9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0" presetClass="path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animMotion origin="layout" path="M 0 0 L 0.00000 0.03111 E" pathEditMode="relative" rAng="0" ptsTypes="AA">
                                      <p:cBhvr>
                                        <p:cTn id="57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" presetID="0" presetClass="path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animMotion origin="layout" path="M 0 0 L 0.00000 0.03111 E" pathEditMode="relative" rAng="0" ptsTypes="AA">
                                      <p:cBhvr>
                                        <p:cTn id="59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0" presetClass="path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animMotion origin="layout" path="M 0 0 L 0.00000 0.03111 E" pathEditMode="relative" rAng="0" ptsTypes="AA">
                                      <p:cBhvr>
                                        <p:cTn id="61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2" presetID="0" presetClass="path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animMotion origin="layout" path="M 0 0 L 0.00000 0.03111 E" pathEditMode="relative" rAng="0" ptsTypes="AA">
                                      <p:cBhvr>
                                        <p:cTn id="63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3000 0.00000 E" pathEditMode="relative" rAng="0" ptsTypes="AA">
                                      <p:cBhvr>
                                        <p:cTn id="76" dur="3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0" presetClass="path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animMotion origin="layout" path="M 0 0 L 0.03000 0.00000 E" pathEditMode="relative" rAng="0" ptsTypes="AA">
                                      <p:cBhvr>
                                        <p:cTn id="81" dur="3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0" presetClass="path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animMotion origin="layout" path="M 0 0 L 0.03000 0.00000 E" pathEditMode="relative" rAng="0" ptsTypes="AA">
                                      <p:cBhvr>
                                        <p:cTn id="86" dur="3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0" presetClass="path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 0 L 0.03000 0.00000 E" pathEditMode="relative" rAng="0" ptsTypes="AA">
                                      <p:cBhvr>
                                        <p:cTn id="91" dur="3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0" presetClass="path" presetSubtype="0" fill="hold" grpId="0" nodeType="withEffect">
                                  <p:stCondLst>
                                    <p:cond delay="1780"/>
                                  </p:stCondLst>
                                  <p:childTnLst>
                                    <p:animMotion origin="layout" path="M 0 0 L 0.03000 0.00000 E" pathEditMode="relative" rAng="0" ptsTypes="AA">
                                      <p:cBhvr>
                                        <p:cTn id="96" dur="3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0" presetClass="path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 L 0.03000 0.00000 E" pathEditMode="relative" rAng="0" ptsTypes="AA">
                                      <p:cBhvr>
                                        <p:cTn id="101" dur="3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22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0" presetClass="path" presetSubtype="0" fill="hold" grpId="0" nodeType="withEffect">
                                  <p:stCondLst>
                                    <p:cond delay="2220"/>
                                  </p:stCondLst>
                                  <p:childTnLst>
                                    <p:animMotion origin="layout" path="M 0 0 L 0.03000 0.00000 E" pathEditMode="relative" rAng="0" ptsTypes="AA">
                                      <p:cBhvr>
                                        <p:cTn id="106" dur="3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44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0" presetClass="path" presetSubtype="0" fill="hold" grpId="0" nodeType="withEffect">
                                  <p:stCondLst>
                                    <p:cond delay="2440"/>
                                  </p:stCondLst>
                                  <p:childTnLst>
                                    <p:animMotion origin="layout" path="M 0 0 L 0.03000 0.00000 E" pathEditMode="relative" rAng="0" ptsTypes="AA">
                                      <p:cBhvr>
                                        <p:cTn id="111" dur="3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0" presetClass="path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animMotion origin="layout" path="M 0 0 L 0.03000 0.00000 E" pathEditMode="relative" rAng="0" ptsTypes="AA">
                                      <p:cBhvr>
                                        <p:cTn id="116" dur="3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7875 0.00000 E" pathEditMode="relative" rAng="0" ptsTypes="AA">
                                      <p:cBhvr>
                                        <p:cTn id="135" dur="4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7875 0.00000 E" pathEditMode="relative" rAng="0" ptsTypes="AA">
                                      <p:cBhvr>
                                        <p:cTn id="140" dur="48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7875 0.00000 E" pathEditMode="relative" rAng="0" ptsTypes="AA">
                                      <p:cBhvr>
                                        <p:cTn id="145" dur="48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0" presetClass="path" presetSubtype="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 0 L 0.07875 0.00000 E" pathEditMode="relative" rAng="0" ptsTypes="AA">
                                      <p:cBhvr>
                                        <p:cTn id="150" dur="48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4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0" presetClass="path" presetSubtype="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 0 L 0.07875 0.00000 E" pathEditMode="relative" rAng="0" ptsTypes="AA">
                                      <p:cBhvr>
                                        <p:cTn id="155" dur="48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4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0" presetClass="path" presetSubtype="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 0 L 0.07875 0.00000 E" pathEditMode="relative" rAng="0" ptsTypes="AA">
                                      <p:cBhvr>
                                        <p:cTn id="160" dur="48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194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0" presetClass="path" presetSubtype="0" fill="hold" grpId="0" nodeType="withEffect">
                                  <p:stCondLst>
                                    <p:cond delay="1940"/>
                                  </p:stCondLst>
                                  <p:childTnLst>
                                    <p:animMotion origin="layout" path="M 0 0 L 0.07875 0.00000 E" pathEditMode="relative" rAng="0" ptsTypes="AA">
                                      <p:cBhvr>
                                        <p:cTn id="165" dur="48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194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0" presetClass="path" presetSubtype="0" fill="hold" grpId="0" nodeType="withEffect">
                                  <p:stCondLst>
                                    <p:cond delay="1940"/>
                                  </p:stCondLst>
                                  <p:childTnLst>
                                    <p:animMotion origin="layout" path="M 0 0 L 0.07875 0.00000 E" pathEditMode="relative" rAng="0" ptsTypes="AA">
                                      <p:cBhvr>
                                        <p:cTn id="170" dur="48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194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4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0" presetClass="path" presetSubtype="0" fill="hold" grpId="0" nodeType="withEffect">
                                  <p:stCondLst>
                                    <p:cond delay="1940"/>
                                  </p:stCondLst>
                                  <p:childTnLst>
                                    <p:animMotion origin="layout" path="M 0 0 L 0.07875 0.00000 E" pathEditMode="relative" rAng="0" ptsTypes="AA">
                                      <p:cBhvr>
                                        <p:cTn id="175" dur="48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0" presetClass="path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 L -0.05000 0.00000 E" pathEditMode="relative" rAng="0" ptsTypes="AA">
                                      <p:cBhvr>
                                        <p:cTn id="188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9" presetID="0" presetClass="path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 L 0.05000 0.00000 E" pathEditMode="relative" rAng="0" ptsTypes="AA">
                                      <p:cBhvr>
                                        <p:cTn id="190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1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/>
      <p:bldP spid="37" grpId="0"/>
      <p:bldP spid="38" grpId="0"/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-results_1"/>
          <p:cNvSpPr txBox="1"/>
          <p:nvPr/>
        </p:nvSpPr>
        <p:spPr>
          <a:xfrm>
            <a:off x="548640" y="396210"/>
            <a:ext cx="11140410" cy="464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novo discovery results</a:t>
            </a:r>
            <a:endParaRPr lang="en-US" sz="2880" dirty="0"/>
          </a:p>
        </p:txBody>
      </p:sp>
      <p:sp>
        <p:nvSpPr>
          <p:cNvPr id="3" name="te-results_2"/>
          <p:cNvSpPr txBox="1"/>
          <p:nvPr/>
        </p:nvSpPr>
        <p:spPr>
          <a:xfrm>
            <a:off x="1600200" y="10668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29,124 families identified by RepeatModeler and REPrise</a:t>
            </a:r>
            <a:endParaRPr lang="en-US" sz="2544" dirty="0"/>
          </a:p>
        </p:txBody>
      </p:sp>
      <p:sp>
        <p:nvSpPr>
          <p:cNvPr id="4" name="te-results_3"/>
          <p:cNvSpPr/>
          <p:nvPr/>
        </p:nvSpPr>
        <p:spPr>
          <a:xfrm>
            <a:off x="563910" y="1813530"/>
            <a:ext cx="6530370" cy="4724430"/>
          </a:xfrm>
          <a:prstGeom prst="roundRect">
            <a:avLst>
              <a:gd name="adj" fmla="val 968"/>
            </a:avLst>
          </a:prstGeom>
          <a:solidFill>
            <a:srgbClr val="1C2735"/>
          </a:solidFill>
          <a:ln w="22860">
            <a:solidFill>
              <a:srgbClr val="FFFFFF"/>
            </a:solidFill>
            <a:prstDash val="solid"/>
          </a:ln>
        </p:spPr>
      </p:sp>
      <p:sp>
        <p:nvSpPr>
          <p:cNvPr id="5" name="te-results_4"/>
          <p:cNvSpPr txBox="1"/>
          <p:nvPr/>
        </p:nvSpPr>
        <p:spPr>
          <a:xfrm>
            <a:off x="2791938" y="3806739"/>
            <a:ext cx="2074316" cy="6191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13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21,431</a:t>
            </a:r>
            <a:endParaRPr lang="en-US" sz="4134" dirty="0"/>
          </a:p>
        </p:txBody>
      </p:sp>
      <p:sp>
        <p:nvSpPr>
          <p:cNvPr id="6" name="te-results_5"/>
          <p:cNvSpPr txBox="1"/>
          <p:nvPr/>
        </p:nvSpPr>
        <p:spPr>
          <a:xfrm>
            <a:off x="1836572" y="4393692"/>
            <a:ext cx="3984955" cy="396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64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Segmental duplication</a:t>
            </a:r>
            <a:endParaRPr lang="en-US" sz="2646" dirty="0"/>
          </a:p>
        </p:txBody>
      </p:sp>
      <p:sp>
        <p:nvSpPr>
          <p:cNvPr id="7" name="te-results_6"/>
          <p:cNvSpPr/>
          <p:nvPr/>
        </p:nvSpPr>
        <p:spPr>
          <a:xfrm>
            <a:off x="563910" y="1813530"/>
            <a:ext cx="6530370" cy="4724430"/>
          </a:xfrm>
          <a:prstGeom prst="roundRect">
            <a:avLst>
              <a:gd name="adj" fmla="val 968"/>
            </a:avLst>
          </a:prstGeom>
          <a:solidFill>
            <a:srgbClr val="FFFFFF"/>
          </a:solidFill>
          <a:ln w="22860">
            <a:solidFill>
              <a:srgbClr val="1C2735"/>
            </a:solidFill>
            <a:prstDash val="solid"/>
          </a:ln>
        </p:spPr>
      </p:sp>
      <p:sp>
        <p:nvSpPr>
          <p:cNvPr id="8" name="te-results_7"/>
          <p:cNvSpPr txBox="1"/>
          <p:nvPr/>
        </p:nvSpPr>
        <p:spPr>
          <a:xfrm>
            <a:off x="2791846" y="3806739"/>
            <a:ext cx="2074408" cy="6191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134" b="1" dirty="0">
                <a:solidFill>
                  <a:srgbClr val="1C2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21,431</a:t>
            </a:r>
            <a:endParaRPr lang="en-US" sz="4134" dirty="0"/>
          </a:p>
        </p:txBody>
      </p:sp>
      <p:sp>
        <p:nvSpPr>
          <p:cNvPr id="9" name="te-results_8"/>
          <p:cNvSpPr txBox="1"/>
          <p:nvPr/>
        </p:nvSpPr>
        <p:spPr>
          <a:xfrm>
            <a:off x="1836115" y="4393692"/>
            <a:ext cx="3985961" cy="396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646" dirty="0">
                <a:solidFill>
                  <a:srgbClr val="1C2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Segmental duplication</a:t>
            </a:r>
            <a:endParaRPr lang="en-US" sz="2646" dirty="0"/>
          </a:p>
        </p:txBody>
      </p:sp>
      <p:sp>
        <p:nvSpPr>
          <p:cNvPr id="10" name="te-results_9"/>
          <p:cNvSpPr/>
          <p:nvPr/>
        </p:nvSpPr>
        <p:spPr>
          <a:xfrm>
            <a:off x="7124730" y="1813530"/>
            <a:ext cx="2324039" cy="3035991"/>
          </a:xfrm>
          <a:prstGeom prst="roundRect">
            <a:avLst>
              <a:gd name="adj" fmla="val 1967"/>
            </a:avLst>
          </a:prstGeom>
          <a:solidFill>
            <a:srgbClr val="1C2735"/>
          </a:solidFill>
          <a:ln w="22860">
            <a:solidFill>
              <a:srgbClr val="FFFFFF"/>
            </a:solidFill>
            <a:prstDash val="solid"/>
          </a:ln>
        </p:spPr>
      </p:sp>
      <p:sp>
        <p:nvSpPr>
          <p:cNvPr id="11" name="te-results_10"/>
          <p:cNvSpPr txBox="1"/>
          <p:nvPr/>
        </p:nvSpPr>
        <p:spPr>
          <a:xfrm>
            <a:off x="7691110" y="3106674"/>
            <a:ext cx="1191463" cy="3772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4,960</a:t>
            </a:r>
            <a:endParaRPr lang="en-US" sz="2520" dirty="0"/>
          </a:p>
        </p:txBody>
      </p:sp>
      <p:sp>
        <p:nvSpPr>
          <p:cNvPr id="12" name="te-results_11"/>
          <p:cNvSpPr txBox="1"/>
          <p:nvPr/>
        </p:nvSpPr>
        <p:spPr>
          <a:xfrm>
            <a:off x="7702723" y="3464387"/>
            <a:ext cx="1168055" cy="2414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TE</a:t>
            </a:r>
            <a:endParaRPr lang="en-US" sz="1612" dirty="0"/>
          </a:p>
        </p:txBody>
      </p:sp>
      <p:sp>
        <p:nvSpPr>
          <p:cNvPr id="13" name="te-results_12"/>
          <p:cNvSpPr/>
          <p:nvPr/>
        </p:nvSpPr>
        <p:spPr>
          <a:xfrm>
            <a:off x="7124730" y="1813530"/>
            <a:ext cx="2324039" cy="3035991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22860">
            <a:solidFill>
              <a:srgbClr val="1C2735"/>
            </a:solidFill>
            <a:prstDash val="solid"/>
          </a:ln>
        </p:spPr>
      </p:sp>
      <p:sp>
        <p:nvSpPr>
          <p:cNvPr id="14" name="te-results_13"/>
          <p:cNvSpPr txBox="1"/>
          <p:nvPr/>
        </p:nvSpPr>
        <p:spPr>
          <a:xfrm>
            <a:off x="7691018" y="3106674"/>
            <a:ext cx="1191463" cy="3772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1C2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4,960</a:t>
            </a:r>
            <a:endParaRPr lang="en-US" sz="2520" dirty="0"/>
          </a:p>
        </p:txBody>
      </p:sp>
      <p:sp>
        <p:nvSpPr>
          <p:cNvPr id="15" name="te-results_14"/>
          <p:cNvSpPr txBox="1"/>
          <p:nvPr/>
        </p:nvSpPr>
        <p:spPr>
          <a:xfrm>
            <a:off x="7702540" y="3464387"/>
            <a:ext cx="1168512" cy="2414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1C2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TE</a:t>
            </a:r>
            <a:endParaRPr lang="en-US" sz="1612" dirty="0"/>
          </a:p>
        </p:txBody>
      </p:sp>
      <p:sp>
        <p:nvSpPr>
          <p:cNvPr id="16" name="te-results_15"/>
          <p:cNvSpPr/>
          <p:nvPr/>
        </p:nvSpPr>
        <p:spPr>
          <a:xfrm>
            <a:off x="7124730" y="4880061"/>
            <a:ext cx="2324039" cy="663763"/>
          </a:xfrm>
          <a:prstGeom prst="roundRect">
            <a:avLst>
              <a:gd name="adj" fmla="val 6888"/>
            </a:avLst>
          </a:prstGeom>
          <a:solidFill>
            <a:srgbClr val="1C2735"/>
          </a:solidFill>
          <a:ln w="22860">
            <a:solidFill>
              <a:srgbClr val="FFFFFF"/>
            </a:solidFill>
            <a:prstDash val="solid"/>
          </a:ln>
        </p:spPr>
      </p:sp>
      <p:sp>
        <p:nvSpPr>
          <p:cNvPr id="17" name="te-results_16"/>
          <p:cNvSpPr txBox="1"/>
          <p:nvPr/>
        </p:nvSpPr>
        <p:spPr>
          <a:xfrm>
            <a:off x="7939644" y="5055809"/>
            <a:ext cx="694304" cy="2619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4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1,123</a:t>
            </a:r>
            <a:endParaRPr lang="en-US" sz="1749" dirty="0"/>
          </a:p>
        </p:txBody>
      </p:sp>
      <p:sp>
        <p:nvSpPr>
          <p:cNvPr id="18" name="te-results_17"/>
          <p:cNvSpPr txBox="1"/>
          <p:nvPr/>
        </p:nvSpPr>
        <p:spPr>
          <a:xfrm>
            <a:off x="7747528" y="5304160"/>
            <a:ext cx="1078443" cy="16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1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Gene-derived</a:t>
            </a:r>
            <a:endParaRPr lang="en-US" sz="1119" dirty="0"/>
          </a:p>
        </p:txBody>
      </p:sp>
      <p:sp>
        <p:nvSpPr>
          <p:cNvPr id="19" name="te-results_18"/>
          <p:cNvSpPr/>
          <p:nvPr/>
        </p:nvSpPr>
        <p:spPr>
          <a:xfrm>
            <a:off x="7124730" y="4880061"/>
            <a:ext cx="2324039" cy="663763"/>
          </a:xfrm>
          <a:prstGeom prst="roundRect">
            <a:avLst>
              <a:gd name="adj" fmla="val 6888"/>
            </a:avLst>
          </a:prstGeom>
          <a:solidFill>
            <a:srgbClr val="FFFFFF"/>
          </a:solidFill>
          <a:ln w="22860">
            <a:solidFill>
              <a:srgbClr val="1C2735"/>
            </a:solidFill>
            <a:prstDash val="solid"/>
          </a:ln>
        </p:spPr>
      </p:sp>
      <p:sp>
        <p:nvSpPr>
          <p:cNvPr id="20" name="te-results_19"/>
          <p:cNvSpPr txBox="1"/>
          <p:nvPr/>
        </p:nvSpPr>
        <p:spPr>
          <a:xfrm>
            <a:off x="7939552" y="5055809"/>
            <a:ext cx="694487" cy="2619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49" b="1" dirty="0">
                <a:solidFill>
                  <a:srgbClr val="1C2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1,123</a:t>
            </a:r>
            <a:endParaRPr lang="en-US" sz="1749" dirty="0"/>
          </a:p>
        </p:txBody>
      </p:sp>
      <p:sp>
        <p:nvSpPr>
          <p:cNvPr id="21" name="te-results_20"/>
          <p:cNvSpPr txBox="1"/>
          <p:nvPr/>
        </p:nvSpPr>
        <p:spPr>
          <a:xfrm>
            <a:off x="7747986" y="5304160"/>
            <a:ext cx="1077712" cy="16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19" dirty="0">
                <a:solidFill>
                  <a:srgbClr val="1C2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Gene-derived</a:t>
            </a:r>
            <a:endParaRPr lang="en-US" sz="1119" dirty="0"/>
          </a:p>
        </p:txBody>
      </p:sp>
      <p:sp>
        <p:nvSpPr>
          <p:cNvPr id="22" name="te-results_21"/>
          <p:cNvSpPr/>
          <p:nvPr/>
        </p:nvSpPr>
        <p:spPr>
          <a:xfrm>
            <a:off x="7124730" y="5574274"/>
            <a:ext cx="2324039" cy="336133"/>
          </a:xfrm>
          <a:prstGeom prst="roundRect">
            <a:avLst>
              <a:gd name="adj" fmla="val 13602"/>
            </a:avLst>
          </a:prstGeom>
          <a:solidFill>
            <a:srgbClr val="1C2735"/>
          </a:solidFill>
          <a:ln w="22860">
            <a:solidFill>
              <a:srgbClr val="FFFFFF"/>
            </a:solidFill>
            <a:prstDash val="solid"/>
          </a:ln>
        </p:spPr>
      </p:sp>
      <p:sp>
        <p:nvSpPr>
          <p:cNvPr id="23" name="te-results_22"/>
          <p:cNvSpPr/>
          <p:nvPr/>
        </p:nvSpPr>
        <p:spPr>
          <a:xfrm>
            <a:off x="7124730" y="5574274"/>
            <a:ext cx="2324039" cy="336133"/>
          </a:xfrm>
          <a:prstGeom prst="roundRect">
            <a:avLst>
              <a:gd name="adj" fmla="val 13602"/>
            </a:avLst>
          </a:prstGeom>
          <a:solidFill>
            <a:srgbClr val="FFFFFF"/>
          </a:solidFill>
          <a:ln w="22860">
            <a:solidFill>
              <a:srgbClr val="1C2735"/>
            </a:solidFill>
            <a:prstDash val="solid"/>
          </a:ln>
        </p:spPr>
      </p:sp>
      <p:sp>
        <p:nvSpPr>
          <p:cNvPr id="24" name="te-results_23"/>
          <p:cNvSpPr/>
          <p:nvPr/>
        </p:nvSpPr>
        <p:spPr>
          <a:xfrm>
            <a:off x="7124730" y="5940948"/>
            <a:ext cx="2324039" cy="250180"/>
          </a:xfrm>
          <a:prstGeom prst="roundRect">
            <a:avLst>
              <a:gd name="adj" fmla="val 18275"/>
            </a:avLst>
          </a:prstGeom>
          <a:solidFill>
            <a:srgbClr val="1C2735"/>
          </a:solidFill>
          <a:ln w="22860">
            <a:solidFill>
              <a:srgbClr val="FFFFFF"/>
            </a:solidFill>
            <a:prstDash val="solid"/>
          </a:ln>
        </p:spPr>
      </p:sp>
      <p:sp>
        <p:nvSpPr>
          <p:cNvPr id="25" name="te-results_24"/>
          <p:cNvSpPr/>
          <p:nvPr/>
        </p:nvSpPr>
        <p:spPr>
          <a:xfrm>
            <a:off x="7124730" y="5940948"/>
            <a:ext cx="2324039" cy="250180"/>
          </a:xfrm>
          <a:prstGeom prst="roundRect">
            <a:avLst>
              <a:gd name="adj" fmla="val 18275"/>
            </a:avLst>
          </a:prstGeom>
          <a:solidFill>
            <a:srgbClr val="FFFFFF"/>
          </a:solidFill>
          <a:ln w="22860">
            <a:solidFill>
              <a:srgbClr val="1C2735"/>
            </a:solidFill>
            <a:prstDash val="solid"/>
          </a:ln>
        </p:spPr>
      </p:sp>
      <p:sp>
        <p:nvSpPr>
          <p:cNvPr id="26" name="te-results_25"/>
          <p:cNvSpPr/>
          <p:nvPr/>
        </p:nvSpPr>
        <p:spPr>
          <a:xfrm>
            <a:off x="7124730" y="6221578"/>
            <a:ext cx="2324039" cy="179131"/>
          </a:xfrm>
          <a:prstGeom prst="roundRect">
            <a:avLst>
              <a:gd name="adj" fmla="val 25523"/>
            </a:avLst>
          </a:prstGeom>
          <a:solidFill>
            <a:srgbClr val="1C2735"/>
          </a:solidFill>
          <a:ln w="22860">
            <a:solidFill>
              <a:srgbClr val="FFFFFF"/>
            </a:solidFill>
            <a:prstDash val="solid"/>
          </a:ln>
        </p:spPr>
      </p:sp>
      <p:sp>
        <p:nvSpPr>
          <p:cNvPr id="27" name="te-results_26"/>
          <p:cNvSpPr/>
          <p:nvPr/>
        </p:nvSpPr>
        <p:spPr>
          <a:xfrm>
            <a:off x="7124730" y="6221578"/>
            <a:ext cx="2324039" cy="179131"/>
          </a:xfrm>
          <a:prstGeom prst="roundRect">
            <a:avLst>
              <a:gd name="adj" fmla="val 25523"/>
            </a:avLst>
          </a:prstGeom>
          <a:solidFill>
            <a:srgbClr val="FFFFFF"/>
          </a:solidFill>
          <a:ln w="22860">
            <a:solidFill>
              <a:srgbClr val="1C2735"/>
            </a:solidFill>
            <a:prstDash val="solid"/>
          </a:ln>
        </p:spPr>
      </p:sp>
      <p:sp>
        <p:nvSpPr>
          <p:cNvPr id="28" name="te-results_27"/>
          <p:cNvSpPr/>
          <p:nvPr/>
        </p:nvSpPr>
        <p:spPr>
          <a:xfrm>
            <a:off x="7124730" y="6431158"/>
            <a:ext cx="2324039" cy="106802"/>
          </a:xfrm>
          <a:prstGeom prst="roundRect">
            <a:avLst>
              <a:gd name="adj" fmla="val 42808"/>
            </a:avLst>
          </a:prstGeom>
          <a:solidFill>
            <a:srgbClr val="1C2735"/>
          </a:solidFill>
          <a:ln w="22860">
            <a:solidFill>
              <a:srgbClr val="FFFFFF"/>
            </a:solidFill>
            <a:prstDash val="solid"/>
          </a:ln>
        </p:spPr>
      </p:sp>
      <p:sp>
        <p:nvSpPr>
          <p:cNvPr id="29" name="te-results_29"/>
          <p:cNvSpPr/>
          <p:nvPr/>
        </p:nvSpPr>
        <p:spPr>
          <a:xfrm>
            <a:off x="9418320" y="5711891"/>
            <a:ext cx="60990" cy="6099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-results_30"/>
          <p:cNvSpPr/>
          <p:nvPr/>
        </p:nvSpPr>
        <p:spPr>
          <a:xfrm>
            <a:off x="9448770" y="5455950"/>
            <a:ext cx="335310" cy="286482"/>
          </a:xfrm>
          <a:custGeom>
            <a:avLst/>
            <a:gdLst/>
            <a:ahLst/>
            <a:cxnLst/>
            <a:rect l="l" t="t" r="r" b="b"/>
            <a:pathLst>
              <a:path w="335310" h="286482">
                <a:moveTo>
                  <a:pt x="0" y="286482"/>
                </a:moveTo>
                <a:lnTo>
                  <a:pt x="228600" y="0"/>
                </a:lnTo>
                <a:lnTo>
                  <a:pt x="335310" y="0"/>
                </a:lnTo>
              </a:path>
            </a:pathLst>
          </a:custGeom>
          <a:ln w="15240">
            <a:solidFill>
              <a:srgbClr val="FFFFFF"/>
            </a:solidFill>
            <a:prstDash val="solid"/>
          </a:ln>
        </p:spPr>
      </p:sp>
      <p:sp>
        <p:nvSpPr>
          <p:cNvPr id="31" name="te-results_31"/>
          <p:cNvSpPr txBox="1"/>
          <p:nvPr/>
        </p:nvSpPr>
        <p:spPr>
          <a:xfrm>
            <a:off x="9814530" y="5328940"/>
            <a:ext cx="2641702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8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593</a:t>
            </a:r>
            <a:pPr algn="l" indent="0" marL="0">
              <a:buNone/>
            </a:pPr>
            <a:r>
              <a:rPr lang="en-US" sz="1399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Tandem / local cluster</a:t>
            </a:r>
            <a:endParaRPr lang="en-US" sz="1018" dirty="0"/>
          </a:p>
        </p:txBody>
      </p:sp>
      <p:sp>
        <p:nvSpPr>
          <p:cNvPr id="32" name="te-results_32"/>
          <p:cNvSpPr/>
          <p:nvPr/>
        </p:nvSpPr>
        <p:spPr>
          <a:xfrm>
            <a:off x="9418320" y="6035589"/>
            <a:ext cx="60990" cy="6099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te-results_33"/>
          <p:cNvSpPr/>
          <p:nvPr/>
        </p:nvSpPr>
        <p:spPr>
          <a:xfrm>
            <a:off x="9448770" y="5791170"/>
            <a:ext cx="335310" cy="274869"/>
          </a:xfrm>
          <a:custGeom>
            <a:avLst/>
            <a:gdLst/>
            <a:ahLst/>
            <a:cxnLst/>
            <a:rect l="l" t="t" r="r" b="b"/>
            <a:pathLst>
              <a:path w="335310" h="274869">
                <a:moveTo>
                  <a:pt x="0" y="274869"/>
                </a:moveTo>
                <a:lnTo>
                  <a:pt x="228600" y="0"/>
                </a:lnTo>
                <a:lnTo>
                  <a:pt x="335310" y="0"/>
                </a:lnTo>
              </a:path>
            </a:pathLst>
          </a:custGeom>
          <a:ln w="15240">
            <a:solidFill>
              <a:srgbClr val="FFFFFF"/>
            </a:solidFill>
            <a:prstDash val="solid"/>
          </a:ln>
        </p:spPr>
      </p:sp>
      <p:sp>
        <p:nvSpPr>
          <p:cNvPr id="34" name="te-results_34"/>
          <p:cNvSpPr txBox="1"/>
          <p:nvPr/>
        </p:nvSpPr>
        <p:spPr>
          <a:xfrm>
            <a:off x="9814530" y="5664159"/>
            <a:ext cx="1374343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8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454</a:t>
            </a:r>
            <a:pPr algn="l" indent="0" marL="0">
              <a:buNone/>
            </a:pPr>
            <a:r>
              <a:rPr lang="en-US" sz="1399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Satellite</a:t>
            </a:r>
            <a:endParaRPr lang="en-US" sz="1018" dirty="0"/>
          </a:p>
        </p:txBody>
      </p:sp>
      <p:sp>
        <p:nvSpPr>
          <p:cNvPr id="35" name="te-results_35"/>
          <p:cNvSpPr/>
          <p:nvPr/>
        </p:nvSpPr>
        <p:spPr>
          <a:xfrm>
            <a:off x="9418320" y="6280648"/>
            <a:ext cx="60990" cy="6099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te-results_36"/>
          <p:cNvSpPr/>
          <p:nvPr/>
        </p:nvSpPr>
        <p:spPr>
          <a:xfrm>
            <a:off x="9448770" y="6126480"/>
            <a:ext cx="335310" cy="184709"/>
          </a:xfrm>
          <a:custGeom>
            <a:avLst/>
            <a:gdLst/>
            <a:ahLst/>
            <a:cxnLst/>
            <a:rect l="l" t="t" r="r" b="b"/>
            <a:pathLst>
              <a:path w="335310" h="184709">
                <a:moveTo>
                  <a:pt x="0" y="184709"/>
                </a:moveTo>
                <a:lnTo>
                  <a:pt x="228600" y="0"/>
                </a:lnTo>
                <a:lnTo>
                  <a:pt x="335310" y="0"/>
                </a:lnTo>
              </a:path>
            </a:pathLst>
          </a:custGeom>
          <a:ln w="15240">
            <a:solidFill>
              <a:srgbClr val="FFFFFF"/>
            </a:solidFill>
            <a:prstDash val="solid"/>
          </a:ln>
        </p:spPr>
      </p:sp>
      <p:sp>
        <p:nvSpPr>
          <p:cNvPr id="37" name="te-results_37"/>
          <p:cNvSpPr txBox="1"/>
          <p:nvPr/>
        </p:nvSpPr>
        <p:spPr>
          <a:xfrm>
            <a:off x="9814530" y="5999470"/>
            <a:ext cx="1507023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8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339</a:t>
            </a:r>
            <a:pPr algn="l" indent="0" marL="0">
              <a:buNone/>
            </a:pPr>
            <a:r>
              <a:rPr lang="en-US" sz="1399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Too short</a:t>
            </a:r>
            <a:endParaRPr lang="en-US" sz="1018" dirty="0"/>
          </a:p>
        </p:txBody>
      </p:sp>
      <p:sp>
        <p:nvSpPr>
          <p:cNvPr id="38" name="te-results_38"/>
          <p:cNvSpPr/>
          <p:nvPr/>
        </p:nvSpPr>
        <p:spPr>
          <a:xfrm>
            <a:off x="9418320" y="6454110"/>
            <a:ext cx="60990" cy="6099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te-results_39"/>
          <p:cNvSpPr/>
          <p:nvPr/>
        </p:nvSpPr>
        <p:spPr>
          <a:xfrm>
            <a:off x="9448770" y="6461790"/>
            <a:ext cx="335310" cy="22860"/>
          </a:xfrm>
          <a:custGeom>
            <a:avLst/>
            <a:gdLst/>
            <a:ahLst/>
            <a:cxnLst/>
            <a:rect l="l" t="t" r="r" b="b"/>
            <a:pathLst>
              <a:path w="335310" h="22860">
                <a:moveTo>
                  <a:pt x="0" y="22860"/>
                </a:moveTo>
                <a:lnTo>
                  <a:pt x="228600" y="0"/>
                </a:lnTo>
                <a:lnTo>
                  <a:pt x="335310" y="0"/>
                </a:lnTo>
              </a:path>
            </a:pathLst>
          </a:custGeom>
          <a:ln w="15240">
            <a:solidFill>
              <a:srgbClr val="FFFFFF"/>
            </a:solidFill>
            <a:prstDash val="solid"/>
          </a:ln>
        </p:spPr>
      </p:sp>
      <p:sp>
        <p:nvSpPr>
          <p:cNvPr id="40" name="te-results_40"/>
          <p:cNvSpPr txBox="1"/>
          <p:nvPr/>
        </p:nvSpPr>
        <p:spPr>
          <a:xfrm>
            <a:off x="9814530" y="6334780"/>
            <a:ext cx="201030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8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222</a:t>
            </a:r>
            <a:pPr algn="l" indent="0" marL="0">
              <a:buNone/>
            </a:pPr>
            <a:r>
              <a:rPr lang="en-US" sz="1399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Too few copies</a:t>
            </a:r>
            <a:endParaRPr lang="en-US" sz="1018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  <p:bldP spid="19" grpId="0" animBg="1"/>
      <p:bldP spid="20" grpId="0"/>
      <p:bldP spid="21" grpId="0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2" grpId="0" animBg="1"/>
      <p:bldP spid="33" grpId="0" animBg="1"/>
      <p:bldP spid="34" grpId="0"/>
      <p:bldP spid="35" grpId="0" animBg="1"/>
      <p:bldP spid="36" grpId="0" animBg="1"/>
      <p:bldP spid="37" grpId="0"/>
      <p:bldP spid="38" grpId="0" animBg="1"/>
      <p:bldP spid="39" grpId="0" animBg="1"/>
      <p:bldP spid="4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-novel_1"/>
          <p:cNvSpPr txBox="1"/>
          <p:nvPr/>
        </p:nvSpPr>
        <p:spPr>
          <a:xfrm>
            <a:off x="548640" y="320040"/>
            <a:ext cx="11140410" cy="40386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800" dirty="0">
                <a:solidFill>
                  <a:srgbClr val="F9B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800" dirty="0"/>
          </a:p>
        </p:txBody>
      </p:sp>
      <p:sp>
        <p:nvSpPr>
          <p:cNvPr id="3" name="te-novel_2"/>
          <p:cNvSpPr txBox="1"/>
          <p:nvPr/>
        </p:nvSpPr>
        <p:spPr>
          <a:xfrm>
            <a:off x="548640" y="4297680"/>
            <a:ext cx="1114041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76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 TE families</a:t>
            </a:r>
            <a:endParaRPr lang="en-US" sz="57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576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discovered*</a:t>
            </a:r>
            <a:endParaRPr lang="en-US" sz="57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-masker_1"/>
          <p:cNvSpPr txBox="1"/>
          <p:nvPr/>
        </p:nvSpPr>
        <p:spPr>
          <a:xfrm>
            <a:off x="548640" y="396210"/>
            <a:ext cx="11140410" cy="464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Investigating results with RepeatMasker</a:t>
            </a:r>
            <a:endParaRPr lang="en-US" sz="2880" dirty="0"/>
          </a:p>
        </p:txBody>
      </p:sp>
      <p:sp>
        <p:nvSpPr>
          <p:cNvPr id="3" name="te-masker_2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RepeatMasker is a tool used to annotate the genome’s repeat intervals</a:t>
            </a:r>
            <a:endParaRPr lang="en-US" sz="2544" dirty="0"/>
          </a:p>
        </p:txBody>
      </p:sp>
      <p:sp>
        <p:nvSpPr>
          <p:cNvPr id="4" name="te-masker_3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TE sequences are fed into RepeatMasker</a:t>
            </a:r>
            <a:endParaRPr lang="en-US" sz="2544" dirty="0"/>
          </a:p>
        </p:txBody>
      </p:sp>
      <p:sp>
        <p:nvSpPr>
          <p:cNvPr id="5" name="te-masker_4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are used to find intervals with TE homology</a:t>
            </a:r>
            <a:endParaRPr lang="en-US" sz="2544" dirty="0"/>
          </a:p>
        </p:txBody>
      </p:sp>
      <p:sp>
        <p:nvSpPr>
          <p:cNvPr id="6" name="te-masker_5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such, the genome was reannotated with families generated by the REPrise and RepeatModeler runs</a:t>
            </a:r>
            <a:endParaRPr lang="en-US" sz="2544" dirty="0"/>
          </a:p>
        </p:txBody>
      </p:sp>
      <p:sp>
        <p:nvSpPr>
          <p:cNvPr id="7" name="te-masker_6"/>
          <p:cNvSpPr/>
          <p:nvPr/>
        </p:nvSpPr>
        <p:spPr>
          <a:xfrm>
            <a:off x="1219170" y="5730270"/>
            <a:ext cx="975363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8" name="te-masker_7"/>
          <p:cNvSpPr/>
          <p:nvPr/>
        </p:nvSpPr>
        <p:spPr>
          <a:xfrm>
            <a:off x="1981230" y="5730270"/>
            <a:ext cx="60963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9" name="te-masker_8"/>
          <p:cNvSpPr/>
          <p:nvPr/>
        </p:nvSpPr>
        <p:spPr>
          <a:xfrm>
            <a:off x="3276570" y="5730270"/>
            <a:ext cx="381030" cy="121890"/>
          </a:xfrm>
          <a:prstGeom prst="rect">
            <a:avLst/>
          </a:prstGeom>
          <a:solidFill>
            <a:srgbClr val="F93500"/>
          </a:solidFill>
          <a:ln/>
        </p:spPr>
      </p:sp>
      <p:sp>
        <p:nvSpPr>
          <p:cNvPr id="10" name="te-masker_9"/>
          <p:cNvSpPr/>
          <p:nvPr/>
        </p:nvSpPr>
        <p:spPr>
          <a:xfrm>
            <a:off x="4267230" y="5730270"/>
            <a:ext cx="761970" cy="121890"/>
          </a:xfrm>
          <a:prstGeom prst="rect">
            <a:avLst/>
          </a:prstGeom>
          <a:solidFill>
            <a:srgbClr val="006FF9"/>
          </a:solidFill>
          <a:ln/>
        </p:spPr>
      </p:sp>
      <p:sp>
        <p:nvSpPr>
          <p:cNvPr id="11" name="te-masker_10"/>
          <p:cNvSpPr/>
          <p:nvPr/>
        </p:nvSpPr>
        <p:spPr>
          <a:xfrm>
            <a:off x="6324630" y="5730270"/>
            <a:ext cx="45720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12" name="te-masker_11"/>
          <p:cNvSpPr/>
          <p:nvPr/>
        </p:nvSpPr>
        <p:spPr>
          <a:xfrm>
            <a:off x="7543800" y="5730270"/>
            <a:ext cx="761970" cy="121890"/>
          </a:xfrm>
          <a:prstGeom prst="rect">
            <a:avLst/>
          </a:prstGeom>
          <a:solidFill>
            <a:srgbClr val="F93500"/>
          </a:solidFill>
          <a:ln/>
        </p:spPr>
      </p:sp>
      <p:sp>
        <p:nvSpPr>
          <p:cNvPr id="13" name="te-masker_12"/>
          <p:cNvSpPr/>
          <p:nvPr/>
        </p:nvSpPr>
        <p:spPr>
          <a:xfrm>
            <a:off x="9144000" y="5730270"/>
            <a:ext cx="457200" cy="121890"/>
          </a:xfrm>
          <a:prstGeom prst="rect">
            <a:avLst/>
          </a:prstGeom>
          <a:solidFill>
            <a:srgbClr val="006FF9"/>
          </a:solidFill>
          <a:ln/>
        </p:spPr>
      </p:sp>
      <p:sp>
        <p:nvSpPr>
          <p:cNvPr id="14" name="te-masker_13"/>
          <p:cNvSpPr/>
          <p:nvPr/>
        </p:nvSpPr>
        <p:spPr>
          <a:xfrm>
            <a:off x="3924330" y="2552730"/>
            <a:ext cx="838230" cy="838230"/>
          </a:xfrm>
          <a:prstGeom prst="roundRect">
            <a:avLst>
              <a:gd name="adj" fmla="val 14541"/>
            </a:avLst>
          </a:prstGeom>
          <a:solidFill>
            <a:srgbClr val="3A4452"/>
          </a:solidFill>
          <a:ln w="1143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5" name="te-masker_14"/>
          <p:cNvSpPr txBox="1"/>
          <p:nvPr/>
        </p:nvSpPr>
        <p:spPr>
          <a:xfrm>
            <a:off x="4018239" y="2674620"/>
            <a:ext cx="6504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Dfam</a:t>
            </a:r>
            <a:endParaRPr lang="en-US" sz="1526" dirty="0"/>
          </a:p>
        </p:txBody>
      </p:sp>
      <p:sp>
        <p:nvSpPr>
          <p:cNvPr id="16" name="te-masker_15"/>
          <p:cNvSpPr/>
          <p:nvPr/>
        </p:nvSpPr>
        <p:spPr>
          <a:xfrm>
            <a:off x="4076670" y="2987070"/>
            <a:ext cx="533370" cy="30450"/>
          </a:xfrm>
          <a:prstGeom prst="roundRect">
            <a:avLst>
              <a:gd name="adj" fmla="val 50149"/>
            </a:avLst>
          </a:prstGeom>
          <a:solidFill>
            <a:srgbClr val="C3CAD3"/>
          </a:solidFill>
          <a:ln/>
        </p:spPr>
      </p:sp>
      <p:sp>
        <p:nvSpPr>
          <p:cNvPr id="17" name="te-masker_16"/>
          <p:cNvSpPr/>
          <p:nvPr/>
        </p:nvSpPr>
        <p:spPr>
          <a:xfrm>
            <a:off x="4076670" y="3108960"/>
            <a:ext cx="533370" cy="30450"/>
          </a:xfrm>
          <a:prstGeom prst="roundRect">
            <a:avLst>
              <a:gd name="adj" fmla="val 50149"/>
            </a:avLst>
          </a:prstGeom>
          <a:solidFill>
            <a:srgbClr val="C3CAD3"/>
          </a:solidFill>
          <a:ln/>
        </p:spPr>
      </p:sp>
      <p:sp>
        <p:nvSpPr>
          <p:cNvPr id="18" name="te-masker_17"/>
          <p:cNvSpPr/>
          <p:nvPr/>
        </p:nvSpPr>
        <p:spPr>
          <a:xfrm>
            <a:off x="4076670" y="3230850"/>
            <a:ext cx="533370" cy="30450"/>
          </a:xfrm>
          <a:prstGeom prst="roundRect">
            <a:avLst>
              <a:gd name="adj" fmla="val 50149"/>
            </a:avLst>
          </a:prstGeom>
          <a:solidFill>
            <a:srgbClr val="C3CAD3"/>
          </a:solidFill>
          <a:ln/>
        </p:spPr>
      </p:sp>
      <p:sp>
        <p:nvSpPr>
          <p:cNvPr id="19" name="te-masker_18"/>
          <p:cNvSpPr/>
          <p:nvPr/>
        </p:nvSpPr>
        <p:spPr>
          <a:xfrm>
            <a:off x="761970" y="5143500"/>
            <a:ext cx="2133570" cy="70866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0" name="te-masker_19"/>
          <p:cNvSpPr/>
          <p:nvPr/>
        </p:nvSpPr>
        <p:spPr>
          <a:xfrm>
            <a:off x="5029200" y="4305270"/>
            <a:ext cx="2133570" cy="838230"/>
          </a:xfrm>
          <a:prstGeom prst="roundRect">
            <a:avLst>
              <a:gd name="adj" fmla="val 12730"/>
            </a:avLst>
          </a:prstGeom>
          <a:solidFill>
            <a:srgbClr val="1D34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-masker_20"/>
          <p:cNvSpPr txBox="1"/>
          <p:nvPr/>
        </p:nvSpPr>
        <p:spPr>
          <a:xfrm>
            <a:off x="4989972" y="4562490"/>
            <a:ext cx="2212482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RepeatMasker</a:t>
            </a:r>
            <a:endParaRPr lang="en-US" sz="2162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0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14375 0.00000 E" pathEditMode="relative" rAng="0" ptsTypes="AA">
                                      <p:cBhvr>
                                        <p:cTn id="2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0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0 0.25556 E" pathEditMode="relative" rAng="0" ptsTypes="AA">
                                      <p:cBhvr>
                                        <p:cTn id="2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" presetID="0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14375 0.00000 E" pathEditMode="relative" rAng="0" ptsTypes="AA">
                                      <p:cBhvr>
                                        <p:cTn id="31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" presetID="0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0 0.25556 E" pathEditMode="relative" rAng="0" ptsTypes="AA">
                                      <p:cBhvr>
                                        <p:cTn id="3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" presetID="0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14375 0.00000 E" pathEditMode="relative" rAng="0" ptsTypes="AA">
                                      <p:cBhvr>
                                        <p:cTn id="3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0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0 0.25556 E" pathEditMode="relative" rAng="0" ptsTypes="AA">
                                      <p:cBhvr>
                                        <p:cTn id="3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0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14375 0.00000 E" pathEditMode="relative" rAng="0" ptsTypes="AA">
                                      <p:cBhvr>
                                        <p:cTn id="3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0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0 0.25556 E" pathEditMode="relative" rAng="0" ptsTypes="AA">
                                      <p:cBhvr>
                                        <p:cTn id="4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0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14375 0.00000 E" pathEditMode="relative" rAng="0" ptsTypes="AA">
                                      <p:cBhvr>
                                        <p:cTn id="43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" presetID="0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0 0.25556 E" pathEditMode="relative" rAng="0" ptsTypes="AA">
                                      <p:cBhvr>
                                        <p:cTn id="4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1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5000 0.00000 E" pathEditMode="relative" rAng="0" ptsTypes="AA">
                                      <p:cBhvr>
                                        <p:cTn id="67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5000 0.00000 E" pathEditMode="relative" rAng="0" ptsTypes="AA">
                                      <p:cBhvr>
                                        <p:cTn id="69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70000 0.00000 E" pathEditMode="relative" rAng="0" ptsTypes="AA">
                                      <p:cBhvr>
                                        <p:cTn id="77" dur="3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70000 0.00000 E" pathEditMode="relative" rAng="0" ptsTypes="AA">
                                      <p:cBhvr>
                                        <p:cTn id="79" dur="3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70000 0.00000 E" pathEditMode="relative" rAng="0" ptsTypes="AA">
                                      <p:cBhvr>
                                        <p:cTn id="81" dur="3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957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229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1443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43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1814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286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2586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17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3043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286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3643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171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0" nodeType="withEffect">
                                  <p:stCondLst>
                                    <p:cond delay="4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0" presetClass="path" presetSubtype="0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animMotion origin="layout" path="M 0 0 L -0.35000 0.00000 E" pathEditMode="relative" rAng="0" ptsTypes="AA">
                                      <p:cBhvr>
                                        <p:cTn id="104" dur="9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0" presetClass="path" presetSubtype="0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animMotion origin="layout" path="M 0 0 L -0.35000 0.00000 E" pathEditMode="relative" rAng="0" ptsTypes="AA">
                                      <p:cBhvr>
                                        <p:cTn id="106" dur="9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0" presetClass="path" presetSubtype="0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animMotion origin="layout" path="M 0 0 L -0.35000 0.00000 E" pathEditMode="relative" rAng="0" ptsTypes="AA">
                                      <p:cBhvr>
                                        <p:cTn id="108" dur="9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 animBg="1"/>
      <p:bldP spid="17" grpId="0" animBg="1"/>
      <p:bldP spid="18" grpId="0" animBg="1"/>
      <p:bldP spid="19" grpId="0" animBg="1"/>
      <p:bldP spid="20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-compare_1"/>
          <p:cNvSpPr txBox="1"/>
          <p:nvPr/>
        </p:nvSpPr>
        <p:spPr>
          <a:xfrm>
            <a:off x="548640" y="396210"/>
            <a:ext cx="11140410" cy="464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80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this reannotation compare to the published annotation?</a:t>
            </a:r>
            <a:endParaRPr lang="en-US" sz="2480" dirty="0"/>
          </a:p>
        </p:txBody>
      </p:sp>
      <p:sp>
        <p:nvSpPr>
          <p:cNvPr id="3" name="te-compare_2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labelled repeat intervals</a:t>
            </a:r>
            <a:endParaRPr lang="en-US" sz="2544" dirty="0"/>
          </a:p>
        </p:txBody>
      </p:sp>
      <p:sp>
        <p:nvSpPr>
          <p:cNvPr id="4" name="te-compare_3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491 validated loci which had not been previously annotated</a:t>
            </a:r>
            <a:endParaRPr lang="en-US" sz="2544" dirty="0"/>
          </a:p>
        </p:txBody>
      </p:sp>
      <p:sp>
        <p:nvSpPr>
          <p:cNvPr id="5" name="te-compare_4"/>
          <p:cNvSpPr/>
          <p:nvPr/>
        </p:nvSpPr>
        <p:spPr>
          <a:xfrm>
            <a:off x="3962370" y="3749040"/>
            <a:ext cx="716277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6" name="te-compare_5"/>
          <p:cNvSpPr/>
          <p:nvPr/>
        </p:nvSpPr>
        <p:spPr>
          <a:xfrm>
            <a:off x="4267230" y="3749040"/>
            <a:ext cx="38103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7" name="te-compare_6"/>
          <p:cNvSpPr/>
          <p:nvPr/>
        </p:nvSpPr>
        <p:spPr>
          <a:xfrm>
            <a:off x="5029200" y="3749040"/>
            <a:ext cx="45720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8" name="te-compare_7"/>
          <p:cNvSpPr/>
          <p:nvPr/>
        </p:nvSpPr>
        <p:spPr>
          <a:xfrm>
            <a:off x="6019770" y="3749040"/>
            <a:ext cx="30477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9" name="te-compare_8"/>
          <p:cNvSpPr/>
          <p:nvPr/>
        </p:nvSpPr>
        <p:spPr>
          <a:xfrm>
            <a:off x="6858000" y="3749040"/>
            <a:ext cx="53337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10" name="te-compare_9"/>
          <p:cNvSpPr/>
          <p:nvPr/>
        </p:nvSpPr>
        <p:spPr>
          <a:xfrm>
            <a:off x="7848570" y="3749040"/>
            <a:ext cx="30477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11" name="te-compare_10"/>
          <p:cNvSpPr/>
          <p:nvPr/>
        </p:nvSpPr>
        <p:spPr>
          <a:xfrm>
            <a:off x="8610630" y="3749040"/>
            <a:ext cx="53337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12" name="te-compare_11"/>
          <p:cNvSpPr/>
          <p:nvPr/>
        </p:nvSpPr>
        <p:spPr>
          <a:xfrm>
            <a:off x="9601200" y="3749040"/>
            <a:ext cx="30477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13" name="te-compare_12"/>
          <p:cNvSpPr/>
          <p:nvPr/>
        </p:nvSpPr>
        <p:spPr>
          <a:xfrm>
            <a:off x="10363170" y="3749040"/>
            <a:ext cx="45720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14" name="te-compare_13"/>
          <p:cNvSpPr/>
          <p:nvPr/>
        </p:nvSpPr>
        <p:spPr>
          <a:xfrm>
            <a:off x="3962370" y="5120640"/>
            <a:ext cx="716277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5" name="te-compare_14"/>
          <p:cNvSpPr/>
          <p:nvPr/>
        </p:nvSpPr>
        <p:spPr>
          <a:xfrm>
            <a:off x="4267230" y="5120640"/>
            <a:ext cx="38103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16" name="te-compare_15"/>
          <p:cNvSpPr/>
          <p:nvPr/>
        </p:nvSpPr>
        <p:spPr>
          <a:xfrm>
            <a:off x="5029200" y="5120640"/>
            <a:ext cx="45720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17" name="te-compare_16"/>
          <p:cNvSpPr/>
          <p:nvPr/>
        </p:nvSpPr>
        <p:spPr>
          <a:xfrm>
            <a:off x="6858000" y="5120640"/>
            <a:ext cx="53337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18" name="te-compare_17"/>
          <p:cNvSpPr/>
          <p:nvPr/>
        </p:nvSpPr>
        <p:spPr>
          <a:xfrm>
            <a:off x="7848570" y="5120640"/>
            <a:ext cx="30477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19" name="te-compare_18"/>
          <p:cNvSpPr/>
          <p:nvPr/>
        </p:nvSpPr>
        <p:spPr>
          <a:xfrm>
            <a:off x="9601200" y="5120640"/>
            <a:ext cx="30477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20" name="te-compare_19"/>
          <p:cNvSpPr/>
          <p:nvPr/>
        </p:nvSpPr>
        <p:spPr>
          <a:xfrm>
            <a:off x="10363170" y="5120640"/>
            <a:ext cx="45720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21" name="te-compare_20"/>
          <p:cNvSpPr/>
          <p:nvPr/>
        </p:nvSpPr>
        <p:spPr>
          <a:xfrm>
            <a:off x="4446270" y="3352830"/>
            <a:ext cx="2286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-compare_21"/>
          <p:cNvSpPr/>
          <p:nvPr/>
        </p:nvSpPr>
        <p:spPr>
          <a:xfrm>
            <a:off x="5246370" y="3352830"/>
            <a:ext cx="2286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-compare_22"/>
          <p:cNvSpPr/>
          <p:nvPr/>
        </p:nvSpPr>
        <p:spPr>
          <a:xfrm>
            <a:off x="6160770" y="3352830"/>
            <a:ext cx="2286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-compare_23"/>
          <p:cNvSpPr/>
          <p:nvPr/>
        </p:nvSpPr>
        <p:spPr>
          <a:xfrm>
            <a:off x="7113300" y="3352830"/>
            <a:ext cx="2286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-compare_24"/>
          <p:cNvSpPr/>
          <p:nvPr/>
        </p:nvSpPr>
        <p:spPr>
          <a:xfrm>
            <a:off x="7989570" y="3352830"/>
            <a:ext cx="2286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-compare_25"/>
          <p:cNvSpPr/>
          <p:nvPr/>
        </p:nvSpPr>
        <p:spPr>
          <a:xfrm>
            <a:off x="8865840" y="3352830"/>
            <a:ext cx="2286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-compare_26"/>
          <p:cNvSpPr/>
          <p:nvPr/>
        </p:nvSpPr>
        <p:spPr>
          <a:xfrm>
            <a:off x="9742200" y="3352830"/>
            <a:ext cx="2286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-compare_27"/>
          <p:cNvSpPr/>
          <p:nvPr/>
        </p:nvSpPr>
        <p:spPr>
          <a:xfrm>
            <a:off x="10580340" y="3352830"/>
            <a:ext cx="2286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-compare_28"/>
          <p:cNvSpPr/>
          <p:nvPr/>
        </p:nvSpPr>
        <p:spPr>
          <a:xfrm>
            <a:off x="5791170" y="3520440"/>
            <a:ext cx="761970" cy="579090"/>
          </a:xfrm>
          <a:prstGeom prst="ellipse">
            <a:avLst/>
          </a:prstGeom>
          <a:ln w="22860">
            <a:solidFill>
              <a:srgbClr val="FFFFFF"/>
            </a:solidFill>
            <a:prstDash val="solid"/>
          </a:ln>
        </p:spPr>
      </p:sp>
      <p:sp>
        <p:nvSpPr>
          <p:cNvPr id="30" name="te-compare_29"/>
          <p:cNvSpPr/>
          <p:nvPr/>
        </p:nvSpPr>
        <p:spPr>
          <a:xfrm>
            <a:off x="8382030" y="3520440"/>
            <a:ext cx="990570" cy="579090"/>
          </a:xfrm>
          <a:prstGeom prst="ellipse">
            <a:avLst/>
          </a:prstGeom>
          <a:ln w="22860">
            <a:solidFill>
              <a:srgbClr val="FFFFFF"/>
            </a:solidFill>
            <a:prstDash val="solid"/>
          </a:ln>
        </p:spPr>
      </p:sp>
      <p:sp>
        <p:nvSpPr>
          <p:cNvPr id="31" name="te-compare_30"/>
          <p:cNvSpPr txBox="1"/>
          <p:nvPr/>
        </p:nvSpPr>
        <p:spPr>
          <a:xfrm>
            <a:off x="1120140" y="3688050"/>
            <a:ext cx="265935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RepeatMasker reannotation</a:t>
            </a:r>
            <a:endParaRPr lang="en-US" sz="1654" dirty="0"/>
          </a:p>
        </p:txBody>
      </p:sp>
      <p:sp>
        <p:nvSpPr>
          <p:cNvPr id="32" name="te-compare_31"/>
          <p:cNvSpPr txBox="1"/>
          <p:nvPr/>
        </p:nvSpPr>
        <p:spPr>
          <a:xfrm>
            <a:off x="1737360" y="5059650"/>
            <a:ext cx="204213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annotation</a:t>
            </a:r>
            <a:endParaRPr lang="en-US" sz="165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-made_1"/>
          <p:cNvSpPr txBox="1"/>
          <p:nvPr/>
        </p:nvSpPr>
        <p:spPr>
          <a:xfrm>
            <a:off x="548640" y="396210"/>
            <a:ext cx="11140410" cy="464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MADE1/2 investigation</a:t>
            </a:r>
            <a:endParaRPr lang="en-US" sz="2880" dirty="0"/>
          </a:p>
        </p:txBody>
      </p:sp>
      <p:sp>
        <p:nvSpPr>
          <p:cNvPr id="3" name="te-made_2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these unannotated families was MADE1/MADE2</a:t>
            </a:r>
            <a:endParaRPr lang="en-US" sz="2544" dirty="0"/>
          </a:p>
        </p:txBody>
      </p:sp>
      <p:sp>
        <p:nvSpPr>
          <p:cNvPr id="4" name="te-made_3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a short, 80 bp family composed of two palindromic repeats</a:t>
            </a:r>
            <a:endParaRPr lang="en-US" sz="2544" dirty="0"/>
          </a:p>
        </p:txBody>
      </p:sp>
      <p:sp>
        <p:nvSpPr>
          <p:cNvPr id="5" name="te-made_4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RepeatMasker’s search found 71 loci without annotation</a:t>
            </a:r>
            <a:endParaRPr lang="en-US" sz="2544" dirty="0"/>
          </a:p>
        </p:txBody>
      </p:sp>
      <p:sp>
        <p:nvSpPr>
          <p:cNvPr id="6" name="te-made_5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a more sensitive BLAST search brought the count up to 378</a:t>
            </a:r>
            <a:endParaRPr lang="en-US" sz="2544" dirty="0"/>
          </a:p>
        </p:txBody>
      </p:sp>
      <p:sp>
        <p:nvSpPr>
          <p:cNvPr id="7" name="te-made_6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ensure these loci were genuine, various tests were used</a:t>
            </a:r>
            <a:endParaRPr lang="en-US" sz="2544" dirty="0"/>
          </a:p>
        </p:txBody>
      </p:sp>
      <p:sp>
        <p:nvSpPr>
          <p:cNvPr id="8" name="te-made_7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Shuffling the sequence 500 times and BLASTing it against the reference sequence</a:t>
            </a:r>
            <a:endParaRPr lang="en-US" sz="2544" dirty="0"/>
          </a:p>
        </p:txBody>
      </p:sp>
      <p:sp>
        <p:nvSpPr>
          <p:cNvPr id="9" name="te-made_8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orthologous positions in primates</a:t>
            </a:r>
            <a:endParaRPr lang="en-US" sz="2544" dirty="0"/>
          </a:p>
        </p:txBody>
      </p:sp>
      <p:sp>
        <p:nvSpPr>
          <p:cNvPr id="10" name="te-made_9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Querying against profile hidden Markov models</a:t>
            </a:r>
            <a:endParaRPr lang="en-US" sz="2544" dirty="0"/>
          </a:p>
        </p:txBody>
      </p:sp>
      <p:sp>
        <p:nvSpPr>
          <p:cNvPr id="11" name="te-made_10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tests confirmed all but one locus</a:t>
            </a:r>
            <a:endParaRPr lang="en-US" sz="2544" dirty="0"/>
          </a:p>
        </p:txBody>
      </p:sp>
      <p:sp>
        <p:nvSpPr>
          <p:cNvPr id="12" name="te-made_11"/>
          <p:cNvSpPr/>
          <p:nvPr/>
        </p:nvSpPr>
        <p:spPr>
          <a:xfrm>
            <a:off x="3810030" y="4084350"/>
            <a:ext cx="2114550" cy="365760"/>
          </a:xfrm>
          <a:custGeom>
            <a:avLst/>
            <a:gdLst/>
            <a:ahLst/>
            <a:cxnLst/>
            <a:rect l="l" t="t" r="r" b="b"/>
            <a:pathLst>
              <a:path w="2114550" h="365760">
                <a:moveTo>
                  <a:pt x="0" y="0"/>
                </a:moveTo>
                <a:lnTo>
                  <a:pt x="1916400" y="0"/>
                </a:lnTo>
                <a:lnTo>
                  <a:pt x="2114550" y="182880"/>
                </a:lnTo>
                <a:lnTo>
                  <a:pt x="19164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F9BE00"/>
          </a:solidFill>
          <a:ln/>
        </p:spPr>
      </p:sp>
      <p:sp>
        <p:nvSpPr>
          <p:cNvPr id="13" name="te-made_12"/>
          <p:cNvSpPr/>
          <p:nvPr/>
        </p:nvSpPr>
        <p:spPr>
          <a:xfrm>
            <a:off x="5924580" y="4084350"/>
            <a:ext cx="342900" cy="365760"/>
          </a:xfrm>
          <a:prstGeom prst="rect">
            <a:avLst/>
          </a:prstGeom>
          <a:solidFill>
            <a:srgbClr val="FF8C1A"/>
          </a:solidFill>
          <a:ln/>
        </p:spPr>
      </p:sp>
      <p:sp>
        <p:nvSpPr>
          <p:cNvPr id="14" name="te-made_13"/>
          <p:cNvSpPr/>
          <p:nvPr/>
        </p:nvSpPr>
        <p:spPr>
          <a:xfrm>
            <a:off x="6267480" y="4084350"/>
            <a:ext cx="2114550" cy="365760"/>
          </a:xfrm>
          <a:custGeom>
            <a:avLst/>
            <a:gdLst/>
            <a:ahLst/>
            <a:cxnLst/>
            <a:rect l="l" t="t" r="r" b="b"/>
            <a:pathLst>
              <a:path w="2114550" h="365760">
                <a:moveTo>
                  <a:pt x="2114550" y="0"/>
                </a:moveTo>
                <a:lnTo>
                  <a:pt x="198150" y="0"/>
                </a:lnTo>
                <a:lnTo>
                  <a:pt x="0" y="182880"/>
                </a:lnTo>
                <a:lnTo>
                  <a:pt x="198150" y="365760"/>
                </a:lnTo>
                <a:lnTo>
                  <a:pt x="2114550" y="365760"/>
                </a:lnTo>
                <a:close/>
              </a:path>
            </a:pathLst>
          </a:custGeom>
          <a:solidFill>
            <a:srgbClr val="F9BE00"/>
          </a:solidFill>
          <a:ln/>
        </p:spPr>
      </p:sp>
      <p:sp>
        <p:nvSpPr>
          <p:cNvPr id="15" name="te-made_14"/>
          <p:cNvSpPr/>
          <p:nvPr/>
        </p:nvSpPr>
        <p:spPr>
          <a:xfrm>
            <a:off x="3810030" y="3779490"/>
            <a:ext cx="4572000" cy="106710"/>
          </a:xfrm>
          <a:custGeom>
            <a:avLst/>
            <a:gdLst/>
            <a:ahLst/>
            <a:cxnLst/>
            <a:rect l="l" t="t" r="r" b="b"/>
            <a:pathLst>
              <a:path w="4572000" h="106710">
                <a:moveTo>
                  <a:pt x="0" y="106710"/>
                </a:moveTo>
                <a:lnTo>
                  <a:pt x="0" y="0"/>
                </a:lnTo>
                <a:lnTo>
                  <a:pt x="4572000" y="0"/>
                </a:lnTo>
                <a:lnTo>
                  <a:pt x="4572000" y="106710"/>
                </a:lnTo>
              </a:path>
            </a:pathLst>
          </a:custGeom>
          <a:ln w="15240">
            <a:solidFill>
              <a:srgbClr val="A9B5C2"/>
            </a:solidFill>
            <a:prstDash val="solid"/>
          </a:ln>
        </p:spPr>
      </p:sp>
      <p:sp>
        <p:nvSpPr>
          <p:cNvPr id="16" name="te-made_15"/>
          <p:cNvSpPr txBox="1"/>
          <p:nvPr/>
        </p:nvSpPr>
        <p:spPr>
          <a:xfrm>
            <a:off x="5780380" y="3507090"/>
            <a:ext cx="631210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bp</a:t>
            </a:r>
            <a:endParaRPr lang="en-US" sz="1399" dirty="0"/>
          </a:p>
        </p:txBody>
      </p:sp>
      <p:sp>
        <p:nvSpPr>
          <p:cNvPr id="17" name="te-made_16"/>
          <p:cNvSpPr txBox="1"/>
          <p:nvPr/>
        </p:nvSpPr>
        <p:spPr>
          <a:xfrm>
            <a:off x="3960998" y="4634911"/>
            <a:ext cx="1812615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Palindromic repeat</a:t>
            </a:r>
            <a:endParaRPr lang="en-US" sz="1399" dirty="0"/>
          </a:p>
        </p:txBody>
      </p:sp>
      <p:sp>
        <p:nvSpPr>
          <p:cNvPr id="18" name="te-made_17"/>
          <p:cNvSpPr txBox="1"/>
          <p:nvPr/>
        </p:nvSpPr>
        <p:spPr>
          <a:xfrm>
            <a:off x="5826740" y="4634911"/>
            <a:ext cx="538582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dirty="0">
                <a:solidFill>
                  <a:srgbClr val="FF8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399" dirty="0"/>
          </a:p>
        </p:txBody>
      </p:sp>
      <p:sp>
        <p:nvSpPr>
          <p:cNvPr id="19" name="te-made_18"/>
          <p:cNvSpPr txBox="1"/>
          <p:nvPr/>
        </p:nvSpPr>
        <p:spPr>
          <a:xfrm>
            <a:off x="6418448" y="4634911"/>
            <a:ext cx="1812615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Palindromic repeat</a:t>
            </a:r>
            <a:endParaRPr lang="en-US" sz="1399" dirty="0"/>
          </a:p>
        </p:txBody>
      </p:sp>
      <p:sp>
        <p:nvSpPr>
          <p:cNvPr id="20" name="te-made_19"/>
          <p:cNvSpPr txBox="1"/>
          <p:nvPr/>
        </p:nvSpPr>
        <p:spPr>
          <a:xfrm>
            <a:off x="2379543" y="3533790"/>
            <a:ext cx="1598097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4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locus</a:t>
            </a:r>
            <a:endParaRPr lang="en-US" sz="1654" dirty="0"/>
          </a:p>
        </p:txBody>
      </p:sp>
      <p:sp>
        <p:nvSpPr>
          <p:cNvPr id="21" name="te-made_20"/>
          <p:cNvSpPr txBox="1"/>
          <p:nvPr/>
        </p:nvSpPr>
        <p:spPr>
          <a:xfrm>
            <a:off x="2308586" y="4600621"/>
            <a:ext cx="1669054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4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Shuffled locus</a:t>
            </a:r>
            <a:endParaRPr lang="en-US" sz="1654" dirty="0"/>
          </a:p>
        </p:txBody>
      </p:sp>
      <p:sp>
        <p:nvSpPr>
          <p:cNvPr id="22" name="te-made_21"/>
          <p:cNvSpPr/>
          <p:nvPr/>
        </p:nvSpPr>
        <p:spPr>
          <a:xfrm>
            <a:off x="4267230" y="3596610"/>
            <a:ext cx="140973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23" name="te-made_22"/>
          <p:cNvSpPr/>
          <p:nvPr/>
        </p:nvSpPr>
        <p:spPr>
          <a:xfrm>
            <a:off x="5676870" y="3596610"/>
            <a:ext cx="228600" cy="121890"/>
          </a:xfrm>
          <a:prstGeom prst="rect">
            <a:avLst/>
          </a:prstGeom>
          <a:solidFill>
            <a:srgbClr val="FF8C1A"/>
          </a:solidFill>
          <a:ln/>
        </p:spPr>
      </p:sp>
      <p:sp>
        <p:nvSpPr>
          <p:cNvPr id="24" name="te-made_23"/>
          <p:cNvSpPr/>
          <p:nvPr/>
        </p:nvSpPr>
        <p:spPr>
          <a:xfrm>
            <a:off x="5905470" y="3596610"/>
            <a:ext cx="140973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25" name="te-made_24"/>
          <p:cNvSpPr/>
          <p:nvPr/>
        </p:nvSpPr>
        <p:spPr>
          <a:xfrm>
            <a:off x="4267230" y="4663440"/>
            <a:ext cx="38103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26" name="te-made_25"/>
          <p:cNvSpPr/>
          <p:nvPr/>
        </p:nvSpPr>
        <p:spPr>
          <a:xfrm>
            <a:off x="4648170" y="4663440"/>
            <a:ext cx="38103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27" name="te-made_26"/>
          <p:cNvSpPr/>
          <p:nvPr/>
        </p:nvSpPr>
        <p:spPr>
          <a:xfrm>
            <a:off x="5029200" y="4663440"/>
            <a:ext cx="38103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28" name="te-made_27"/>
          <p:cNvSpPr/>
          <p:nvPr/>
        </p:nvSpPr>
        <p:spPr>
          <a:xfrm>
            <a:off x="5410230" y="4663440"/>
            <a:ext cx="26673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29" name="te-made_28"/>
          <p:cNvSpPr/>
          <p:nvPr/>
        </p:nvSpPr>
        <p:spPr>
          <a:xfrm>
            <a:off x="5676870" y="4663440"/>
            <a:ext cx="114300" cy="121890"/>
          </a:xfrm>
          <a:prstGeom prst="rect">
            <a:avLst/>
          </a:prstGeom>
          <a:solidFill>
            <a:srgbClr val="FF8C1A"/>
          </a:solidFill>
          <a:ln/>
        </p:spPr>
      </p:sp>
      <p:sp>
        <p:nvSpPr>
          <p:cNvPr id="30" name="te-made_29"/>
          <p:cNvSpPr/>
          <p:nvPr/>
        </p:nvSpPr>
        <p:spPr>
          <a:xfrm>
            <a:off x="5791170" y="4663440"/>
            <a:ext cx="114300" cy="121890"/>
          </a:xfrm>
          <a:prstGeom prst="rect">
            <a:avLst/>
          </a:prstGeom>
          <a:solidFill>
            <a:srgbClr val="FF8C1A"/>
          </a:solidFill>
          <a:ln/>
        </p:spPr>
      </p:sp>
      <p:sp>
        <p:nvSpPr>
          <p:cNvPr id="31" name="te-made_30"/>
          <p:cNvSpPr/>
          <p:nvPr/>
        </p:nvSpPr>
        <p:spPr>
          <a:xfrm>
            <a:off x="5905470" y="4663440"/>
            <a:ext cx="26673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32" name="te-made_31"/>
          <p:cNvSpPr/>
          <p:nvPr/>
        </p:nvSpPr>
        <p:spPr>
          <a:xfrm>
            <a:off x="6172200" y="4663440"/>
            <a:ext cx="38103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33" name="te-made_32"/>
          <p:cNvSpPr/>
          <p:nvPr/>
        </p:nvSpPr>
        <p:spPr>
          <a:xfrm>
            <a:off x="6553230" y="4663440"/>
            <a:ext cx="38103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34" name="te-made_33"/>
          <p:cNvSpPr/>
          <p:nvPr/>
        </p:nvSpPr>
        <p:spPr>
          <a:xfrm>
            <a:off x="6934170" y="4663440"/>
            <a:ext cx="38103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35" name="te-made_34"/>
          <p:cNvSpPr/>
          <p:nvPr/>
        </p:nvSpPr>
        <p:spPr>
          <a:xfrm>
            <a:off x="4107210" y="3276570"/>
            <a:ext cx="1527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-made_35"/>
          <p:cNvSpPr txBox="1"/>
          <p:nvPr/>
        </p:nvSpPr>
        <p:spPr>
          <a:xfrm>
            <a:off x="7680960" y="3533790"/>
            <a:ext cx="1307226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Bitscore </a:t>
            </a:r>
            <a:pPr algn="l" indent="0" marL="0">
              <a:buNone/>
            </a:pPr>
            <a:r>
              <a:rPr lang="en-US" sz="165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654" dirty="0"/>
          </a:p>
        </p:txBody>
      </p:sp>
      <p:sp>
        <p:nvSpPr>
          <p:cNvPr id="37" name="te-made_36"/>
          <p:cNvSpPr txBox="1"/>
          <p:nvPr/>
        </p:nvSpPr>
        <p:spPr>
          <a:xfrm>
            <a:off x="7680960" y="4600621"/>
            <a:ext cx="1160648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Bitscore </a:t>
            </a:r>
            <a:pPr algn="l" indent="0" marL="0">
              <a:buNone/>
            </a:pPr>
            <a:r>
              <a:rPr lang="en-US" sz="165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54" dirty="0"/>
          </a:p>
        </p:txBody>
      </p:sp>
      <p:sp>
        <p:nvSpPr>
          <p:cNvPr id="38" name="te-made_37"/>
          <p:cNvSpPr txBox="1"/>
          <p:nvPr/>
        </p:nvSpPr>
        <p:spPr>
          <a:xfrm>
            <a:off x="9281160" y="3467130"/>
            <a:ext cx="635325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4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544" dirty="0"/>
          </a:p>
        </p:txBody>
      </p:sp>
      <p:sp>
        <p:nvSpPr>
          <p:cNvPr id="39" name="te-made_38"/>
          <p:cNvSpPr txBox="1"/>
          <p:nvPr/>
        </p:nvSpPr>
        <p:spPr>
          <a:xfrm>
            <a:off x="2448855" y="3533790"/>
            <a:ext cx="1528785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4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locus</a:t>
            </a:r>
            <a:endParaRPr lang="en-US" sz="1654" dirty="0"/>
          </a:p>
        </p:txBody>
      </p:sp>
      <p:sp>
        <p:nvSpPr>
          <p:cNvPr id="40" name="te-made_39"/>
          <p:cNvSpPr txBox="1"/>
          <p:nvPr/>
        </p:nvSpPr>
        <p:spPr>
          <a:xfrm>
            <a:off x="1865102" y="4600621"/>
            <a:ext cx="2112538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4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Chimpanzee locus</a:t>
            </a:r>
            <a:endParaRPr lang="en-US" sz="1654" dirty="0"/>
          </a:p>
        </p:txBody>
      </p:sp>
      <p:sp>
        <p:nvSpPr>
          <p:cNvPr id="41" name="te-made_40"/>
          <p:cNvSpPr/>
          <p:nvPr/>
        </p:nvSpPr>
        <p:spPr>
          <a:xfrm>
            <a:off x="4267230" y="3596610"/>
            <a:ext cx="106683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42" name="te-made_41"/>
          <p:cNvSpPr/>
          <p:nvPr/>
        </p:nvSpPr>
        <p:spPr>
          <a:xfrm>
            <a:off x="5333970" y="3596610"/>
            <a:ext cx="121917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43" name="te-made_42"/>
          <p:cNvSpPr/>
          <p:nvPr/>
        </p:nvSpPr>
        <p:spPr>
          <a:xfrm>
            <a:off x="6553230" y="3596610"/>
            <a:ext cx="106683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44" name="te-made_43"/>
          <p:cNvSpPr/>
          <p:nvPr/>
        </p:nvSpPr>
        <p:spPr>
          <a:xfrm>
            <a:off x="4267230" y="4663440"/>
            <a:ext cx="106683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45" name="te-made_44"/>
          <p:cNvSpPr/>
          <p:nvPr/>
        </p:nvSpPr>
        <p:spPr>
          <a:xfrm>
            <a:off x="5333970" y="4663440"/>
            <a:ext cx="1219170" cy="121890"/>
          </a:xfrm>
          <a:prstGeom prst="rect">
            <a:avLst/>
          </a:prstGeom>
          <a:solidFill>
            <a:srgbClr val="F9BE00">
              <a:alpha val="55000"/>
            </a:srgbClr>
          </a:solidFill>
          <a:ln/>
        </p:spPr>
      </p:sp>
      <p:sp>
        <p:nvSpPr>
          <p:cNvPr id="46" name="te-made_45"/>
          <p:cNvSpPr/>
          <p:nvPr/>
        </p:nvSpPr>
        <p:spPr>
          <a:xfrm>
            <a:off x="6553230" y="4663440"/>
            <a:ext cx="106683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47" name="te-made_46"/>
          <p:cNvSpPr/>
          <p:nvPr/>
        </p:nvSpPr>
        <p:spPr>
          <a:xfrm>
            <a:off x="4107210" y="3276570"/>
            <a:ext cx="1527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-made_47"/>
          <p:cNvSpPr txBox="1"/>
          <p:nvPr/>
        </p:nvSpPr>
        <p:spPr>
          <a:xfrm>
            <a:off x="7909560" y="3467130"/>
            <a:ext cx="635325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4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544" dirty="0"/>
          </a:p>
        </p:txBody>
      </p:sp>
      <p:sp>
        <p:nvSpPr>
          <p:cNvPr id="49" name="te-made_48"/>
          <p:cNvSpPr txBox="1"/>
          <p:nvPr/>
        </p:nvSpPr>
        <p:spPr>
          <a:xfrm>
            <a:off x="3130814" y="3305190"/>
            <a:ext cx="1456365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4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HMM</a:t>
            </a:r>
            <a:endParaRPr lang="en-US" sz="1654" dirty="0"/>
          </a:p>
        </p:txBody>
      </p:sp>
      <p:sp>
        <p:nvSpPr>
          <p:cNvPr id="50" name="te-made_49"/>
          <p:cNvSpPr txBox="1"/>
          <p:nvPr/>
        </p:nvSpPr>
        <p:spPr>
          <a:xfrm>
            <a:off x="2825862" y="4829221"/>
            <a:ext cx="770839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4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Locus</a:t>
            </a:r>
            <a:endParaRPr lang="en-US" sz="1654" dirty="0"/>
          </a:p>
        </p:txBody>
      </p:sp>
      <p:sp>
        <p:nvSpPr>
          <p:cNvPr id="51" name="te-made_50"/>
          <p:cNvSpPr/>
          <p:nvPr/>
        </p:nvSpPr>
        <p:spPr>
          <a:xfrm>
            <a:off x="4876770" y="3421410"/>
            <a:ext cx="487650" cy="152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52" name="te-made_51"/>
          <p:cNvSpPr/>
          <p:nvPr/>
        </p:nvSpPr>
        <p:spPr>
          <a:xfrm>
            <a:off x="4869180" y="2956530"/>
            <a:ext cx="15270" cy="4724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53" name="te-made_52"/>
          <p:cNvSpPr/>
          <p:nvPr/>
        </p:nvSpPr>
        <p:spPr>
          <a:xfrm>
            <a:off x="4876770" y="2956530"/>
            <a:ext cx="487650" cy="472470"/>
          </a:xfrm>
          <a:prstGeom prst="line">
            <a:avLst/>
          </a:prstGeom>
          <a:ln w="15240">
            <a:solidFill>
              <a:srgbClr val="A9B5C2"/>
            </a:solidFill>
            <a:prstDash val="solid"/>
          </a:ln>
        </p:spPr>
      </p:sp>
      <p:sp>
        <p:nvSpPr>
          <p:cNvPr id="54" name="te-made_53"/>
          <p:cNvSpPr/>
          <p:nvPr/>
        </p:nvSpPr>
        <p:spPr>
          <a:xfrm>
            <a:off x="4869180" y="3429000"/>
            <a:ext cx="15270" cy="4724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55" name="te-made_54"/>
          <p:cNvSpPr/>
          <p:nvPr/>
        </p:nvSpPr>
        <p:spPr>
          <a:xfrm flipV="1">
            <a:off x="4876770" y="3429000"/>
            <a:ext cx="487650" cy="472470"/>
          </a:xfrm>
          <a:prstGeom prst="line">
            <a:avLst/>
          </a:prstGeom>
          <a:ln w="15240">
            <a:solidFill>
              <a:srgbClr val="A9B5C2"/>
            </a:solidFill>
            <a:prstDash val="solid"/>
          </a:ln>
        </p:spPr>
      </p:sp>
      <p:sp>
        <p:nvSpPr>
          <p:cNvPr id="56" name="te-made_55"/>
          <p:cNvSpPr/>
          <p:nvPr/>
        </p:nvSpPr>
        <p:spPr>
          <a:xfrm>
            <a:off x="5364510" y="3421410"/>
            <a:ext cx="487650" cy="152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57" name="te-made_56"/>
          <p:cNvSpPr/>
          <p:nvPr/>
        </p:nvSpPr>
        <p:spPr>
          <a:xfrm>
            <a:off x="5356830" y="2956530"/>
            <a:ext cx="15270" cy="4724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58" name="te-made_57"/>
          <p:cNvSpPr/>
          <p:nvPr/>
        </p:nvSpPr>
        <p:spPr>
          <a:xfrm>
            <a:off x="5364510" y="2956530"/>
            <a:ext cx="487650" cy="472470"/>
          </a:xfrm>
          <a:prstGeom prst="line">
            <a:avLst/>
          </a:prstGeom>
          <a:ln w="15240">
            <a:solidFill>
              <a:srgbClr val="A9B5C2"/>
            </a:solidFill>
            <a:prstDash val="solid"/>
          </a:ln>
        </p:spPr>
      </p:sp>
      <p:sp>
        <p:nvSpPr>
          <p:cNvPr id="59" name="te-made_58"/>
          <p:cNvSpPr/>
          <p:nvPr/>
        </p:nvSpPr>
        <p:spPr>
          <a:xfrm>
            <a:off x="5356830" y="3429000"/>
            <a:ext cx="15270" cy="4724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60" name="te-made_59"/>
          <p:cNvSpPr/>
          <p:nvPr/>
        </p:nvSpPr>
        <p:spPr>
          <a:xfrm flipV="1">
            <a:off x="5364510" y="3429000"/>
            <a:ext cx="487650" cy="472470"/>
          </a:xfrm>
          <a:prstGeom prst="line">
            <a:avLst/>
          </a:prstGeom>
          <a:ln w="15240">
            <a:solidFill>
              <a:srgbClr val="A9B5C2"/>
            </a:solidFill>
            <a:prstDash val="solid"/>
          </a:ln>
        </p:spPr>
      </p:sp>
      <p:sp>
        <p:nvSpPr>
          <p:cNvPr id="61" name="te-made_60"/>
          <p:cNvSpPr/>
          <p:nvPr/>
        </p:nvSpPr>
        <p:spPr>
          <a:xfrm>
            <a:off x="5852160" y="3421410"/>
            <a:ext cx="487650" cy="152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62" name="te-made_61"/>
          <p:cNvSpPr/>
          <p:nvPr/>
        </p:nvSpPr>
        <p:spPr>
          <a:xfrm>
            <a:off x="5844570" y="2956530"/>
            <a:ext cx="15270" cy="4724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63" name="te-made_62"/>
          <p:cNvSpPr/>
          <p:nvPr/>
        </p:nvSpPr>
        <p:spPr>
          <a:xfrm>
            <a:off x="5852160" y="2956530"/>
            <a:ext cx="487650" cy="472470"/>
          </a:xfrm>
          <a:prstGeom prst="line">
            <a:avLst/>
          </a:prstGeom>
          <a:ln w="15240">
            <a:solidFill>
              <a:srgbClr val="A9B5C2"/>
            </a:solidFill>
            <a:prstDash val="solid"/>
          </a:ln>
        </p:spPr>
      </p:sp>
      <p:sp>
        <p:nvSpPr>
          <p:cNvPr id="64" name="te-made_63"/>
          <p:cNvSpPr/>
          <p:nvPr/>
        </p:nvSpPr>
        <p:spPr>
          <a:xfrm>
            <a:off x="5844570" y="3429000"/>
            <a:ext cx="15270" cy="4724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65" name="te-made_64"/>
          <p:cNvSpPr/>
          <p:nvPr/>
        </p:nvSpPr>
        <p:spPr>
          <a:xfrm flipV="1">
            <a:off x="5852160" y="3429000"/>
            <a:ext cx="487650" cy="472470"/>
          </a:xfrm>
          <a:prstGeom prst="line">
            <a:avLst/>
          </a:prstGeom>
          <a:ln w="15240">
            <a:solidFill>
              <a:srgbClr val="A9B5C2"/>
            </a:solidFill>
            <a:prstDash val="solid"/>
          </a:ln>
        </p:spPr>
      </p:sp>
      <p:sp>
        <p:nvSpPr>
          <p:cNvPr id="66" name="te-made_65"/>
          <p:cNvSpPr/>
          <p:nvPr/>
        </p:nvSpPr>
        <p:spPr>
          <a:xfrm>
            <a:off x="6339810" y="3421410"/>
            <a:ext cx="487650" cy="152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67" name="te-made_66"/>
          <p:cNvSpPr/>
          <p:nvPr/>
        </p:nvSpPr>
        <p:spPr>
          <a:xfrm>
            <a:off x="6332220" y="2956530"/>
            <a:ext cx="15270" cy="4724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68" name="te-made_67"/>
          <p:cNvSpPr/>
          <p:nvPr/>
        </p:nvSpPr>
        <p:spPr>
          <a:xfrm>
            <a:off x="6339810" y="2956530"/>
            <a:ext cx="487650" cy="472470"/>
          </a:xfrm>
          <a:prstGeom prst="line">
            <a:avLst/>
          </a:prstGeom>
          <a:ln w="15240">
            <a:solidFill>
              <a:srgbClr val="A9B5C2"/>
            </a:solidFill>
            <a:prstDash val="solid"/>
          </a:ln>
        </p:spPr>
      </p:sp>
      <p:sp>
        <p:nvSpPr>
          <p:cNvPr id="69" name="te-made_68"/>
          <p:cNvSpPr/>
          <p:nvPr/>
        </p:nvSpPr>
        <p:spPr>
          <a:xfrm>
            <a:off x="6332220" y="3429000"/>
            <a:ext cx="15270" cy="4724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70" name="te-made_69"/>
          <p:cNvSpPr/>
          <p:nvPr/>
        </p:nvSpPr>
        <p:spPr>
          <a:xfrm flipV="1">
            <a:off x="6339810" y="3429000"/>
            <a:ext cx="487650" cy="472470"/>
          </a:xfrm>
          <a:prstGeom prst="line">
            <a:avLst/>
          </a:prstGeom>
          <a:ln w="15240">
            <a:solidFill>
              <a:srgbClr val="A9B5C2"/>
            </a:solidFill>
            <a:prstDash val="solid"/>
          </a:ln>
        </p:spPr>
      </p:sp>
      <p:sp>
        <p:nvSpPr>
          <p:cNvPr id="71" name="te-made_70"/>
          <p:cNvSpPr/>
          <p:nvPr/>
        </p:nvSpPr>
        <p:spPr>
          <a:xfrm>
            <a:off x="6827550" y="3421410"/>
            <a:ext cx="487650" cy="152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72" name="te-made_71"/>
          <p:cNvSpPr/>
          <p:nvPr/>
        </p:nvSpPr>
        <p:spPr>
          <a:xfrm>
            <a:off x="6819870" y="2956530"/>
            <a:ext cx="15270" cy="4724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73" name="te-made_72"/>
          <p:cNvSpPr/>
          <p:nvPr/>
        </p:nvSpPr>
        <p:spPr>
          <a:xfrm>
            <a:off x="6827550" y="2956530"/>
            <a:ext cx="487650" cy="472470"/>
          </a:xfrm>
          <a:prstGeom prst="line">
            <a:avLst/>
          </a:prstGeom>
          <a:ln w="15240">
            <a:solidFill>
              <a:srgbClr val="A9B5C2"/>
            </a:solidFill>
            <a:prstDash val="solid"/>
          </a:ln>
        </p:spPr>
      </p:sp>
      <p:sp>
        <p:nvSpPr>
          <p:cNvPr id="74" name="te-made_73"/>
          <p:cNvSpPr/>
          <p:nvPr/>
        </p:nvSpPr>
        <p:spPr>
          <a:xfrm>
            <a:off x="6819870" y="3429000"/>
            <a:ext cx="15270" cy="4724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75" name="te-made_74"/>
          <p:cNvSpPr/>
          <p:nvPr/>
        </p:nvSpPr>
        <p:spPr>
          <a:xfrm flipV="1">
            <a:off x="6827550" y="3429000"/>
            <a:ext cx="487650" cy="472470"/>
          </a:xfrm>
          <a:prstGeom prst="line">
            <a:avLst/>
          </a:prstGeom>
          <a:ln w="15240">
            <a:solidFill>
              <a:srgbClr val="A9B5C2"/>
            </a:solidFill>
            <a:prstDash val="solid"/>
          </a:ln>
        </p:spPr>
      </p:sp>
      <p:sp>
        <p:nvSpPr>
          <p:cNvPr id="76" name="te-made_75"/>
          <p:cNvSpPr/>
          <p:nvPr/>
        </p:nvSpPr>
        <p:spPr>
          <a:xfrm>
            <a:off x="7307610" y="2956530"/>
            <a:ext cx="15270" cy="4724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77" name="te-made_76"/>
          <p:cNvSpPr/>
          <p:nvPr/>
        </p:nvSpPr>
        <p:spPr>
          <a:xfrm>
            <a:off x="7307610" y="3429000"/>
            <a:ext cx="15270" cy="4724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78" name="te-made_77"/>
          <p:cNvSpPr/>
          <p:nvPr/>
        </p:nvSpPr>
        <p:spPr>
          <a:xfrm>
            <a:off x="4770150" y="2849910"/>
            <a:ext cx="213330" cy="213330"/>
          </a:xfrm>
          <a:prstGeom prst="ellipse">
            <a:avLst/>
          </a:prstGeom>
          <a:solidFill>
            <a:srgbClr val="1C2735"/>
          </a:solidFill>
          <a:ln w="15240">
            <a:solidFill>
              <a:srgbClr val="A9B5C2"/>
            </a:solidFill>
            <a:prstDash val="solid"/>
          </a:ln>
        </p:spPr>
      </p:sp>
      <p:sp>
        <p:nvSpPr>
          <p:cNvPr id="79" name="te-made_78"/>
          <p:cNvSpPr/>
          <p:nvPr/>
        </p:nvSpPr>
        <p:spPr>
          <a:xfrm>
            <a:off x="4770150" y="3794760"/>
            <a:ext cx="213330" cy="213330"/>
          </a:xfrm>
          <a:prstGeom prst="ellipse">
            <a:avLst/>
          </a:prstGeom>
          <a:solidFill>
            <a:srgbClr val="1C2735"/>
          </a:solidFill>
          <a:ln w="15240">
            <a:solidFill>
              <a:srgbClr val="A9B5C2"/>
            </a:solidFill>
            <a:prstDash val="solid"/>
          </a:ln>
        </p:spPr>
      </p:sp>
      <p:sp>
        <p:nvSpPr>
          <p:cNvPr id="80" name="te-made_79"/>
          <p:cNvSpPr/>
          <p:nvPr/>
        </p:nvSpPr>
        <p:spPr>
          <a:xfrm>
            <a:off x="4754880" y="3307110"/>
            <a:ext cx="243870" cy="243870"/>
          </a:xfrm>
          <a:prstGeom prst="ellipse">
            <a:avLst/>
          </a:prstGeom>
          <a:solidFill>
            <a:srgbClr val="1C2735"/>
          </a:solidFill>
          <a:ln w="15240">
            <a:solidFill>
              <a:srgbClr val="A9B5C2"/>
            </a:solidFill>
            <a:prstDash val="solid"/>
          </a:ln>
        </p:spPr>
      </p:sp>
      <p:sp>
        <p:nvSpPr>
          <p:cNvPr id="81" name="te-made_80"/>
          <p:cNvSpPr/>
          <p:nvPr/>
        </p:nvSpPr>
        <p:spPr>
          <a:xfrm>
            <a:off x="4754880" y="3307110"/>
            <a:ext cx="243870" cy="243870"/>
          </a:xfrm>
          <a:prstGeom prst="ellipse">
            <a:avLst/>
          </a:prstGeom>
          <a:solidFill>
            <a:srgbClr val="F9BE00"/>
          </a:solidFill>
          <a:ln w="15240">
            <a:solidFill>
              <a:srgbClr val="F9BE00"/>
            </a:solidFill>
            <a:prstDash val="solid"/>
          </a:ln>
        </p:spPr>
      </p:sp>
      <p:sp>
        <p:nvSpPr>
          <p:cNvPr id="82" name="te-made_81"/>
          <p:cNvSpPr/>
          <p:nvPr/>
        </p:nvSpPr>
        <p:spPr>
          <a:xfrm>
            <a:off x="5257800" y="2849910"/>
            <a:ext cx="213330" cy="213330"/>
          </a:xfrm>
          <a:prstGeom prst="ellipse">
            <a:avLst/>
          </a:prstGeom>
          <a:solidFill>
            <a:srgbClr val="1C2735"/>
          </a:solidFill>
          <a:ln w="15240">
            <a:solidFill>
              <a:srgbClr val="A9B5C2"/>
            </a:solidFill>
            <a:prstDash val="solid"/>
          </a:ln>
        </p:spPr>
      </p:sp>
      <p:sp>
        <p:nvSpPr>
          <p:cNvPr id="83" name="te-made_82"/>
          <p:cNvSpPr/>
          <p:nvPr/>
        </p:nvSpPr>
        <p:spPr>
          <a:xfrm>
            <a:off x="5257800" y="3794760"/>
            <a:ext cx="213330" cy="213330"/>
          </a:xfrm>
          <a:prstGeom prst="ellipse">
            <a:avLst/>
          </a:prstGeom>
          <a:solidFill>
            <a:srgbClr val="1C2735"/>
          </a:solidFill>
          <a:ln w="15240">
            <a:solidFill>
              <a:srgbClr val="A9B5C2"/>
            </a:solidFill>
            <a:prstDash val="solid"/>
          </a:ln>
        </p:spPr>
      </p:sp>
      <p:sp>
        <p:nvSpPr>
          <p:cNvPr id="84" name="te-made_83"/>
          <p:cNvSpPr/>
          <p:nvPr/>
        </p:nvSpPr>
        <p:spPr>
          <a:xfrm>
            <a:off x="5242530" y="3307110"/>
            <a:ext cx="243870" cy="243870"/>
          </a:xfrm>
          <a:prstGeom prst="ellipse">
            <a:avLst/>
          </a:prstGeom>
          <a:solidFill>
            <a:srgbClr val="1C2735"/>
          </a:solidFill>
          <a:ln w="15240">
            <a:solidFill>
              <a:srgbClr val="A9B5C2"/>
            </a:solidFill>
            <a:prstDash val="solid"/>
          </a:ln>
        </p:spPr>
      </p:sp>
      <p:sp>
        <p:nvSpPr>
          <p:cNvPr id="85" name="te-made_84"/>
          <p:cNvSpPr/>
          <p:nvPr/>
        </p:nvSpPr>
        <p:spPr>
          <a:xfrm>
            <a:off x="5242530" y="3307110"/>
            <a:ext cx="243870" cy="243870"/>
          </a:xfrm>
          <a:prstGeom prst="ellipse">
            <a:avLst/>
          </a:prstGeom>
          <a:solidFill>
            <a:srgbClr val="F9BE00"/>
          </a:solidFill>
          <a:ln w="15240">
            <a:solidFill>
              <a:srgbClr val="F9BE00"/>
            </a:solidFill>
            <a:prstDash val="solid"/>
          </a:ln>
        </p:spPr>
      </p:sp>
      <p:sp>
        <p:nvSpPr>
          <p:cNvPr id="86" name="te-made_85"/>
          <p:cNvSpPr/>
          <p:nvPr/>
        </p:nvSpPr>
        <p:spPr>
          <a:xfrm>
            <a:off x="5745450" y="2849910"/>
            <a:ext cx="213330" cy="213330"/>
          </a:xfrm>
          <a:prstGeom prst="ellipse">
            <a:avLst/>
          </a:prstGeom>
          <a:solidFill>
            <a:srgbClr val="1C2735"/>
          </a:solidFill>
          <a:ln w="15240">
            <a:solidFill>
              <a:srgbClr val="A9B5C2"/>
            </a:solidFill>
            <a:prstDash val="solid"/>
          </a:ln>
        </p:spPr>
      </p:sp>
      <p:sp>
        <p:nvSpPr>
          <p:cNvPr id="87" name="te-made_86"/>
          <p:cNvSpPr/>
          <p:nvPr/>
        </p:nvSpPr>
        <p:spPr>
          <a:xfrm>
            <a:off x="5745450" y="3794760"/>
            <a:ext cx="213330" cy="213330"/>
          </a:xfrm>
          <a:prstGeom prst="ellipse">
            <a:avLst/>
          </a:prstGeom>
          <a:solidFill>
            <a:srgbClr val="1C2735"/>
          </a:solidFill>
          <a:ln w="15240">
            <a:solidFill>
              <a:srgbClr val="A9B5C2"/>
            </a:solidFill>
            <a:prstDash val="solid"/>
          </a:ln>
        </p:spPr>
      </p:sp>
      <p:sp>
        <p:nvSpPr>
          <p:cNvPr id="88" name="te-made_87"/>
          <p:cNvSpPr/>
          <p:nvPr/>
        </p:nvSpPr>
        <p:spPr>
          <a:xfrm>
            <a:off x="5730270" y="3307110"/>
            <a:ext cx="243870" cy="243870"/>
          </a:xfrm>
          <a:prstGeom prst="ellipse">
            <a:avLst/>
          </a:prstGeom>
          <a:solidFill>
            <a:srgbClr val="1C2735"/>
          </a:solidFill>
          <a:ln w="15240">
            <a:solidFill>
              <a:srgbClr val="A9B5C2"/>
            </a:solidFill>
            <a:prstDash val="solid"/>
          </a:ln>
        </p:spPr>
      </p:sp>
      <p:sp>
        <p:nvSpPr>
          <p:cNvPr id="89" name="te-made_88"/>
          <p:cNvSpPr/>
          <p:nvPr/>
        </p:nvSpPr>
        <p:spPr>
          <a:xfrm>
            <a:off x="5730270" y="3307110"/>
            <a:ext cx="243870" cy="243870"/>
          </a:xfrm>
          <a:prstGeom prst="ellipse">
            <a:avLst/>
          </a:prstGeom>
          <a:solidFill>
            <a:srgbClr val="F9BE00"/>
          </a:solidFill>
          <a:ln w="15240">
            <a:solidFill>
              <a:srgbClr val="F9BE00"/>
            </a:solidFill>
            <a:prstDash val="solid"/>
          </a:ln>
        </p:spPr>
      </p:sp>
      <p:sp>
        <p:nvSpPr>
          <p:cNvPr id="90" name="te-made_89"/>
          <p:cNvSpPr/>
          <p:nvPr/>
        </p:nvSpPr>
        <p:spPr>
          <a:xfrm>
            <a:off x="6233190" y="2849910"/>
            <a:ext cx="213330" cy="213330"/>
          </a:xfrm>
          <a:prstGeom prst="ellipse">
            <a:avLst/>
          </a:prstGeom>
          <a:solidFill>
            <a:srgbClr val="1C2735"/>
          </a:solidFill>
          <a:ln w="15240">
            <a:solidFill>
              <a:srgbClr val="A9B5C2"/>
            </a:solidFill>
            <a:prstDash val="solid"/>
          </a:ln>
        </p:spPr>
      </p:sp>
      <p:sp>
        <p:nvSpPr>
          <p:cNvPr id="91" name="te-made_90"/>
          <p:cNvSpPr/>
          <p:nvPr/>
        </p:nvSpPr>
        <p:spPr>
          <a:xfrm>
            <a:off x="6233190" y="3794760"/>
            <a:ext cx="213330" cy="213330"/>
          </a:xfrm>
          <a:prstGeom prst="ellipse">
            <a:avLst/>
          </a:prstGeom>
          <a:solidFill>
            <a:srgbClr val="1C2735"/>
          </a:solidFill>
          <a:ln w="15240">
            <a:solidFill>
              <a:srgbClr val="A9B5C2"/>
            </a:solidFill>
            <a:prstDash val="solid"/>
          </a:ln>
        </p:spPr>
      </p:sp>
      <p:sp>
        <p:nvSpPr>
          <p:cNvPr id="92" name="te-made_91"/>
          <p:cNvSpPr/>
          <p:nvPr/>
        </p:nvSpPr>
        <p:spPr>
          <a:xfrm>
            <a:off x="6217920" y="3307110"/>
            <a:ext cx="243870" cy="243870"/>
          </a:xfrm>
          <a:prstGeom prst="ellipse">
            <a:avLst/>
          </a:prstGeom>
          <a:solidFill>
            <a:srgbClr val="1C2735"/>
          </a:solidFill>
          <a:ln w="15240">
            <a:solidFill>
              <a:srgbClr val="A9B5C2"/>
            </a:solidFill>
            <a:prstDash val="solid"/>
          </a:ln>
        </p:spPr>
      </p:sp>
      <p:sp>
        <p:nvSpPr>
          <p:cNvPr id="93" name="te-made_92"/>
          <p:cNvSpPr/>
          <p:nvPr/>
        </p:nvSpPr>
        <p:spPr>
          <a:xfrm>
            <a:off x="6217920" y="3307110"/>
            <a:ext cx="243870" cy="243870"/>
          </a:xfrm>
          <a:prstGeom prst="ellipse">
            <a:avLst/>
          </a:prstGeom>
          <a:solidFill>
            <a:srgbClr val="F9BE00"/>
          </a:solidFill>
          <a:ln w="15240">
            <a:solidFill>
              <a:srgbClr val="F9BE00"/>
            </a:solidFill>
            <a:prstDash val="solid"/>
          </a:ln>
        </p:spPr>
      </p:sp>
      <p:sp>
        <p:nvSpPr>
          <p:cNvPr id="94" name="te-made_93"/>
          <p:cNvSpPr/>
          <p:nvPr/>
        </p:nvSpPr>
        <p:spPr>
          <a:xfrm>
            <a:off x="6720840" y="2849910"/>
            <a:ext cx="213330" cy="213330"/>
          </a:xfrm>
          <a:prstGeom prst="ellipse">
            <a:avLst/>
          </a:prstGeom>
          <a:solidFill>
            <a:srgbClr val="1C2735"/>
          </a:solidFill>
          <a:ln w="15240">
            <a:solidFill>
              <a:srgbClr val="A9B5C2"/>
            </a:solidFill>
            <a:prstDash val="solid"/>
          </a:ln>
        </p:spPr>
      </p:sp>
      <p:sp>
        <p:nvSpPr>
          <p:cNvPr id="95" name="te-made_94"/>
          <p:cNvSpPr/>
          <p:nvPr/>
        </p:nvSpPr>
        <p:spPr>
          <a:xfrm>
            <a:off x="6720840" y="3794760"/>
            <a:ext cx="213330" cy="213330"/>
          </a:xfrm>
          <a:prstGeom prst="ellipse">
            <a:avLst/>
          </a:prstGeom>
          <a:solidFill>
            <a:srgbClr val="1C2735"/>
          </a:solidFill>
          <a:ln w="15240">
            <a:solidFill>
              <a:srgbClr val="A9B5C2"/>
            </a:solidFill>
            <a:prstDash val="solid"/>
          </a:ln>
        </p:spPr>
      </p:sp>
      <p:sp>
        <p:nvSpPr>
          <p:cNvPr id="96" name="te-made_95"/>
          <p:cNvSpPr/>
          <p:nvPr/>
        </p:nvSpPr>
        <p:spPr>
          <a:xfrm>
            <a:off x="6705570" y="3307110"/>
            <a:ext cx="243870" cy="243870"/>
          </a:xfrm>
          <a:prstGeom prst="ellipse">
            <a:avLst/>
          </a:prstGeom>
          <a:solidFill>
            <a:srgbClr val="1C2735"/>
          </a:solidFill>
          <a:ln w="15240">
            <a:solidFill>
              <a:srgbClr val="A9B5C2"/>
            </a:solidFill>
            <a:prstDash val="solid"/>
          </a:ln>
        </p:spPr>
      </p:sp>
      <p:sp>
        <p:nvSpPr>
          <p:cNvPr id="97" name="te-made_96"/>
          <p:cNvSpPr/>
          <p:nvPr/>
        </p:nvSpPr>
        <p:spPr>
          <a:xfrm>
            <a:off x="6705570" y="3307110"/>
            <a:ext cx="243870" cy="243870"/>
          </a:xfrm>
          <a:prstGeom prst="ellipse">
            <a:avLst/>
          </a:prstGeom>
          <a:solidFill>
            <a:srgbClr val="F9BE00"/>
          </a:solidFill>
          <a:ln w="15240">
            <a:solidFill>
              <a:srgbClr val="F9BE00"/>
            </a:solidFill>
            <a:prstDash val="solid"/>
          </a:ln>
        </p:spPr>
      </p:sp>
      <p:sp>
        <p:nvSpPr>
          <p:cNvPr id="98" name="te-made_97"/>
          <p:cNvSpPr/>
          <p:nvPr/>
        </p:nvSpPr>
        <p:spPr>
          <a:xfrm>
            <a:off x="7208490" y="2849910"/>
            <a:ext cx="213330" cy="213330"/>
          </a:xfrm>
          <a:prstGeom prst="ellipse">
            <a:avLst/>
          </a:prstGeom>
          <a:solidFill>
            <a:srgbClr val="1C2735"/>
          </a:solidFill>
          <a:ln w="15240">
            <a:solidFill>
              <a:srgbClr val="A9B5C2"/>
            </a:solidFill>
            <a:prstDash val="solid"/>
          </a:ln>
        </p:spPr>
      </p:sp>
      <p:sp>
        <p:nvSpPr>
          <p:cNvPr id="99" name="te-made_98"/>
          <p:cNvSpPr/>
          <p:nvPr/>
        </p:nvSpPr>
        <p:spPr>
          <a:xfrm>
            <a:off x="7208490" y="3794760"/>
            <a:ext cx="213330" cy="213330"/>
          </a:xfrm>
          <a:prstGeom prst="ellipse">
            <a:avLst/>
          </a:prstGeom>
          <a:solidFill>
            <a:srgbClr val="1C2735"/>
          </a:solidFill>
          <a:ln w="15240">
            <a:solidFill>
              <a:srgbClr val="A9B5C2"/>
            </a:solidFill>
            <a:prstDash val="solid"/>
          </a:ln>
        </p:spPr>
      </p:sp>
      <p:sp>
        <p:nvSpPr>
          <p:cNvPr id="100" name="te-made_99"/>
          <p:cNvSpPr/>
          <p:nvPr/>
        </p:nvSpPr>
        <p:spPr>
          <a:xfrm>
            <a:off x="7193310" y="3307110"/>
            <a:ext cx="243870" cy="243870"/>
          </a:xfrm>
          <a:prstGeom prst="ellipse">
            <a:avLst/>
          </a:prstGeom>
          <a:solidFill>
            <a:srgbClr val="1C2735"/>
          </a:solidFill>
          <a:ln w="15240">
            <a:solidFill>
              <a:srgbClr val="A9B5C2"/>
            </a:solidFill>
            <a:prstDash val="solid"/>
          </a:ln>
        </p:spPr>
      </p:sp>
      <p:sp>
        <p:nvSpPr>
          <p:cNvPr id="101" name="te-made_100"/>
          <p:cNvSpPr/>
          <p:nvPr/>
        </p:nvSpPr>
        <p:spPr>
          <a:xfrm>
            <a:off x="7193310" y="3307110"/>
            <a:ext cx="243870" cy="243870"/>
          </a:xfrm>
          <a:prstGeom prst="ellipse">
            <a:avLst/>
          </a:prstGeom>
          <a:solidFill>
            <a:srgbClr val="F9BE00"/>
          </a:solidFill>
          <a:ln w="15240">
            <a:solidFill>
              <a:srgbClr val="F9BE00"/>
            </a:solidFill>
            <a:prstDash val="solid"/>
          </a:ln>
        </p:spPr>
      </p:sp>
      <p:sp>
        <p:nvSpPr>
          <p:cNvPr id="102" name="te-made_101"/>
          <p:cNvSpPr/>
          <p:nvPr/>
        </p:nvSpPr>
        <p:spPr>
          <a:xfrm>
            <a:off x="3810030" y="4892040"/>
            <a:ext cx="106683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03" name="te-made_102"/>
          <p:cNvSpPr/>
          <p:nvPr/>
        </p:nvSpPr>
        <p:spPr>
          <a:xfrm>
            <a:off x="4876770" y="4892040"/>
            <a:ext cx="243843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104" name="te-made_103"/>
          <p:cNvSpPr/>
          <p:nvPr/>
        </p:nvSpPr>
        <p:spPr>
          <a:xfrm>
            <a:off x="7315200" y="4892040"/>
            <a:ext cx="106683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05" name="te-made_104"/>
          <p:cNvSpPr txBox="1"/>
          <p:nvPr/>
        </p:nvSpPr>
        <p:spPr>
          <a:xfrm>
            <a:off x="8671530" y="4762470"/>
            <a:ext cx="635325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4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544" dirty="0"/>
          </a:p>
        </p:txBody>
      </p:sp>
      <p:sp>
        <p:nvSpPr>
          <p:cNvPr id="106" name="te-made_105"/>
          <p:cNvSpPr/>
          <p:nvPr/>
        </p:nvSpPr>
        <p:spPr>
          <a:xfrm>
            <a:off x="1752630" y="2895630"/>
            <a:ext cx="8549640" cy="0"/>
          </a:xfrm>
          <a:prstGeom prst="line">
            <a:avLst/>
          </a:prstGeom>
          <a:ln w="76200">
            <a:solidFill>
              <a:srgbClr val="F9BE00"/>
            </a:solidFill>
            <a:custDash>
              <a:ds d="300000" sp="120000"/>
            </a:custDash>
          </a:ln>
        </p:spPr>
      </p:sp>
      <p:sp>
        <p:nvSpPr>
          <p:cNvPr id="107" name="te-made_106"/>
          <p:cNvSpPr/>
          <p:nvPr/>
        </p:nvSpPr>
        <p:spPr>
          <a:xfrm>
            <a:off x="1752630" y="3139410"/>
            <a:ext cx="8549640" cy="0"/>
          </a:xfrm>
          <a:prstGeom prst="line">
            <a:avLst/>
          </a:prstGeom>
          <a:ln w="76200">
            <a:solidFill>
              <a:srgbClr val="F9BE00"/>
            </a:solidFill>
            <a:custDash>
              <a:ds d="300000" sp="120000"/>
            </a:custDash>
          </a:ln>
        </p:spPr>
      </p:sp>
      <p:sp>
        <p:nvSpPr>
          <p:cNvPr id="108" name="te-made_107"/>
          <p:cNvSpPr/>
          <p:nvPr/>
        </p:nvSpPr>
        <p:spPr>
          <a:xfrm>
            <a:off x="1752630" y="3383280"/>
            <a:ext cx="5349240" cy="0"/>
          </a:xfrm>
          <a:prstGeom prst="line">
            <a:avLst/>
          </a:prstGeom>
          <a:ln w="76200">
            <a:solidFill>
              <a:srgbClr val="F9BE00"/>
            </a:solidFill>
            <a:custDash>
              <a:ds d="300000" sp="120000"/>
            </a:custDash>
          </a:ln>
        </p:spPr>
      </p:sp>
      <p:sp>
        <p:nvSpPr>
          <p:cNvPr id="109" name="te-made_108"/>
          <p:cNvSpPr/>
          <p:nvPr/>
        </p:nvSpPr>
        <p:spPr>
          <a:xfrm>
            <a:off x="7193310" y="3383280"/>
            <a:ext cx="3108960" cy="0"/>
          </a:xfrm>
          <a:prstGeom prst="line">
            <a:avLst/>
          </a:prstGeom>
          <a:ln w="76200">
            <a:solidFill>
              <a:srgbClr val="F9BE00"/>
            </a:solidFill>
            <a:custDash>
              <a:ds d="300000" sp="120000"/>
            </a:custDash>
          </a:ln>
        </p:spPr>
      </p:sp>
      <p:sp>
        <p:nvSpPr>
          <p:cNvPr id="110" name="te-made_109"/>
          <p:cNvSpPr/>
          <p:nvPr/>
        </p:nvSpPr>
        <p:spPr>
          <a:xfrm>
            <a:off x="1752630" y="3627150"/>
            <a:ext cx="8549640" cy="0"/>
          </a:xfrm>
          <a:prstGeom prst="line">
            <a:avLst/>
          </a:prstGeom>
          <a:ln w="76200">
            <a:solidFill>
              <a:srgbClr val="F9BE00"/>
            </a:solidFill>
            <a:custDash>
              <a:ds d="300000" sp="120000"/>
            </a:custDash>
          </a:ln>
        </p:spPr>
      </p:sp>
      <p:sp>
        <p:nvSpPr>
          <p:cNvPr id="111" name="te-made_110"/>
          <p:cNvSpPr/>
          <p:nvPr/>
        </p:nvSpPr>
        <p:spPr>
          <a:xfrm>
            <a:off x="1752630" y="3870930"/>
            <a:ext cx="8549640" cy="0"/>
          </a:xfrm>
          <a:prstGeom prst="line">
            <a:avLst/>
          </a:prstGeom>
          <a:ln w="76200">
            <a:solidFill>
              <a:srgbClr val="F9BE00"/>
            </a:solidFill>
            <a:custDash>
              <a:ds d="300000" sp="120000"/>
            </a:custDash>
          </a:ln>
        </p:spPr>
      </p:sp>
      <p:sp>
        <p:nvSpPr>
          <p:cNvPr id="112" name="te-made_111"/>
          <p:cNvSpPr/>
          <p:nvPr/>
        </p:nvSpPr>
        <p:spPr>
          <a:xfrm>
            <a:off x="1752630" y="4114800"/>
            <a:ext cx="8549640" cy="0"/>
          </a:xfrm>
          <a:prstGeom prst="line">
            <a:avLst/>
          </a:prstGeom>
          <a:ln w="76200">
            <a:solidFill>
              <a:srgbClr val="F9BE00"/>
            </a:solidFill>
            <a:custDash>
              <a:ds d="300000" sp="120000"/>
            </a:custDash>
          </a:ln>
        </p:spPr>
      </p:sp>
      <p:sp>
        <p:nvSpPr>
          <p:cNvPr id="113" name="te-made_112"/>
          <p:cNvSpPr/>
          <p:nvPr/>
        </p:nvSpPr>
        <p:spPr>
          <a:xfrm>
            <a:off x="1752630" y="4358670"/>
            <a:ext cx="8549640" cy="0"/>
          </a:xfrm>
          <a:prstGeom prst="line">
            <a:avLst/>
          </a:prstGeom>
          <a:ln w="76200">
            <a:solidFill>
              <a:srgbClr val="F9BE00"/>
            </a:solidFill>
            <a:custDash>
              <a:ds d="300000" sp="120000"/>
            </a:custDash>
          </a:ln>
        </p:spPr>
      </p:sp>
      <p:sp>
        <p:nvSpPr>
          <p:cNvPr id="114" name="te-made_113"/>
          <p:cNvSpPr/>
          <p:nvPr/>
        </p:nvSpPr>
        <p:spPr>
          <a:xfrm>
            <a:off x="1752630" y="4602450"/>
            <a:ext cx="8549640" cy="0"/>
          </a:xfrm>
          <a:prstGeom prst="line">
            <a:avLst/>
          </a:prstGeom>
          <a:ln w="76200">
            <a:solidFill>
              <a:srgbClr val="F9BE00"/>
            </a:solidFill>
            <a:custDash>
              <a:ds d="300000" sp="120000"/>
            </a:custDash>
          </a:ln>
        </p:spPr>
      </p:sp>
      <p:sp>
        <p:nvSpPr>
          <p:cNvPr id="115" name="te-made_114"/>
          <p:cNvSpPr/>
          <p:nvPr/>
        </p:nvSpPr>
        <p:spPr>
          <a:xfrm>
            <a:off x="1752630" y="4846320"/>
            <a:ext cx="8549640" cy="0"/>
          </a:xfrm>
          <a:prstGeom prst="line">
            <a:avLst/>
          </a:prstGeom>
          <a:ln w="76200">
            <a:solidFill>
              <a:srgbClr val="F9BE00"/>
            </a:solidFill>
            <a:custDash>
              <a:ds d="300000" sp="120000"/>
            </a:custDash>
          </a:ln>
        </p:spPr>
      </p:sp>
      <p:sp>
        <p:nvSpPr>
          <p:cNvPr id="116" name="te-made_115"/>
          <p:cNvSpPr/>
          <p:nvPr/>
        </p:nvSpPr>
        <p:spPr>
          <a:xfrm>
            <a:off x="1752630" y="5090190"/>
            <a:ext cx="8549640" cy="0"/>
          </a:xfrm>
          <a:prstGeom prst="line">
            <a:avLst/>
          </a:prstGeom>
          <a:ln w="76200">
            <a:solidFill>
              <a:srgbClr val="F9BE00"/>
            </a:solidFill>
            <a:custDash>
              <a:ds d="300000" sp="120000"/>
            </a:custDash>
          </a:ln>
        </p:spPr>
      </p:sp>
      <p:sp>
        <p:nvSpPr>
          <p:cNvPr id="117" name="te-made_116"/>
          <p:cNvSpPr/>
          <p:nvPr/>
        </p:nvSpPr>
        <p:spPr>
          <a:xfrm>
            <a:off x="1752630" y="5333970"/>
            <a:ext cx="8549640" cy="0"/>
          </a:xfrm>
          <a:prstGeom prst="line">
            <a:avLst/>
          </a:prstGeom>
          <a:ln w="76200">
            <a:solidFill>
              <a:srgbClr val="F9BE00"/>
            </a:solidFill>
            <a:custDash>
              <a:ds d="300000" sp="120000"/>
            </a:custDash>
          </a:ln>
        </p:spPr>
      </p:sp>
      <p:sp>
        <p:nvSpPr>
          <p:cNvPr id="118" name="te-made_117"/>
          <p:cNvSpPr/>
          <p:nvPr/>
        </p:nvSpPr>
        <p:spPr>
          <a:xfrm>
            <a:off x="1752630" y="5577840"/>
            <a:ext cx="8549640" cy="0"/>
          </a:xfrm>
          <a:prstGeom prst="line">
            <a:avLst/>
          </a:prstGeom>
          <a:ln w="76200">
            <a:solidFill>
              <a:srgbClr val="F9BE00"/>
            </a:solidFill>
            <a:custDash>
              <a:ds d="300000" sp="120000"/>
            </a:custDash>
          </a:ln>
        </p:spPr>
      </p:sp>
      <p:sp>
        <p:nvSpPr>
          <p:cNvPr id="119" name="te-made_118"/>
          <p:cNvSpPr/>
          <p:nvPr/>
        </p:nvSpPr>
        <p:spPr>
          <a:xfrm>
            <a:off x="1752630" y="5821710"/>
            <a:ext cx="8549640" cy="0"/>
          </a:xfrm>
          <a:prstGeom prst="line">
            <a:avLst/>
          </a:prstGeom>
          <a:ln w="76200">
            <a:solidFill>
              <a:srgbClr val="F9BE00"/>
            </a:solidFill>
            <a:custDash>
              <a:ds d="300000" sp="120000"/>
            </a:custDash>
          </a:ln>
        </p:spPr>
      </p:sp>
      <p:sp>
        <p:nvSpPr>
          <p:cNvPr id="120" name="te-made_119"/>
          <p:cNvSpPr/>
          <p:nvPr/>
        </p:nvSpPr>
        <p:spPr>
          <a:xfrm>
            <a:off x="1752630" y="6065490"/>
            <a:ext cx="8549640" cy="0"/>
          </a:xfrm>
          <a:prstGeom prst="line">
            <a:avLst/>
          </a:prstGeom>
          <a:ln w="76200">
            <a:solidFill>
              <a:srgbClr val="F9BE00"/>
            </a:solidFill>
            <a:custDash>
              <a:ds d="300000" sp="120000"/>
            </a:custDash>
          </a:ln>
        </p:spPr>
      </p:sp>
      <p:sp>
        <p:nvSpPr>
          <p:cNvPr id="121" name="te-made_120"/>
          <p:cNvSpPr/>
          <p:nvPr/>
        </p:nvSpPr>
        <p:spPr>
          <a:xfrm>
            <a:off x="5273070" y="4564410"/>
            <a:ext cx="228600" cy="76170"/>
          </a:xfrm>
          <a:prstGeom prst="rect">
            <a:avLst/>
          </a:prstGeom>
          <a:solidFill>
            <a:srgbClr val="5C677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684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978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684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356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44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374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476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622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476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784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476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946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476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110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476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476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1432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476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1594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476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1756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476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19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476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476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9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9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9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9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9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9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9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9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9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9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9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9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9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0" presetClass="exit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9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xit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9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0" presetClass="path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 L 0.15625 0.00000 E" pathEditMode="relative" rAng="0" ptsTypes="AA">
                                      <p:cBhvr>
                                        <p:cTn id="218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9" presetID="0" presetClass="path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 L 0.03125 0.00000 E" pathEditMode="relative" rAng="0" ptsTypes="AA">
                                      <p:cBhvr>
                                        <p:cTn id="220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1" presetID="0" presetClass="path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 L 0.15625 0.00000 E" pathEditMode="relative" rAng="0" ptsTypes="AA">
                                      <p:cBhvr>
                                        <p:cTn id="222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3" presetID="0" presetClass="path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 L -0.09375 0.00000 E" pathEditMode="relative" rAng="0" ptsTypes="AA">
                                      <p:cBhvr>
                                        <p:cTn id="224" dur="8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0" presetClass="path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 L -0.09375 0.00000 E" pathEditMode="relative" rAng="0" ptsTypes="AA">
                                      <p:cBhvr>
                                        <p:cTn id="226" dur="8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7" presetID="0" presetClass="path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 L -0.03125 0.00000 E" pathEditMode="relative" rAng="0" ptsTypes="AA">
                                      <p:cBhvr>
                                        <p:cTn id="228" dur="8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9" presetID="0" presetClass="path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 L -0.03125 0.00000 E" pathEditMode="relative" rAng="0" ptsTypes="AA">
                                      <p:cBhvr>
                                        <p:cTn id="230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1" presetID="0" presetClass="path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 L 0.03125 0.00000 E" pathEditMode="relative" rAng="0" ptsTypes="AA">
                                      <p:cBhvr>
                                        <p:cTn id="232" dur="8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3" presetID="0" presetClass="path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 L -0.15625 0.00000 E" pathEditMode="relative" rAng="0" ptsTypes="AA">
                                      <p:cBhvr>
                                        <p:cTn id="234" dur="8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0" presetClass="path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 L -0.09375 0.00000 E" pathEditMode="relative" rAng="0" ptsTypes="AA">
                                      <p:cBhvr>
                                        <p:cTn id="236" dur="8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0" presetClass="path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animMotion origin="layout" path="M 0 0 L 0.28750 0.00000 E" pathEditMode="relative" rAng="0" ptsTypes="AA">
                                      <p:cBhvr>
                                        <p:cTn id="241" dur="1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xit" presetSubtype="0" fill="hold" grpId="0" nodeType="withEffect">
                                  <p:stCondLst>
                                    <p:cond delay="4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6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8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6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2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3" presetID="0" presetClass="path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28750 0.00000 E" pathEditMode="relative" rAng="0" ptsTypes="AA">
                                      <p:cBhvr>
                                        <p:cTn id="344" dur="1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5" presetID="10" presetClass="exit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6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0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3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6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8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8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4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0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3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6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9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2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5" dur="6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8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7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0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3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6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9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2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5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8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1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4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7" dur="6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0" dur="6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3" dur="6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6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9" dur="6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2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5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8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1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4" dur="6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6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0" dur="6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3" dur="6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6" dur="6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9" dur="6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2" dur="6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5" dur="6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8" dur="6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1" dur="6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4" dur="6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7" dur="6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0" dur="6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3" dur="6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6" dur="6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9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2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5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6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8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9" presetID="10" presetClass="entr" presetSubtype="0" fill="hold" grpId="0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1" dur="2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2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4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5" presetID="10" presetClass="entr" presetSubtype="0" fill="hold" grpId="0" nodeType="withEffect">
                                  <p:stCondLst>
                                    <p:cond delay="214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7" dur="2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8" presetID="10" presetClass="entr" presetSubtype="0" fill="hold" grpId="0" nodeType="withEffect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0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1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3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4" presetID="10" presetClass="entr" presetSubtype="0" fill="hold" grpId="0" nodeType="withEffect">
                                  <p:stCondLst>
                                    <p:cond delay="328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7" fill="hold">
                      <p:stCondLst>
                        <p:cond delay="indefinite"/>
                      </p:stCondLst>
                      <p:childTnLst>
                        <p:par>
                          <p:cTn id="558" fill="hold">
                            <p:stCondLst>
                              <p:cond delay="0"/>
                            </p:stCondLst>
                            <p:childTnLst>
                              <p:par>
                                <p:cTn id="5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6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8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4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0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3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6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9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2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5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8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1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4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7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0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3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6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9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2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5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8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1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4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7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0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3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6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9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2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5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8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1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4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7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0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3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6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9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2"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4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8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4" dur="4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7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0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3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6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9" dur="4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2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5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8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1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8" dur="8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1" dur="8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4" dur="8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7" dur="8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0" dur="8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3" dur="8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6" dur="8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9" dur="8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2" dur="8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5" dur="8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8" dur="8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1" dur="8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4" dur="8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7" dur="8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0" dur="8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1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3" dur="7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 animBg="1"/>
      <p:bldP spid="13" grpId="0" animBg="1"/>
      <p:bldP spid="14" grpId="0" animBg="1"/>
      <p:bldP spid="15" grpId="0" animBg="1"/>
      <p:bldP spid="16" grpId="0"/>
      <p:bldP spid="17" grpId="0"/>
      <p:bldP spid="18" grpId="0"/>
      <p:bldP spid="19" grpId="0"/>
      <p:bldP spid="20" grpId="0"/>
      <p:bldP spid="21" grpId="0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/>
      <p:bldP spid="37" grpId="0"/>
      <p:bldP spid="38" grpId="0"/>
      <p:bldP spid="39" grpId="0"/>
      <p:bldP spid="40" grpId="0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/>
      <p:bldP spid="49" grpId="0"/>
      <p:bldP spid="50" grpId="0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-tsdcheck_1"/>
          <p:cNvSpPr txBox="1"/>
          <p:nvPr/>
        </p:nvSpPr>
        <p:spPr>
          <a:xfrm>
            <a:off x="548640" y="396210"/>
            <a:ext cx="11140410" cy="464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TSD check</a:t>
            </a:r>
            <a:endParaRPr lang="en-US" sz="2880" dirty="0"/>
          </a:p>
        </p:txBody>
      </p:sp>
      <p:sp>
        <p:nvSpPr>
          <p:cNvPr id="3" name="te-tsdcheck_2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MADE1/MADE2 TEs insert at ‘TA’ positions</a:t>
            </a:r>
            <a:endParaRPr lang="en-US" sz="2544" dirty="0"/>
          </a:p>
        </p:txBody>
      </p:sp>
      <p:sp>
        <p:nvSpPr>
          <p:cNvPr id="4" name="te-tsdcheck_3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Forming 2 bp ‘TA’ TSDs at either side</a:t>
            </a:r>
            <a:endParaRPr lang="en-US" sz="2544" dirty="0"/>
          </a:p>
        </p:txBody>
      </p:sp>
      <p:sp>
        <p:nvSpPr>
          <p:cNvPr id="5" name="te-tsdcheck_4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Searched for ‘TA’ at both sides of the insertion</a:t>
            </a:r>
            <a:endParaRPr lang="en-US" sz="2544" dirty="0"/>
          </a:p>
        </p:txBody>
      </p:sp>
      <p:sp>
        <p:nvSpPr>
          <p:cNvPr id="6" name="te-tsdcheck_5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However, in some cases, the element boundaries were unclear</a:t>
            </a:r>
            <a:endParaRPr lang="en-US" sz="2544" dirty="0"/>
          </a:p>
        </p:txBody>
      </p:sp>
      <p:sp>
        <p:nvSpPr>
          <p:cNvPr id="7" name="te-tsdcheck_6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So, TSDs were searched for within a 6 bp window upstream/downstream of the insertion</a:t>
            </a:r>
            <a:endParaRPr lang="en-US" sz="2544" dirty="0"/>
          </a:p>
        </p:txBody>
      </p:sp>
      <p:sp>
        <p:nvSpPr>
          <p:cNvPr id="8" name="te-tsdcheck_7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544" dirty="0"/>
          </a:p>
        </p:txBody>
      </p:sp>
      <p:sp>
        <p:nvSpPr>
          <p:cNvPr id="9" name="te-tsdcheck_8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majority do </a:t>
            </a:r>
            <a:pPr algn="ctr" indent="0" marL="0">
              <a:buNone/>
            </a:pPr>
            <a:r>
              <a:rPr lang="en-US" sz="2544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have detectable TSDs</a:t>
            </a:r>
            <a:endParaRPr lang="en-US" sz="2544" dirty="0"/>
          </a:p>
        </p:txBody>
      </p:sp>
      <p:sp>
        <p:nvSpPr>
          <p:cNvPr id="10" name="te-tsdcheck_9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these results compare to background rates?</a:t>
            </a:r>
            <a:endParaRPr lang="en-US" sz="2544" dirty="0"/>
          </a:p>
        </p:txBody>
      </p:sp>
      <p:sp>
        <p:nvSpPr>
          <p:cNvPr id="11" name="te-tsdcheck_10"/>
          <p:cNvSpPr/>
          <p:nvPr/>
        </p:nvSpPr>
        <p:spPr>
          <a:xfrm>
            <a:off x="587118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2" name="te-tsdcheck_11"/>
          <p:cNvSpPr/>
          <p:nvPr/>
        </p:nvSpPr>
        <p:spPr>
          <a:xfrm>
            <a:off x="629793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3" name="te-tsdcheck_12"/>
          <p:cNvSpPr/>
          <p:nvPr/>
        </p:nvSpPr>
        <p:spPr>
          <a:xfrm>
            <a:off x="416436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4" name="te-tsdcheck_13"/>
          <p:cNvSpPr/>
          <p:nvPr/>
        </p:nvSpPr>
        <p:spPr>
          <a:xfrm>
            <a:off x="459102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5" name="te-tsdcheck_14"/>
          <p:cNvSpPr/>
          <p:nvPr/>
        </p:nvSpPr>
        <p:spPr>
          <a:xfrm>
            <a:off x="501777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6" name="te-tsdcheck_15"/>
          <p:cNvSpPr/>
          <p:nvPr/>
        </p:nvSpPr>
        <p:spPr>
          <a:xfrm>
            <a:off x="544452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7" name="te-tsdcheck_16"/>
          <p:cNvSpPr txBox="1"/>
          <p:nvPr/>
        </p:nvSpPr>
        <p:spPr>
          <a:xfrm>
            <a:off x="3980109" y="40766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18" name="te-tsdcheck_17"/>
          <p:cNvSpPr txBox="1"/>
          <p:nvPr/>
        </p:nvSpPr>
        <p:spPr>
          <a:xfrm>
            <a:off x="4406859" y="40766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19" name="te-tsdcheck_18"/>
          <p:cNvSpPr txBox="1"/>
          <p:nvPr/>
        </p:nvSpPr>
        <p:spPr>
          <a:xfrm>
            <a:off x="4833518" y="40766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20" name="te-tsdcheck_19"/>
          <p:cNvSpPr txBox="1"/>
          <p:nvPr/>
        </p:nvSpPr>
        <p:spPr>
          <a:xfrm>
            <a:off x="5260269" y="40766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21" name="te-tsdcheck_20"/>
          <p:cNvSpPr txBox="1"/>
          <p:nvPr/>
        </p:nvSpPr>
        <p:spPr>
          <a:xfrm>
            <a:off x="5687019" y="40766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22" name="te-tsdcheck_21"/>
          <p:cNvSpPr txBox="1"/>
          <p:nvPr/>
        </p:nvSpPr>
        <p:spPr>
          <a:xfrm>
            <a:off x="6113221" y="407667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23" name="te-tsdcheck_22"/>
          <p:cNvSpPr txBox="1"/>
          <p:nvPr/>
        </p:nvSpPr>
        <p:spPr>
          <a:xfrm>
            <a:off x="3980109" y="461013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24" name="te-tsdcheck_23"/>
          <p:cNvSpPr txBox="1"/>
          <p:nvPr/>
        </p:nvSpPr>
        <p:spPr>
          <a:xfrm>
            <a:off x="4406859" y="461013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25" name="te-tsdcheck_24"/>
          <p:cNvSpPr txBox="1"/>
          <p:nvPr/>
        </p:nvSpPr>
        <p:spPr>
          <a:xfrm>
            <a:off x="4833518" y="461013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26" name="te-tsdcheck_25"/>
          <p:cNvSpPr txBox="1"/>
          <p:nvPr/>
        </p:nvSpPr>
        <p:spPr>
          <a:xfrm>
            <a:off x="5260269" y="461013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27" name="te-tsdcheck_26"/>
          <p:cNvSpPr/>
          <p:nvPr/>
        </p:nvSpPr>
        <p:spPr>
          <a:xfrm>
            <a:off x="425580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28" name="te-tsdcheck_27"/>
          <p:cNvSpPr txBox="1"/>
          <p:nvPr/>
        </p:nvSpPr>
        <p:spPr>
          <a:xfrm>
            <a:off x="4071000" y="461013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29" name="te-tsdcheck_28"/>
          <p:cNvSpPr/>
          <p:nvPr/>
        </p:nvSpPr>
        <p:spPr>
          <a:xfrm>
            <a:off x="468246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30" name="te-tsdcheck_29"/>
          <p:cNvSpPr txBox="1"/>
          <p:nvPr/>
        </p:nvSpPr>
        <p:spPr>
          <a:xfrm>
            <a:off x="4498299" y="461013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31" name="te-tsdcheck_30"/>
          <p:cNvSpPr txBox="1"/>
          <p:nvPr/>
        </p:nvSpPr>
        <p:spPr>
          <a:xfrm>
            <a:off x="4071549" y="40766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187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32" name="te-tsdcheck_31"/>
          <p:cNvSpPr txBox="1"/>
          <p:nvPr/>
        </p:nvSpPr>
        <p:spPr>
          <a:xfrm>
            <a:off x="4071000" y="461013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187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33" name="te-tsdcheck_32"/>
          <p:cNvSpPr txBox="1"/>
          <p:nvPr/>
        </p:nvSpPr>
        <p:spPr>
          <a:xfrm>
            <a:off x="4497751" y="407667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187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34" name="te-tsdcheck_33"/>
          <p:cNvSpPr txBox="1"/>
          <p:nvPr/>
        </p:nvSpPr>
        <p:spPr>
          <a:xfrm>
            <a:off x="4498299" y="461013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187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35" name="te-tsdcheck_34"/>
          <p:cNvSpPr/>
          <p:nvPr/>
        </p:nvSpPr>
        <p:spPr>
          <a:xfrm>
            <a:off x="672468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36" name="te-tsdcheck_35"/>
          <p:cNvSpPr/>
          <p:nvPr/>
        </p:nvSpPr>
        <p:spPr>
          <a:xfrm>
            <a:off x="715134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37" name="te-tsdcheck_36"/>
          <p:cNvSpPr/>
          <p:nvPr/>
        </p:nvSpPr>
        <p:spPr>
          <a:xfrm>
            <a:off x="757809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38" name="te-tsdcheck_37"/>
          <p:cNvSpPr/>
          <p:nvPr/>
        </p:nvSpPr>
        <p:spPr>
          <a:xfrm>
            <a:off x="800484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39" name="te-tsdcheck_38"/>
          <p:cNvSpPr txBox="1"/>
          <p:nvPr/>
        </p:nvSpPr>
        <p:spPr>
          <a:xfrm>
            <a:off x="6540429" y="40766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40" name="te-tsdcheck_39"/>
          <p:cNvSpPr txBox="1"/>
          <p:nvPr/>
        </p:nvSpPr>
        <p:spPr>
          <a:xfrm>
            <a:off x="6967179" y="40766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41" name="te-tsdcheck_40"/>
          <p:cNvSpPr txBox="1"/>
          <p:nvPr/>
        </p:nvSpPr>
        <p:spPr>
          <a:xfrm>
            <a:off x="7393838" y="40766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42" name="te-tsdcheck_41"/>
          <p:cNvSpPr txBox="1"/>
          <p:nvPr/>
        </p:nvSpPr>
        <p:spPr>
          <a:xfrm>
            <a:off x="7820589" y="40766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43" name="te-tsdcheck_42"/>
          <p:cNvSpPr txBox="1"/>
          <p:nvPr/>
        </p:nvSpPr>
        <p:spPr>
          <a:xfrm>
            <a:off x="5686471" y="461013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44" name="te-tsdcheck_43"/>
          <p:cNvSpPr txBox="1"/>
          <p:nvPr/>
        </p:nvSpPr>
        <p:spPr>
          <a:xfrm>
            <a:off x="6113678" y="461013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45" name="te-tsdcheck_44"/>
          <p:cNvSpPr txBox="1"/>
          <p:nvPr/>
        </p:nvSpPr>
        <p:spPr>
          <a:xfrm>
            <a:off x="6540429" y="461013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46" name="te-tsdcheck_45"/>
          <p:cNvSpPr txBox="1"/>
          <p:nvPr/>
        </p:nvSpPr>
        <p:spPr>
          <a:xfrm>
            <a:off x="6967179" y="461013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47" name="te-tsdcheck_46"/>
          <p:cNvSpPr txBox="1"/>
          <p:nvPr/>
        </p:nvSpPr>
        <p:spPr>
          <a:xfrm>
            <a:off x="7393838" y="461013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48" name="te-tsdcheck_47"/>
          <p:cNvSpPr txBox="1"/>
          <p:nvPr/>
        </p:nvSpPr>
        <p:spPr>
          <a:xfrm>
            <a:off x="7820589" y="461013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49" name="te-tsdcheck_48"/>
          <p:cNvSpPr/>
          <p:nvPr/>
        </p:nvSpPr>
        <p:spPr>
          <a:xfrm>
            <a:off x="748665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50" name="te-tsdcheck_49"/>
          <p:cNvSpPr txBox="1"/>
          <p:nvPr/>
        </p:nvSpPr>
        <p:spPr>
          <a:xfrm>
            <a:off x="7302398" y="40766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51" name="te-tsdcheck_50"/>
          <p:cNvSpPr/>
          <p:nvPr/>
        </p:nvSpPr>
        <p:spPr>
          <a:xfrm>
            <a:off x="7913400" y="4434840"/>
            <a:ext cx="22860" cy="19815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52" name="te-tsdcheck_51"/>
          <p:cNvSpPr txBox="1"/>
          <p:nvPr/>
        </p:nvSpPr>
        <p:spPr>
          <a:xfrm>
            <a:off x="7728600" y="407667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53" name="te-tsdcheck_52"/>
          <p:cNvSpPr txBox="1"/>
          <p:nvPr/>
        </p:nvSpPr>
        <p:spPr>
          <a:xfrm>
            <a:off x="7302398" y="407667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187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54" name="te-tsdcheck_53"/>
          <p:cNvSpPr txBox="1"/>
          <p:nvPr/>
        </p:nvSpPr>
        <p:spPr>
          <a:xfrm>
            <a:off x="7301941" y="461013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187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55" name="te-tsdcheck_54"/>
          <p:cNvSpPr txBox="1"/>
          <p:nvPr/>
        </p:nvSpPr>
        <p:spPr>
          <a:xfrm>
            <a:off x="7728600" y="407667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187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56" name="te-tsdcheck_55"/>
          <p:cNvSpPr txBox="1"/>
          <p:nvPr/>
        </p:nvSpPr>
        <p:spPr>
          <a:xfrm>
            <a:off x="7729149" y="461013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187F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57" name="te-tsdcheck_56"/>
          <p:cNvSpPr/>
          <p:nvPr/>
        </p:nvSpPr>
        <p:spPr>
          <a:xfrm>
            <a:off x="5059650" y="2377440"/>
            <a:ext cx="2072670" cy="960120"/>
          </a:xfrm>
          <a:prstGeom prst="roundRect">
            <a:avLst>
              <a:gd name="adj" fmla="val 11114"/>
            </a:avLst>
          </a:prstGeom>
          <a:solidFill>
            <a:srgbClr val="F9BE00"/>
          </a:solidFill>
          <a:ln/>
        </p:spPr>
      </p:sp>
      <p:sp>
        <p:nvSpPr>
          <p:cNvPr id="58" name="te-tsdcheck_57"/>
          <p:cNvSpPr txBox="1"/>
          <p:nvPr/>
        </p:nvSpPr>
        <p:spPr>
          <a:xfrm>
            <a:off x="5635539" y="2714671"/>
            <a:ext cx="92098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b="1" dirty="0">
                <a:solidFill>
                  <a:srgbClr val="1D1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</a:t>
            </a:r>
            <a:endParaRPr lang="en-US" sz="1908" dirty="0"/>
          </a:p>
        </p:txBody>
      </p:sp>
      <p:sp>
        <p:nvSpPr>
          <p:cNvPr id="59" name="te-tsdcheck_58"/>
          <p:cNvSpPr txBox="1"/>
          <p:nvPr/>
        </p:nvSpPr>
        <p:spPr>
          <a:xfrm>
            <a:off x="2623779" y="43434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60" name="te-tsdcheck_59"/>
          <p:cNvSpPr txBox="1"/>
          <p:nvPr/>
        </p:nvSpPr>
        <p:spPr>
          <a:xfrm>
            <a:off x="3004261" y="434340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61" name="te-tsdcheck_60"/>
          <p:cNvSpPr txBox="1"/>
          <p:nvPr/>
        </p:nvSpPr>
        <p:spPr>
          <a:xfrm>
            <a:off x="3385749" y="43434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62" name="te-tsdcheck_61"/>
          <p:cNvSpPr txBox="1"/>
          <p:nvPr/>
        </p:nvSpPr>
        <p:spPr>
          <a:xfrm>
            <a:off x="3766779" y="43434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63" name="te-tsdcheck_62"/>
          <p:cNvSpPr txBox="1"/>
          <p:nvPr/>
        </p:nvSpPr>
        <p:spPr>
          <a:xfrm>
            <a:off x="4147718" y="43434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64" name="te-tsdcheck_63"/>
          <p:cNvSpPr txBox="1"/>
          <p:nvPr/>
        </p:nvSpPr>
        <p:spPr>
          <a:xfrm>
            <a:off x="4528749" y="43434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65" name="te-tsdcheck_64"/>
          <p:cNvSpPr txBox="1"/>
          <p:nvPr/>
        </p:nvSpPr>
        <p:spPr>
          <a:xfrm>
            <a:off x="4909231" y="434340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66" name="te-tsdcheck_65"/>
          <p:cNvSpPr txBox="1"/>
          <p:nvPr/>
        </p:nvSpPr>
        <p:spPr>
          <a:xfrm>
            <a:off x="6890918" y="43434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67" name="te-tsdcheck_66"/>
          <p:cNvSpPr txBox="1"/>
          <p:nvPr/>
        </p:nvSpPr>
        <p:spPr>
          <a:xfrm>
            <a:off x="7271400" y="434340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68" name="te-tsdcheck_67"/>
          <p:cNvSpPr txBox="1"/>
          <p:nvPr/>
        </p:nvSpPr>
        <p:spPr>
          <a:xfrm>
            <a:off x="7652979" y="43434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69" name="te-tsdcheck_68"/>
          <p:cNvSpPr txBox="1"/>
          <p:nvPr/>
        </p:nvSpPr>
        <p:spPr>
          <a:xfrm>
            <a:off x="8033918" y="43434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70" name="te-tsdcheck_69"/>
          <p:cNvSpPr txBox="1"/>
          <p:nvPr/>
        </p:nvSpPr>
        <p:spPr>
          <a:xfrm>
            <a:off x="8414949" y="43434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71" name="te-tsdcheck_70"/>
          <p:cNvSpPr txBox="1"/>
          <p:nvPr/>
        </p:nvSpPr>
        <p:spPr>
          <a:xfrm>
            <a:off x="8795431" y="434340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72" name="te-tsdcheck_71"/>
          <p:cNvSpPr txBox="1"/>
          <p:nvPr/>
        </p:nvSpPr>
        <p:spPr>
          <a:xfrm>
            <a:off x="9176918" y="43434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73" name="te-tsdcheck_72"/>
          <p:cNvSpPr/>
          <p:nvPr/>
        </p:nvSpPr>
        <p:spPr>
          <a:xfrm>
            <a:off x="5333970" y="4229100"/>
            <a:ext cx="1524030" cy="609630"/>
          </a:xfrm>
          <a:prstGeom prst="roundRect">
            <a:avLst>
              <a:gd name="adj" fmla="val 17504"/>
            </a:avLst>
          </a:prstGeom>
          <a:solidFill>
            <a:srgbClr val="F5DD93"/>
          </a:solidFill>
          <a:ln/>
        </p:spPr>
      </p:sp>
      <p:sp>
        <p:nvSpPr>
          <p:cNvPr id="74" name="te-tsdcheck_73"/>
          <p:cNvSpPr txBox="1"/>
          <p:nvPr/>
        </p:nvSpPr>
        <p:spPr>
          <a:xfrm>
            <a:off x="5562570" y="4391040"/>
            <a:ext cx="106673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b="1" dirty="0">
                <a:solidFill>
                  <a:srgbClr val="1D1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MADE?</a:t>
            </a:r>
            <a:endParaRPr lang="en-US" sz="1908" dirty="0"/>
          </a:p>
        </p:txBody>
      </p:sp>
      <p:sp>
        <p:nvSpPr>
          <p:cNvPr id="75" name="te-tsdcheck_74"/>
          <p:cNvSpPr/>
          <p:nvPr/>
        </p:nvSpPr>
        <p:spPr>
          <a:xfrm>
            <a:off x="5333970" y="4229100"/>
            <a:ext cx="1524030" cy="609630"/>
          </a:xfrm>
          <a:prstGeom prst="roundRect">
            <a:avLst>
              <a:gd name="adj" fmla="val 17504"/>
            </a:avLst>
          </a:prstGeom>
          <a:solidFill>
            <a:srgbClr val="F9BE00"/>
          </a:solidFill>
          <a:ln/>
        </p:spPr>
      </p:sp>
      <p:sp>
        <p:nvSpPr>
          <p:cNvPr id="76" name="te-tsdcheck_75"/>
          <p:cNvSpPr txBox="1"/>
          <p:nvPr/>
        </p:nvSpPr>
        <p:spPr>
          <a:xfrm>
            <a:off x="5635539" y="4391040"/>
            <a:ext cx="92098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b="1" dirty="0">
                <a:solidFill>
                  <a:srgbClr val="1D1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</a:t>
            </a:r>
            <a:endParaRPr lang="en-US" sz="1908" dirty="0"/>
          </a:p>
        </p:txBody>
      </p:sp>
      <p:sp>
        <p:nvSpPr>
          <p:cNvPr id="77" name="te-tsdcheck_76"/>
          <p:cNvSpPr txBox="1"/>
          <p:nvPr/>
        </p:nvSpPr>
        <p:spPr>
          <a:xfrm>
            <a:off x="4528749" y="43434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78" name="te-tsdcheck_77"/>
          <p:cNvSpPr txBox="1"/>
          <p:nvPr/>
        </p:nvSpPr>
        <p:spPr>
          <a:xfrm>
            <a:off x="4909231" y="434340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79" name="te-tsdcheck_78"/>
          <p:cNvSpPr txBox="1"/>
          <p:nvPr/>
        </p:nvSpPr>
        <p:spPr>
          <a:xfrm>
            <a:off x="6890918" y="43434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80" name="te-tsdcheck_79"/>
          <p:cNvSpPr txBox="1"/>
          <p:nvPr/>
        </p:nvSpPr>
        <p:spPr>
          <a:xfrm>
            <a:off x="7271400" y="434340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81" name="te-tsdcheck_80"/>
          <p:cNvSpPr txBox="1"/>
          <p:nvPr/>
        </p:nvSpPr>
        <p:spPr>
          <a:xfrm>
            <a:off x="2242749" y="43434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82" name="te-tsdcheck_81"/>
          <p:cNvSpPr txBox="1"/>
          <p:nvPr/>
        </p:nvSpPr>
        <p:spPr>
          <a:xfrm>
            <a:off x="2623779" y="43434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83" name="te-tsdcheck_82"/>
          <p:cNvSpPr txBox="1"/>
          <p:nvPr/>
        </p:nvSpPr>
        <p:spPr>
          <a:xfrm>
            <a:off x="3004718" y="43434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84" name="te-tsdcheck_83"/>
          <p:cNvSpPr txBox="1"/>
          <p:nvPr/>
        </p:nvSpPr>
        <p:spPr>
          <a:xfrm>
            <a:off x="3385749" y="43434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85" name="te-tsdcheck_84"/>
          <p:cNvSpPr txBox="1"/>
          <p:nvPr/>
        </p:nvSpPr>
        <p:spPr>
          <a:xfrm>
            <a:off x="3766779" y="43434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86" name="te-tsdcheck_85"/>
          <p:cNvSpPr txBox="1"/>
          <p:nvPr/>
        </p:nvSpPr>
        <p:spPr>
          <a:xfrm>
            <a:off x="4147718" y="43434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87" name="te-tsdcheck_86"/>
          <p:cNvSpPr txBox="1"/>
          <p:nvPr/>
        </p:nvSpPr>
        <p:spPr>
          <a:xfrm>
            <a:off x="4528200" y="434340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88" name="te-tsdcheck_87"/>
          <p:cNvSpPr txBox="1"/>
          <p:nvPr/>
        </p:nvSpPr>
        <p:spPr>
          <a:xfrm>
            <a:off x="4909779" y="43434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89" name="te-tsdcheck_88"/>
          <p:cNvSpPr txBox="1"/>
          <p:nvPr/>
        </p:nvSpPr>
        <p:spPr>
          <a:xfrm>
            <a:off x="5290718" y="43434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90" name="te-tsdcheck_89"/>
          <p:cNvSpPr txBox="1"/>
          <p:nvPr/>
        </p:nvSpPr>
        <p:spPr>
          <a:xfrm>
            <a:off x="6509979" y="43434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91" name="te-tsdcheck_90"/>
          <p:cNvSpPr txBox="1"/>
          <p:nvPr/>
        </p:nvSpPr>
        <p:spPr>
          <a:xfrm>
            <a:off x="6890918" y="43434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92" name="te-tsdcheck_91"/>
          <p:cNvSpPr txBox="1"/>
          <p:nvPr/>
        </p:nvSpPr>
        <p:spPr>
          <a:xfrm>
            <a:off x="7271400" y="434340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93" name="te-tsdcheck_92"/>
          <p:cNvSpPr txBox="1"/>
          <p:nvPr/>
        </p:nvSpPr>
        <p:spPr>
          <a:xfrm>
            <a:off x="7652979" y="43434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544" dirty="0"/>
          </a:p>
        </p:txBody>
      </p:sp>
      <p:sp>
        <p:nvSpPr>
          <p:cNvPr id="94" name="te-tsdcheck_93"/>
          <p:cNvSpPr txBox="1"/>
          <p:nvPr/>
        </p:nvSpPr>
        <p:spPr>
          <a:xfrm>
            <a:off x="8033461" y="434340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95" name="te-tsdcheck_94"/>
          <p:cNvSpPr txBox="1"/>
          <p:nvPr/>
        </p:nvSpPr>
        <p:spPr>
          <a:xfrm>
            <a:off x="8414949" y="43434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96" name="te-tsdcheck_95"/>
          <p:cNvSpPr txBox="1"/>
          <p:nvPr/>
        </p:nvSpPr>
        <p:spPr>
          <a:xfrm>
            <a:off x="8795979" y="43434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97" name="te-tsdcheck_96"/>
          <p:cNvSpPr txBox="1"/>
          <p:nvPr/>
        </p:nvSpPr>
        <p:spPr>
          <a:xfrm>
            <a:off x="9176461" y="434340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98" name="te-tsdcheck_97"/>
          <p:cNvSpPr txBox="1"/>
          <p:nvPr/>
        </p:nvSpPr>
        <p:spPr>
          <a:xfrm>
            <a:off x="9557949" y="43434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44" dirty="0"/>
          </a:p>
        </p:txBody>
      </p:sp>
      <p:sp>
        <p:nvSpPr>
          <p:cNvPr id="99" name="te-tsdcheck_98"/>
          <p:cNvSpPr/>
          <p:nvPr/>
        </p:nvSpPr>
        <p:spPr>
          <a:xfrm>
            <a:off x="5333970" y="4229100"/>
            <a:ext cx="1524030" cy="609630"/>
          </a:xfrm>
          <a:prstGeom prst="roundRect">
            <a:avLst>
              <a:gd name="adj" fmla="val 17504"/>
            </a:avLst>
          </a:prstGeom>
          <a:solidFill>
            <a:srgbClr val="F5DD93"/>
          </a:solidFill>
          <a:ln/>
        </p:spPr>
      </p:sp>
      <p:sp>
        <p:nvSpPr>
          <p:cNvPr id="100" name="te-tsdcheck_99"/>
          <p:cNvSpPr txBox="1"/>
          <p:nvPr/>
        </p:nvSpPr>
        <p:spPr>
          <a:xfrm>
            <a:off x="5562570" y="4391040"/>
            <a:ext cx="106673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b="1" dirty="0">
                <a:solidFill>
                  <a:srgbClr val="1D1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MADE?</a:t>
            </a:r>
            <a:endParaRPr lang="en-US" sz="1908" dirty="0"/>
          </a:p>
        </p:txBody>
      </p:sp>
      <p:sp>
        <p:nvSpPr>
          <p:cNvPr id="101" name="te-tsdcheck_100"/>
          <p:cNvSpPr/>
          <p:nvPr/>
        </p:nvSpPr>
        <p:spPr>
          <a:xfrm>
            <a:off x="5333970" y="4229100"/>
            <a:ext cx="1524030" cy="609630"/>
          </a:xfrm>
          <a:prstGeom prst="roundRect">
            <a:avLst>
              <a:gd name="adj" fmla="val 17504"/>
            </a:avLst>
          </a:prstGeom>
          <a:solidFill>
            <a:srgbClr val="F9BE00"/>
          </a:solidFill>
          <a:ln/>
        </p:spPr>
      </p:sp>
      <p:sp>
        <p:nvSpPr>
          <p:cNvPr id="102" name="te-tsdcheck_101"/>
          <p:cNvSpPr txBox="1"/>
          <p:nvPr/>
        </p:nvSpPr>
        <p:spPr>
          <a:xfrm>
            <a:off x="5635539" y="4391040"/>
            <a:ext cx="92098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b="1" dirty="0">
                <a:solidFill>
                  <a:srgbClr val="1D1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</a:t>
            </a:r>
            <a:endParaRPr lang="en-US" sz="1908" dirty="0"/>
          </a:p>
        </p:txBody>
      </p:sp>
      <p:sp>
        <p:nvSpPr>
          <p:cNvPr id="103" name="te-tsdcheck_102"/>
          <p:cNvSpPr txBox="1"/>
          <p:nvPr/>
        </p:nvSpPr>
        <p:spPr>
          <a:xfrm>
            <a:off x="5831860" y="3718590"/>
            <a:ext cx="528157" cy="5333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56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562" dirty="0"/>
          </a:p>
        </p:txBody>
      </p:sp>
      <p:sp>
        <p:nvSpPr>
          <p:cNvPr id="104" name="te-tsdcheck_103"/>
          <p:cNvSpPr/>
          <p:nvPr/>
        </p:nvSpPr>
        <p:spPr>
          <a:xfrm>
            <a:off x="3032790" y="4091940"/>
            <a:ext cx="2240280" cy="91440"/>
          </a:xfrm>
          <a:custGeom>
            <a:avLst/>
            <a:gdLst/>
            <a:ahLst/>
            <a:cxnLst/>
            <a:rect l="l" t="t" r="r" b="b"/>
            <a:pathLst>
              <a:path w="2240280" h="91440">
                <a:moveTo>
                  <a:pt x="0" y="91440"/>
                </a:moveTo>
                <a:lnTo>
                  <a:pt x="0" y="0"/>
                </a:lnTo>
                <a:lnTo>
                  <a:pt x="2240280" y="0"/>
                </a:lnTo>
                <a:lnTo>
                  <a:pt x="2240280" y="91440"/>
                </a:lnTo>
              </a:path>
            </a:pathLst>
          </a:custGeom>
          <a:ln w="19050">
            <a:solidFill>
              <a:srgbClr val="FFFFFF"/>
            </a:solidFill>
            <a:prstDash val="solid"/>
          </a:ln>
        </p:spPr>
      </p:sp>
      <p:sp>
        <p:nvSpPr>
          <p:cNvPr id="105" name="te-tsdcheck_104"/>
          <p:cNvSpPr txBox="1"/>
          <p:nvPr/>
        </p:nvSpPr>
        <p:spPr>
          <a:xfrm>
            <a:off x="3898910" y="3775192"/>
            <a:ext cx="508041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bp</a:t>
            </a:r>
            <a:endParaRPr lang="en-US" sz="1399" dirty="0"/>
          </a:p>
        </p:txBody>
      </p:sp>
      <p:sp>
        <p:nvSpPr>
          <p:cNvPr id="106" name="te-tsdcheck_105"/>
          <p:cNvSpPr/>
          <p:nvPr/>
        </p:nvSpPr>
        <p:spPr>
          <a:xfrm>
            <a:off x="6918990" y="4091940"/>
            <a:ext cx="2240280" cy="91440"/>
          </a:xfrm>
          <a:custGeom>
            <a:avLst/>
            <a:gdLst/>
            <a:ahLst/>
            <a:cxnLst/>
            <a:rect l="l" t="t" r="r" b="b"/>
            <a:pathLst>
              <a:path w="2240280" h="91440">
                <a:moveTo>
                  <a:pt x="0" y="91440"/>
                </a:moveTo>
                <a:lnTo>
                  <a:pt x="0" y="0"/>
                </a:lnTo>
                <a:lnTo>
                  <a:pt x="2240280" y="0"/>
                </a:lnTo>
                <a:lnTo>
                  <a:pt x="2240280" y="91440"/>
                </a:lnTo>
              </a:path>
            </a:pathLst>
          </a:custGeom>
          <a:ln w="19050">
            <a:solidFill>
              <a:srgbClr val="FFFFFF"/>
            </a:solidFill>
            <a:prstDash val="solid"/>
          </a:ln>
        </p:spPr>
      </p:sp>
      <p:sp>
        <p:nvSpPr>
          <p:cNvPr id="107" name="te-tsdcheck_106"/>
          <p:cNvSpPr txBox="1"/>
          <p:nvPr/>
        </p:nvSpPr>
        <p:spPr>
          <a:xfrm>
            <a:off x="7785110" y="3775192"/>
            <a:ext cx="508041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bp</a:t>
            </a:r>
            <a:endParaRPr lang="en-US" sz="1399" dirty="0"/>
          </a:p>
        </p:txBody>
      </p:sp>
      <p:sp>
        <p:nvSpPr>
          <p:cNvPr id="108" name="te-tsdcheck_107"/>
          <p:cNvSpPr txBox="1"/>
          <p:nvPr/>
        </p:nvSpPr>
        <p:spPr>
          <a:xfrm>
            <a:off x="4147718" y="43434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109" name="te-tsdcheck_108"/>
          <p:cNvSpPr txBox="1"/>
          <p:nvPr/>
        </p:nvSpPr>
        <p:spPr>
          <a:xfrm>
            <a:off x="4528200" y="434340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110" name="te-tsdcheck_109"/>
          <p:cNvSpPr txBox="1"/>
          <p:nvPr/>
        </p:nvSpPr>
        <p:spPr>
          <a:xfrm>
            <a:off x="6890918" y="43434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544" dirty="0"/>
          </a:p>
        </p:txBody>
      </p:sp>
      <p:sp>
        <p:nvSpPr>
          <p:cNvPr id="111" name="te-tsdcheck_110"/>
          <p:cNvSpPr txBox="1"/>
          <p:nvPr/>
        </p:nvSpPr>
        <p:spPr>
          <a:xfrm>
            <a:off x="7271400" y="434340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4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44" dirty="0"/>
          </a:p>
        </p:txBody>
      </p:sp>
      <p:sp>
        <p:nvSpPr>
          <p:cNvPr id="112" name="te-tsdcheck_111"/>
          <p:cNvSpPr txBox="1"/>
          <p:nvPr/>
        </p:nvSpPr>
        <p:spPr>
          <a:xfrm>
            <a:off x="2727930" y="3127065"/>
            <a:ext cx="3060863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2 bp next to insertion</a:t>
            </a:r>
            <a:endParaRPr lang="en-US" sz="1654" dirty="0"/>
          </a:p>
        </p:txBody>
      </p:sp>
      <p:sp>
        <p:nvSpPr>
          <p:cNvPr id="113" name="te-tsdcheck_112"/>
          <p:cNvSpPr/>
          <p:nvPr/>
        </p:nvSpPr>
        <p:spPr>
          <a:xfrm>
            <a:off x="2743200" y="3413730"/>
            <a:ext cx="6705570" cy="335310"/>
          </a:xfrm>
          <a:prstGeom prst="roundRect">
            <a:avLst>
              <a:gd name="adj" fmla="val 9081"/>
            </a:avLst>
          </a:prstGeom>
          <a:solidFill>
            <a:srgbClr val="19222D"/>
          </a:solidFill>
          <a:ln/>
        </p:spPr>
      </p:sp>
      <p:sp>
        <p:nvSpPr>
          <p:cNvPr id="114" name="te-tsdcheck_113"/>
          <p:cNvSpPr/>
          <p:nvPr/>
        </p:nvSpPr>
        <p:spPr>
          <a:xfrm>
            <a:off x="2743200" y="3413730"/>
            <a:ext cx="390266" cy="335310"/>
          </a:xfrm>
          <a:prstGeom prst="roundRect">
            <a:avLst>
              <a:gd name="adj" fmla="val 9081"/>
            </a:avLst>
          </a:prstGeom>
          <a:solidFill>
            <a:srgbClr val="F9BE00"/>
          </a:solidFill>
          <a:ln/>
        </p:spPr>
      </p:sp>
      <p:sp>
        <p:nvSpPr>
          <p:cNvPr id="115" name="te-tsdcheck_114"/>
          <p:cNvSpPr/>
          <p:nvPr/>
        </p:nvSpPr>
        <p:spPr>
          <a:xfrm>
            <a:off x="3156326" y="3413730"/>
            <a:ext cx="6292444" cy="335310"/>
          </a:xfrm>
          <a:prstGeom prst="roundRect">
            <a:avLst>
              <a:gd name="adj" fmla="val 9081"/>
            </a:avLst>
          </a:prstGeom>
          <a:solidFill>
            <a:srgbClr val="187FC3"/>
          </a:solidFill>
          <a:ln/>
        </p:spPr>
      </p:sp>
      <p:sp>
        <p:nvSpPr>
          <p:cNvPr id="116" name="te-tsdcheck_116"/>
          <p:cNvSpPr txBox="1"/>
          <p:nvPr/>
        </p:nvSpPr>
        <p:spPr>
          <a:xfrm>
            <a:off x="9616470" y="3419490"/>
            <a:ext cx="1105601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5.82%</a:t>
            </a:r>
            <a:endParaRPr lang="en-US" sz="2162" dirty="0"/>
          </a:p>
        </p:txBody>
      </p:sp>
      <p:sp>
        <p:nvSpPr>
          <p:cNvPr id="117" name="te-tsdcheck_117"/>
          <p:cNvSpPr txBox="1"/>
          <p:nvPr/>
        </p:nvSpPr>
        <p:spPr>
          <a:xfrm>
            <a:off x="2727930" y="4270065"/>
            <a:ext cx="3306013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bp window next to insertion</a:t>
            </a:r>
            <a:endParaRPr lang="en-US" sz="1654" dirty="0"/>
          </a:p>
        </p:txBody>
      </p:sp>
      <p:sp>
        <p:nvSpPr>
          <p:cNvPr id="118" name="te-tsdcheck_118"/>
          <p:cNvSpPr/>
          <p:nvPr/>
        </p:nvSpPr>
        <p:spPr>
          <a:xfrm>
            <a:off x="2743200" y="4556730"/>
            <a:ext cx="6705570" cy="335310"/>
          </a:xfrm>
          <a:prstGeom prst="roundRect">
            <a:avLst>
              <a:gd name="adj" fmla="val 9081"/>
            </a:avLst>
          </a:prstGeom>
          <a:solidFill>
            <a:srgbClr val="19222D"/>
          </a:solidFill>
          <a:ln/>
        </p:spPr>
      </p:sp>
      <p:sp>
        <p:nvSpPr>
          <p:cNvPr id="119" name="te-tsdcheck_119"/>
          <p:cNvSpPr/>
          <p:nvPr/>
        </p:nvSpPr>
        <p:spPr>
          <a:xfrm>
            <a:off x="2743200" y="4556730"/>
            <a:ext cx="2164568" cy="335310"/>
          </a:xfrm>
          <a:prstGeom prst="roundRect">
            <a:avLst>
              <a:gd name="adj" fmla="val 9081"/>
            </a:avLst>
          </a:prstGeom>
          <a:solidFill>
            <a:srgbClr val="F9BE00"/>
          </a:solidFill>
          <a:ln/>
        </p:spPr>
      </p:sp>
      <p:sp>
        <p:nvSpPr>
          <p:cNvPr id="120" name="te-tsdcheck_120"/>
          <p:cNvSpPr/>
          <p:nvPr/>
        </p:nvSpPr>
        <p:spPr>
          <a:xfrm>
            <a:off x="4930628" y="4556730"/>
            <a:ext cx="4518142" cy="335310"/>
          </a:xfrm>
          <a:prstGeom prst="roundRect">
            <a:avLst>
              <a:gd name="adj" fmla="val 9081"/>
            </a:avLst>
          </a:prstGeom>
          <a:solidFill>
            <a:srgbClr val="187FC3"/>
          </a:solidFill>
          <a:ln/>
        </p:spPr>
      </p:sp>
      <p:sp>
        <p:nvSpPr>
          <p:cNvPr id="121" name="te-tsdcheck_122"/>
          <p:cNvSpPr txBox="1"/>
          <p:nvPr/>
        </p:nvSpPr>
        <p:spPr>
          <a:xfrm>
            <a:off x="9616470" y="4562490"/>
            <a:ext cx="1308598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32.28%</a:t>
            </a:r>
            <a:endParaRPr lang="en-US" sz="2162" dirty="0"/>
          </a:p>
        </p:txBody>
      </p:sp>
      <p:sp>
        <p:nvSpPr>
          <p:cNvPr id="122" name="te-tsdcheck_123"/>
          <p:cNvSpPr/>
          <p:nvPr/>
        </p:nvSpPr>
        <p:spPr>
          <a:xfrm>
            <a:off x="2743200" y="5425410"/>
            <a:ext cx="137160" cy="137160"/>
          </a:xfrm>
          <a:prstGeom prst="roundRect">
            <a:avLst>
              <a:gd name="adj" fmla="val 16667"/>
            </a:avLst>
          </a:prstGeom>
          <a:solidFill>
            <a:srgbClr val="F9BE00"/>
          </a:solidFill>
          <a:ln/>
        </p:spPr>
      </p:sp>
      <p:sp>
        <p:nvSpPr>
          <p:cNvPr id="123" name="te-tsdcheck_124"/>
          <p:cNvSpPr txBox="1"/>
          <p:nvPr/>
        </p:nvSpPr>
        <p:spPr>
          <a:xfrm>
            <a:off x="2941350" y="5398800"/>
            <a:ext cx="2239091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detected on both sides</a:t>
            </a:r>
            <a:endParaRPr lang="en-US" sz="1272" dirty="0"/>
          </a:p>
        </p:txBody>
      </p:sp>
      <p:sp>
        <p:nvSpPr>
          <p:cNvPr id="124" name="te-tsdcheck_125"/>
          <p:cNvSpPr/>
          <p:nvPr/>
        </p:nvSpPr>
        <p:spPr>
          <a:xfrm>
            <a:off x="5486400" y="5425410"/>
            <a:ext cx="137160" cy="137160"/>
          </a:xfrm>
          <a:prstGeom prst="roundRect">
            <a:avLst>
              <a:gd name="adj" fmla="val 16667"/>
            </a:avLst>
          </a:prstGeom>
          <a:solidFill>
            <a:srgbClr val="187FC3"/>
          </a:solidFill>
          <a:ln/>
        </p:spPr>
      </p:sp>
      <p:sp>
        <p:nvSpPr>
          <p:cNvPr id="125" name="te-tsdcheck_126"/>
          <p:cNvSpPr txBox="1"/>
          <p:nvPr/>
        </p:nvSpPr>
        <p:spPr>
          <a:xfrm>
            <a:off x="5684550" y="5398800"/>
            <a:ext cx="2313615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detected on both sides</a:t>
            </a:r>
            <a:endParaRPr lang="en-US" sz="1272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0" presetClass="pat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13250 0.00000 E" pathEditMode="relative" rAng="0" ptsTypes="AA">
                                      <p:cBhvr>
                                        <p:cTn id="12" dur="1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13250 0.00000 E" pathEditMode="relative" rAng="0" ptsTypes="AA">
                                      <p:cBhvr>
                                        <p:cTn id="14" dur="1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13250 0.00000 E" pathEditMode="relative" rAng="0" ptsTypes="AA">
                                      <p:cBhvr>
                                        <p:cTn id="16" dur="11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13250 0.00000 E" pathEditMode="relative" rAng="0" ptsTypes="AA">
                                      <p:cBhvr>
                                        <p:cTn id="18" dur="1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13250 0.00000 E" pathEditMode="relative" rAng="0" ptsTypes="AA">
                                      <p:cBhvr>
                                        <p:cTn id="20" dur="1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13250 0.00000 E" pathEditMode="relative" rAng="0" ptsTypes="AA">
                                      <p:cBhvr>
                                        <p:cTn id="22" dur="1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13250 0.00000 E" pathEditMode="relative" rAng="0" ptsTypes="AA">
                                      <p:cBhvr>
                                        <p:cTn id="24" dur="11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13250 0.00000 E" pathEditMode="relative" rAng="0" ptsTypes="AA">
                                      <p:cBhvr>
                                        <p:cTn id="26" dur="11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13250 0.00000 E" pathEditMode="relative" rAng="0" ptsTypes="AA">
                                      <p:cBhvr>
                                        <p:cTn id="28" dur="1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13250 0.00000 E" pathEditMode="relative" rAng="0" ptsTypes="AA">
                                      <p:cBhvr>
                                        <p:cTn id="30" dur="1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13250 0.00000 E" pathEditMode="relative" rAng="0" ptsTypes="AA">
                                      <p:cBhvr>
                                        <p:cTn id="32" dur="1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13250 0.00000 E" pathEditMode="relative" rAng="0" ptsTypes="AA">
                                      <p:cBhvr>
                                        <p:cTn id="34" dur="1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13250 0.00000 E" pathEditMode="relative" rAng="0" ptsTypes="AA">
                                      <p:cBhvr>
                                        <p:cTn id="36" dur="1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13250 0.00000 E" pathEditMode="relative" rAng="0" ptsTypes="AA">
                                      <p:cBhvr>
                                        <p:cTn id="38" dur="1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13250 0.00000 E" pathEditMode="relative" rAng="0" ptsTypes="AA">
                                      <p:cBhvr>
                                        <p:cTn id="40" dur="11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13250 0.00000 E" pathEditMode="relative" rAng="0" ptsTypes="AA">
                                      <p:cBhvr>
                                        <p:cTn id="42" dur="11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13250 0.00000 E" pathEditMode="relative" rAng="0" ptsTypes="AA">
                                      <p:cBhvr>
                                        <p:cTn id="44" dur="11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13250 0.00000 E" pathEditMode="relative" rAng="0" ptsTypes="AA">
                                      <p:cBhvr>
                                        <p:cTn id="46" dur="11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13250 0.00000 E" pathEditMode="relative" rAng="0" ptsTypes="AA">
                                      <p:cBhvr>
                                        <p:cTn id="48" dur="11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13250 0.00000 E" pathEditMode="relative" rAng="0" ptsTypes="AA">
                                      <p:cBhvr>
                                        <p:cTn id="50" dur="11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0" presetClass="pat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13250 0.00000 E" pathEditMode="relative" rAng="0" ptsTypes="AA">
                                      <p:cBhvr>
                                        <p:cTn id="52" dur="11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0" presetClass="pat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13250 0.00000 E" pathEditMode="relative" rAng="0" ptsTypes="AA">
                                      <p:cBhvr>
                                        <p:cTn id="54" dur="11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13250 0.00000 E" pathEditMode="relative" rAng="0" ptsTypes="AA">
                                      <p:cBhvr>
                                        <p:cTn id="56" dur="11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0" presetClass="pat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13250 0.00000 E" pathEditMode="relative" rAng="0" ptsTypes="AA">
                                      <p:cBhvr>
                                        <p:cTn id="58" dur="11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13250 0.00000 E" pathEditMode="relative" rAng="0" ptsTypes="AA">
                                      <p:cBhvr>
                                        <p:cTn id="60" dur="11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13250 0.00000 E" pathEditMode="relative" rAng="0" ptsTypes="AA">
                                      <p:cBhvr>
                                        <p:cTn id="62" dur="11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0" presetClass="pat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13250 0.00000 E" pathEditMode="relative" rAng="0" ptsTypes="AA">
                                      <p:cBhvr>
                                        <p:cTn id="64" dur="11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pat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13250 0.00000 E" pathEditMode="relative" rAng="0" ptsTypes="AA">
                                      <p:cBhvr>
                                        <p:cTn id="66" dur="11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0" presetClass="path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.00000 0.24444 E" pathEditMode="relative" rAng="0" ptsTypes="AA">
                                      <p:cBhvr>
                                        <p:cTn id="71" dur="9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0" presetClass="path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.00000 0.24444 E" pathEditMode="relative" rAng="0" ptsTypes="AA">
                                      <p:cBhvr>
                                        <p:cTn id="76" dur="9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4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0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6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9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1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4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7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0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3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6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9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2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5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8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1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0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3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6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9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4" dur="6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6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6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6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6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4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0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3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6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9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2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5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8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1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4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6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3" dur="6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6" dur="6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9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2" dur="6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5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8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1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4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9" presetID="0" presetClass="path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-0.03125 0.00000 E" pathEditMode="relative" rAng="0" ptsTypes="AA">
                                      <p:cBhvr>
                                        <p:cTn id="480" dur="4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1" presetID="0" presetClass="path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-0.03125 0.00000 E" pathEditMode="relative" rAng="0" ptsTypes="AA">
                                      <p:cBhvr>
                                        <p:cTn id="482" dur="4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6" presetID="0" presetClass="path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03125 0.00000 E" pathEditMode="relative" rAng="0" ptsTypes="AA">
                                      <p:cBhvr>
                                        <p:cTn id="487" dur="4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8" presetID="0" presetClass="path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03125 0.00000 E" pathEditMode="relative" rAng="0" ptsTypes="AA">
                                      <p:cBhvr>
                                        <p:cTn id="489" dur="4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0" presetID="0" presetClass="path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 0 L 0.03125 0.00000 E" pathEditMode="relative" rAng="0" ptsTypes="AA">
                                      <p:cBhvr>
                                        <p:cTn id="491" dur="4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2" presetID="0" presetClass="path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 0 L 0.03125 0.00000 E" pathEditMode="relative" rAng="0" ptsTypes="AA">
                                      <p:cBhvr>
                                        <p:cTn id="493" dur="4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4" presetID="0" presetClass="path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0 0 L -0.03125 0.00000 E" pathEditMode="relative" rAng="0" ptsTypes="AA">
                                      <p:cBhvr>
                                        <p:cTn id="495" dur="4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6" presetID="0" presetClass="path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0 0 L -0.03125 0.00000 E" pathEditMode="relative" rAng="0" ptsTypes="AA">
                                      <p:cBhvr>
                                        <p:cTn id="497" dur="4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8" fill="hold">
                      <p:stCondLst>
                        <p:cond delay="indefinite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0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3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4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6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9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0" presetID="10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1" dur="3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3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5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6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8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9" fill="hold">
                      <p:stCondLst>
                        <p:cond delay="indefinite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5" dur="6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8" dur="6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1" dur="6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4" dur="6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7" dur="6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0" dur="6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6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6" dur="6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6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2" dur="6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5" dur="6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8" dur="6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6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4" dur="6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6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0" dur="6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3" dur="6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6" dur="6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9" dur="6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2" dur="6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5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8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1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4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7" dur="6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0" dur="6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3" dur="6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6" dur="6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9" dur="6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2" dur="6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9" dur="3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2" dur="3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5" dur="3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8" dur="3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9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1" dur="9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2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4" dur="9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8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0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6" dur="4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7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0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3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6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6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9" fill="hold">
                      <p:stCondLst>
                        <p:cond delay="indefinite"/>
                      </p:stCondLst>
                      <p:childTnLst>
                        <p:par>
                          <p:cTn id="680" fill="hold">
                            <p:stCondLst>
                              <p:cond delay="0"/>
                            </p:stCondLst>
                            <p:childTnLst>
                              <p:par>
                                <p:cTn id="68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7" fill="hold">
                      <p:stCondLst>
                        <p:cond delay="indefinite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 animBg="1"/>
      <p:bldP spid="28" grpId="0"/>
      <p:bldP spid="29" grpId="0" animBg="1"/>
      <p:bldP spid="30" grpId="0"/>
      <p:bldP spid="31" grpId="0"/>
      <p:bldP spid="32" grpId="0"/>
      <p:bldP spid="33" grpId="0"/>
      <p:bldP spid="34" grpId="0"/>
      <p:bldP spid="35" grpId="0" animBg="1"/>
      <p:bldP spid="36" grpId="0" animBg="1"/>
      <p:bldP spid="37" grpId="0" animBg="1"/>
      <p:bldP spid="38" grpId="0" animBg="1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 animBg="1"/>
      <p:bldP spid="50" grpId="0"/>
      <p:bldP spid="51" grpId="0" animBg="1"/>
      <p:bldP spid="52" grpId="0"/>
      <p:bldP spid="53" grpId="0"/>
      <p:bldP spid="54" grpId="0"/>
      <p:bldP spid="55" grpId="0"/>
      <p:bldP spid="56" grpId="0"/>
      <p:bldP spid="57" grpId="0" animBg="1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 animBg="1"/>
      <p:bldP spid="74" grpId="0"/>
      <p:bldP spid="75" grpId="0" animBg="1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 animBg="1"/>
      <p:bldP spid="100" grpId="0"/>
      <p:bldP spid="101" grpId="0" animBg="1"/>
      <p:bldP spid="102" grpId="0"/>
      <p:bldP spid="103" grpId="0"/>
      <p:bldP spid="104" grpId="0" animBg="1"/>
      <p:bldP spid="105" grpId="0"/>
      <p:bldP spid="106" grpId="0" animBg="1"/>
      <p:bldP spid="107" grpId="0"/>
      <p:bldP spid="108" grpId="0"/>
      <p:bldP spid="109" grpId="0"/>
      <p:bldP spid="110" grpId="0"/>
      <p:bldP spid="111" grpId="0"/>
      <p:bldP spid="112" grpId="0"/>
      <p:bldP spid="113" grpId="0" animBg="1"/>
      <p:bldP spid="114" grpId="0" animBg="1"/>
      <p:bldP spid="115" grpId="0" animBg="1"/>
      <p:bldP spid="116" grpId="0"/>
      <p:bldP spid="117" grpId="0"/>
      <p:bldP spid="118" grpId="0" animBg="1"/>
      <p:bldP spid="119" grpId="0" animBg="1"/>
      <p:bldP spid="120" grpId="0" animBg="1"/>
      <p:bldP spid="121" grpId="0"/>
      <p:bldP spid="122" grpId="0" animBg="1"/>
      <p:bldP spid="123" grpId="0"/>
      <p:bldP spid="124" grpId="0" animBg="1"/>
      <p:bldP spid="1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-controls_1"/>
          <p:cNvSpPr txBox="1"/>
          <p:nvPr/>
        </p:nvSpPr>
        <p:spPr>
          <a:xfrm>
            <a:off x="548640" y="396210"/>
            <a:ext cx="11140410" cy="464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Positive/negative controls</a:t>
            </a:r>
            <a:endParaRPr lang="en-US" sz="2880" dirty="0"/>
          </a:p>
        </p:txBody>
      </p:sp>
      <p:sp>
        <p:nvSpPr>
          <p:cNvPr id="3" name="te-controls_2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TSD rate shown to be significantly elevated above background</a:t>
            </a:r>
            <a:endParaRPr lang="en-US" sz="2544" dirty="0"/>
          </a:p>
        </p:txBody>
      </p:sp>
      <p:sp>
        <p:nvSpPr>
          <p:cNvPr id="4" name="te-controls_3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rate with length/chromosome matched MADE copies in the published annotation</a:t>
            </a:r>
            <a:endParaRPr lang="en-US" sz="2544" dirty="0"/>
          </a:p>
        </p:txBody>
      </p:sp>
      <p:sp>
        <p:nvSpPr>
          <p:cNvPr id="5" name="te-controls_4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Non-significant difference relative to existing copies</a:t>
            </a:r>
            <a:endParaRPr lang="en-US" sz="2544" dirty="0"/>
          </a:p>
        </p:txBody>
      </p:sp>
      <p:sp>
        <p:nvSpPr>
          <p:cNvPr id="6" name="te-controls_5"/>
          <p:cNvSpPr txBox="1"/>
          <p:nvPr/>
        </p:nvSpPr>
        <p:spPr>
          <a:xfrm>
            <a:off x="3794760" y="2837475"/>
            <a:ext cx="1254648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bp exact</a:t>
            </a:r>
            <a:endParaRPr lang="en-US" sz="1654" dirty="0"/>
          </a:p>
        </p:txBody>
      </p:sp>
      <p:sp>
        <p:nvSpPr>
          <p:cNvPr id="7" name="te-controls_6"/>
          <p:cNvSpPr txBox="1"/>
          <p:nvPr/>
        </p:nvSpPr>
        <p:spPr>
          <a:xfrm>
            <a:off x="1554114" y="3238530"/>
            <a:ext cx="20424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526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</a:t>
            </a:r>
            <a:pPr algn="r" indent="0" marL="0">
              <a:buNone/>
            </a:pPr>
            <a:r>
              <a:rPr lang="en-US" sz="1526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 = 378)</a:t>
            </a:r>
            <a:endParaRPr lang="en-US" sz="1526" dirty="0"/>
          </a:p>
        </p:txBody>
      </p:sp>
      <p:sp>
        <p:nvSpPr>
          <p:cNvPr id="8" name="te-controls_7"/>
          <p:cNvSpPr/>
          <p:nvPr/>
        </p:nvSpPr>
        <p:spPr>
          <a:xfrm>
            <a:off x="3810030" y="3215670"/>
            <a:ext cx="4572000" cy="274320"/>
          </a:xfrm>
          <a:prstGeom prst="roundRect">
            <a:avLst>
              <a:gd name="adj" fmla="val 11100"/>
            </a:avLst>
          </a:prstGeom>
          <a:solidFill>
            <a:srgbClr val="19222D"/>
          </a:solidFill>
          <a:ln/>
        </p:spPr>
      </p:sp>
      <p:sp>
        <p:nvSpPr>
          <p:cNvPr id="9" name="te-controls_8"/>
          <p:cNvSpPr/>
          <p:nvPr/>
        </p:nvSpPr>
        <p:spPr>
          <a:xfrm>
            <a:off x="3810030" y="3215670"/>
            <a:ext cx="266090" cy="274320"/>
          </a:xfrm>
          <a:prstGeom prst="roundRect">
            <a:avLst>
              <a:gd name="adj" fmla="val 11443"/>
            </a:avLst>
          </a:prstGeom>
          <a:solidFill>
            <a:srgbClr val="F9BE00"/>
          </a:solidFill>
          <a:ln/>
        </p:spPr>
      </p:sp>
      <p:sp>
        <p:nvSpPr>
          <p:cNvPr id="10" name="te-controls_9"/>
          <p:cNvSpPr/>
          <p:nvPr/>
        </p:nvSpPr>
        <p:spPr>
          <a:xfrm>
            <a:off x="4098981" y="3215670"/>
            <a:ext cx="4283050" cy="274320"/>
          </a:xfrm>
          <a:prstGeom prst="roundRect">
            <a:avLst>
              <a:gd name="adj" fmla="val 11100"/>
            </a:avLst>
          </a:prstGeom>
          <a:solidFill>
            <a:srgbClr val="187FC3"/>
          </a:solidFill>
          <a:ln/>
        </p:spPr>
      </p:sp>
      <p:sp>
        <p:nvSpPr>
          <p:cNvPr id="11" name="te-controls_10"/>
          <p:cNvSpPr txBox="1"/>
          <p:nvPr/>
        </p:nvSpPr>
        <p:spPr>
          <a:xfrm>
            <a:off x="8481060" y="3229021"/>
            <a:ext cx="845637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5.82%</a:t>
            </a:r>
            <a:endParaRPr lang="en-US" sz="1654" dirty="0"/>
          </a:p>
        </p:txBody>
      </p:sp>
      <p:sp>
        <p:nvSpPr>
          <p:cNvPr id="12" name="te-controls_11"/>
          <p:cNvSpPr txBox="1"/>
          <p:nvPr/>
        </p:nvSpPr>
        <p:spPr>
          <a:xfrm>
            <a:off x="1146018" y="3695730"/>
            <a:ext cx="24506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526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</a:t>
            </a:r>
            <a:pPr algn="r" indent="0" marL="0">
              <a:buNone/>
            </a:pPr>
            <a:r>
              <a:rPr lang="en-US" sz="1526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 = 3,780)</a:t>
            </a:r>
            <a:endParaRPr lang="en-US" sz="1526" dirty="0"/>
          </a:p>
        </p:txBody>
      </p:sp>
      <p:sp>
        <p:nvSpPr>
          <p:cNvPr id="13" name="te-controls_12"/>
          <p:cNvSpPr/>
          <p:nvPr/>
        </p:nvSpPr>
        <p:spPr>
          <a:xfrm>
            <a:off x="3810030" y="3672870"/>
            <a:ext cx="4572000" cy="274320"/>
          </a:xfrm>
          <a:prstGeom prst="roundRect">
            <a:avLst>
              <a:gd name="adj" fmla="val 11100"/>
            </a:avLst>
          </a:prstGeom>
          <a:solidFill>
            <a:srgbClr val="19222D"/>
          </a:solidFill>
          <a:ln/>
        </p:spPr>
      </p:sp>
      <p:sp>
        <p:nvSpPr>
          <p:cNvPr id="14" name="te-controls_13"/>
          <p:cNvSpPr/>
          <p:nvPr/>
        </p:nvSpPr>
        <p:spPr>
          <a:xfrm>
            <a:off x="3810030" y="3672870"/>
            <a:ext cx="22860" cy="274320"/>
          </a:xfrm>
          <a:prstGeom prst="roundRect">
            <a:avLst>
              <a:gd name="adj" fmla="val 50000"/>
            </a:avLst>
          </a:prstGeom>
          <a:solidFill>
            <a:srgbClr val="F9BE00"/>
          </a:solidFill>
          <a:ln/>
        </p:spPr>
      </p:sp>
      <p:sp>
        <p:nvSpPr>
          <p:cNvPr id="15" name="te-controls_14"/>
          <p:cNvSpPr/>
          <p:nvPr/>
        </p:nvSpPr>
        <p:spPr>
          <a:xfrm>
            <a:off x="3855750" y="3672870"/>
            <a:ext cx="4526280" cy="274320"/>
          </a:xfrm>
          <a:prstGeom prst="roundRect">
            <a:avLst>
              <a:gd name="adj" fmla="val 11100"/>
            </a:avLst>
          </a:prstGeom>
          <a:solidFill>
            <a:srgbClr val="187FC3"/>
          </a:solidFill>
          <a:ln/>
        </p:spPr>
      </p:sp>
      <p:sp>
        <p:nvSpPr>
          <p:cNvPr id="16" name="te-controls_15"/>
          <p:cNvSpPr txBox="1"/>
          <p:nvPr/>
        </p:nvSpPr>
        <p:spPr>
          <a:xfrm>
            <a:off x="8481060" y="3686221"/>
            <a:ext cx="862554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0.34%</a:t>
            </a:r>
            <a:endParaRPr lang="en-US" sz="1654" dirty="0"/>
          </a:p>
        </p:txBody>
      </p:sp>
      <p:sp>
        <p:nvSpPr>
          <p:cNvPr id="17" name="te-controls_16"/>
          <p:cNvSpPr txBox="1"/>
          <p:nvPr/>
        </p:nvSpPr>
        <p:spPr>
          <a:xfrm>
            <a:off x="3794760" y="4361505"/>
            <a:ext cx="1510589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bp window</a:t>
            </a:r>
            <a:endParaRPr lang="en-US" sz="1654" dirty="0"/>
          </a:p>
        </p:txBody>
      </p:sp>
      <p:sp>
        <p:nvSpPr>
          <p:cNvPr id="18" name="te-controls_17"/>
          <p:cNvSpPr txBox="1"/>
          <p:nvPr/>
        </p:nvSpPr>
        <p:spPr>
          <a:xfrm>
            <a:off x="1554114" y="4762470"/>
            <a:ext cx="20424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526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</a:t>
            </a:r>
            <a:pPr algn="r" indent="0" marL="0">
              <a:buNone/>
            </a:pPr>
            <a:r>
              <a:rPr lang="en-US" sz="1526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 = 378)</a:t>
            </a:r>
            <a:endParaRPr lang="en-US" sz="1526" dirty="0"/>
          </a:p>
        </p:txBody>
      </p:sp>
      <p:sp>
        <p:nvSpPr>
          <p:cNvPr id="19" name="te-controls_18"/>
          <p:cNvSpPr/>
          <p:nvPr/>
        </p:nvSpPr>
        <p:spPr>
          <a:xfrm>
            <a:off x="3810030" y="4739610"/>
            <a:ext cx="4572000" cy="274320"/>
          </a:xfrm>
          <a:prstGeom prst="roundRect">
            <a:avLst>
              <a:gd name="adj" fmla="val 11100"/>
            </a:avLst>
          </a:prstGeom>
          <a:solidFill>
            <a:srgbClr val="19222D"/>
          </a:solidFill>
          <a:ln/>
        </p:spPr>
      </p:sp>
      <p:sp>
        <p:nvSpPr>
          <p:cNvPr id="20" name="te-controls_19"/>
          <p:cNvSpPr/>
          <p:nvPr/>
        </p:nvSpPr>
        <p:spPr>
          <a:xfrm>
            <a:off x="3810030" y="4739610"/>
            <a:ext cx="1475842" cy="274320"/>
          </a:xfrm>
          <a:prstGeom prst="roundRect">
            <a:avLst>
              <a:gd name="adj" fmla="val 11100"/>
            </a:avLst>
          </a:prstGeom>
          <a:solidFill>
            <a:srgbClr val="F9BE00"/>
          </a:solidFill>
          <a:ln/>
        </p:spPr>
      </p:sp>
      <p:sp>
        <p:nvSpPr>
          <p:cNvPr id="21" name="te-controls_20"/>
          <p:cNvSpPr/>
          <p:nvPr/>
        </p:nvSpPr>
        <p:spPr>
          <a:xfrm>
            <a:off x="5308732" y="4739610"/>
            <a:ext cx="3073298" cy="274320"/>
          </a:xfrm>
          <a:prstGeom prst="roundRect">
            <a:avLst>
              <a:gd name="adj" fmla="val 11100"/>
            </a:avLst>
          </a:prstGeom>
          <a:solidFill>
            <a:srgbClr val="187FC3"/>
          </a:solidFill>
          <a:ln/>
        </p:spPr>
      </p:sp>
      <p:sp>
        <p:nvSpPr>
          <p:cNvPr id="22" name="te-controls_21"/>
          <p:cNvSpPr txBox="1"/>
          <p:nvPr/>
        </p:nvSpPr>
        <p:spPr>
          <a:xfrm>
            <a:off x="8481060" y="4752960"/>
            <a:ext cx="1000811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32.28%</a:t>
            </a:r>
            <a:endParaRPr lang="en-US" sz="1654" dirty="0"/>
          </a:p>
        </p:txBody>
      </p:sp>
      <p:sp>
        <p:nvSpPr>
          <p:cNvPr id="23" name="te-controls_22"/>
          <p:cNvSpPr txBox="1"/>
          <p:nvPr/>
        </p:nvSpPr>
        <p:spPr>
          <a:xfrm>
            <a:off x="1146018" y="5219670"/>
            <a:ext cx="24506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526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</a:t>
            </a:r>
            <a:pPr algn="r" indent="0" marL="0">
              <a:buNone/>
            </a:pPr>
            <a:r>
              <a:rPr lang="en-US" sz="1526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 = 3,780)</a:t>
            </a:r>
            <a:endParaRPr lang="en-US" sz="1526" dirty="0"/>
          </a:p>
        </p:txBody>
      </p:sp>
      <p:sp>
        <p:nvSpPr>
          <p:cNvPr id="24" name="te-controls_23"/>
          <p:cNvSpPr/>
          <p:nvPr/>
        </p:nvSpPr>
        <p:spPr>
          <a:xfrm>
            <a:off x="3810030" y="5196810"/>
            <a:ext cx="4572000" cy="274320"/>
          </a:xfrm>
          <a:prstGeom prst="roundRect">
            <a:avLst>
              <a:gd name="adj" fmla="val 11100"/>
            </a:avLst>
          </a:prstGeom>
          <a:solidFill>
            <a:srgbClr val="19222D"/>
          </a:solidFill>
          <a:ln/>
        </p:spPr>
      </p:sp>
      <p:sp>
        <p:nvSpPr>
          <p:cNvPr id="25" name="te-controls_24"/>
          <p:cNvSpPr/>
          <p:nvPr/>
        </p:nvSpPr>
        <p:spPr>
          <a:xfrm>
            <a:off x="3810030" y="5196810"/>
            <a:ext cx="441655" cy="274320"/>
          </a:xfrm>
          <a:prstGeom prst="roundRect">
            <a:avLst>
              <a:gd name="adj" fmla="val 11100"/>
            </a:avLst>
          </a:prstGeom>
          <a:solidFill>
            <a:srgbClr val="F9BE00"/>
          </a:solidFill>
          <a:ln/>
        </p:spPr>
      </p:sp>
      <p:sp>
        <p:nvSpPr>
          <p:cNvPr id="26" name="te-controls_25"/>
          <p:cNvSpPr/>
          <p:nvPr/>
        </p:nvSpPr>
        <p:spPr>
          <a:xfrm>
            <a:off x="4274546" y="5196810"/>
            <a:ext cx="4107485" cy="274320"/>
          </a:xfrm>
          <a:prstGeom prst="roundRect">
            <a:avLst>
              <a:gd name="adj" fmla="val 11100"/>
            </a:avLst>
          </a:prstGeom>
          <a:solidFill>
            <a:srgbClr val="187FC3"/>
          </a:solidFill>
          <a:ln/>
        </p:spPr>
      </p:sp>
      <p:sp>
        <p:nvSpPr>
          <p:cNvPr id="27" name="te-controls_26"/>
          <p:cNvSpPr txBox="1"/>
          <p:nvPr/>
        </p:nvSpPr>
        <p:spPr>
          <a:xfrm>
            <a:off x="8481060" y="5210160"/>
            <a:ext cx="850392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9.66%</a:t>
            </a:r>
            <a:endParaRPr lang="en-US" sz="1654" dirty="0"/>
          </a:p>
        </p:txBody>
      </p:sp>
      <p:sp>
        <p:nvSpPr>
          <p:cNvPr id="28" name="te-controls_27"/>
          <p:cNvSpPr/>
          <p:nvPr/>
        </p:nvSpPr>
        <p:spPr>
          <a:xfrm>
            <a:off x="9418320" y="3352830"/>
            <a:ext cx="106710" cy="457200"/>
          </a:xfrm>
          <a:custGeom>
            <a:avLst/>
            <a:gdLst/>
            <a:ahLst/>
            <a:cxnLst/>
            <a:rect l="l" t="t" r="r" b="b"/>
            <a:pathLst>
              <a:path w="106710" h="457200">
                <a:moveTo>
                  <a:pt x="0" y="0"/>
                </a:moveTo>
                <a:lnTo>
                  <a:pt x="106710" y="0"/>
                </a:lnTo>
                <a:lnTo>
                  <a:pt x="106710" y="457200"/>
                </a:lnTo>
                <a:lnTo>
                  <a:pt x="0" y="457200"/>
                </a:lnTo>
              </a:path>
            </a:pathLst>
          </a:custGeom>
          <a:ln w="19050">
            <a:solidFill>
              <a:srgbClr val="FFFFFF"/>
            </a:solidFill>
            <a:prstDash val="solid"/>
          </a:ln>
        </p:spPr>
      </p:sp>
      <p:sp>
        <p:nvSpPr>
          <p:cNvPr id="29" name="te-controls_28"/>
          <p:cNvSpPr txBox="1"/>
          <p:nvPr/>
        </p:nvSpPr>
        <p:spPr>
          <a:xfrm>
            <a:off x="9806117" y="3227100"/>
            <a:ext cx="1571305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Fisher’s exact test</a:t>
            </a:r>
            <a:endParaRPr lang="en-US" sz="1272" dirty="0"/>
          </a:p>
        </p:txBody>
      </p:sp>
      <p:sp>
        <p:nvSpPr>
          <p:cNvPr id="30" name="te-controls_29"/>
          <p:cNvSpPr txBox="1"/>
          <p:nvPr/>
        </p:nvSpPr>
        <p:spPr>
          <a:xfrm>
            <a:off x="9564990" y="3418393"/>
            <a:ext cx="2053742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3.36 × 10</a:t>
            </a:r>
            <a:pPr algn="ctr" indent="0" marL="0">
              <a:buNone/>
            </a:pPr>
            <a:r>
              <a:rPr lang="en-US" sz="1908" b="1" baseline="3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−15</a:t>
            </a:r>
            <a:endParaRPr lang="en-US" sz="1908" dirty="0"/>
          </a:p>
        </p:txBody>
      </p:sp>
      <p:sp>
        <p:nvSpPr>
          <p:cNvPr id="31" name="te-controls_30"/>
          <p:cNvSpPr/>
          <p:nvPr/>
        </p:nvSpPr>
        <p:spPr>
          <a:xfrm>
            <a:off x="9418320" y="4876770"/>
            <a:ext cx="106710" cy="457200"/>
          </a:xfrm>
          <a:custGeom>
            <a:avLst/>
            <a:gdLst/>
            <a:ahLst/>
            <a:cxnLst/>
            <a:rect l="l" t="t" r="r" b="b"/>
            <a:pathLst>
              <a:path w="106710" h="457200">
                <a:moveTo>
                  <a:pt x="0" y="0"/>
                </a:moveTo>
                <a:lnTo>
                  <a:pt x="106710" y="0"/>
                </a:lnTo>
                <a:lnTo>
                  <a:pt x="106710" y="457200"/>
                </a:lnTo>
                <a:lnTo>
                  <a:pt x="0" y="457200"/>
                </a:lnTo>
              </a:path>
            </a:pathLst>
          </a:custGeom>
          <a:ln w="19050">
            <a:solidFill>
              <a:srgbClr val="FFFFFF"/>
            </a:solidFill>
            <a:prstDash val="solid"/>
          </a:ln>
        </p:spPr>
      </p:sp>
      <p:sp>
        <p:nvSpPr>
          <p:cNvPr id="32" name="te-controls_31"/>
          <p:cNvSpPr txBox="1"/>
          <p:nvPr/>
        </p:nvSpPr>
        <p:spPr>
          <a:xfrm>
            <a:off x="9806117" y="4751040"/>
            <a:ext cx="1571305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Fisher’s exact test</a:t>
            </a:r>
            <a:endParaRPr lang="en-US" sz="1272" dirty="0"/>
          </a:p>
        </p:txBody>
      </p:sp>
      <p:sp>
        <p:nvSpPr>
          <p:cNvPr id="33" name="te-controls_32"/>
          <p:cNvSpPr txBox="1"/>
          <p:nvPr/>
        </p:nvSpPr>
        <p:spPr>
          <a:xfrm>
            <a:off x="9572122" y="4942423"/>
            <a:ext cx="2039386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1.09 × 10</a:t>
            </a:r>
            <a:pPr algn="ctr" indent="0" marL="0">
              <a:buNone/>
            </a:pPr>
            <a:r>
              <a:rPr lang="en-US" sz="1908" b="1" baseline="3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−29</a:t>
            </a:r>
            <a:endParaRPr lang="en-US" sz="1908" dirty="0"/>
          </a:p>
        </p:txBody>
      </p:sp>
      <p:sp>
        <p:nvSpPr>
          <p:cNvPr id="34" name="te-controls_33"/>
          <p:cNvSpPr/>
          <p:nvPr/>
        </p:nvSpPr>
        <p:spPr>
          <a:xfrm>
            <a:off x="5124480" y="5568696"/>
            <a:ext cx="4781580" cy="298734"/>
          </a:xfrm>
          <a:custGeom>
            <a:avLst/>
            <a:gdLst/>
            <a:ahLst/>
            <a:cxnLst/>
            <a:rect l="l" t="t" r="r" b="b"/>
            <a:pathLst>
              <a:path w="4781580" h="298734">
                <a:moveTo>
                  <a:pt x="0" y="298734"/>
                </a:moveTo>
                <a:lnTo>
                  <a:pt x="19020" y="0"/>
                </a:lnTo>
                <a:lnTo>
                  <a:pt x="42702" y="28164"/>
                </a:lnTo>
                <a:lnTo>
                  <a:pt x="66294" y="54864"/>
                </a:lnTo>
                <a:lnTo>
                  <a:pt x="90708" y="80010"/>
                </a:lnTo>
                <a:lnTo>
                  <a:pt x="114300" y="102138"/>
                </a:lnTo>
                <a:lnTo>
                  <a:pt x="137892" y="122712"/>
                </a:lnTo>
                <a:lnTo>
                  <a:pt x="161574" y="141732"/>
                </a:lnTo>
                <a:lnTo>
                  <a:pt x="185898" y="159288"/>
                </a:lnTo>
                <a:lnTo>
                  <a:pt x="209580" y="174468"/>
                </a:lnTo>
                <a:lnTo>
                  <a:pt x="233172" y="189006"/>
                </a:lnTo>
                <a:lnTo>
                  <a:pt x="256764" y="201900"/>
                </a:lnTo>
                <a:lnTo>
                  <a:pt x="281178" y="213330"/>
                </a:lnTo>
                <a:lnTo>
                  <a:pt x="304770" y="223296"/>
                </a:lnTo>
                <a:lnTo>
                  <a:pt x="328452" y="232440"/>
                </a:lnTo>
                <a:lnTo>
                  <a:pt x="352044" y="240762"/>
                </a:lnTo>
                <a:lnTo>
                  <a:pt x="376458" y="248442"/>
                </a:lnTo>
                <a:lnTo>
                  <a:pt x="400050" y="254478"/>
                </a:lnTo>
                <a:lnTo>
                  <a:pt x="423642" y="260604"/>
                </a:lnTo>
                <a:lnTo>
                  <a:pt x="447324" y="265908"/>
                </a:lnTo>
                <a:lnTo>
                  <a:pt x="471648" y="270480"/>
                </a:lnTo>
                <a:lnTo>
                  <a:pt x="495330" y="274320"/>
                </a:lnTo>
                <a:lnTo>
                  <a:pt x="518922" y="277338"/>
                </a:lnTo>
                <a:lnTo>
                  <a:pt x="542514" y="280446"/>
                </a:lnTo>
                <a:lnTo>
                  <a:pt x="566928" y="283464"/>
                </a:lnTo>
                <a:lnTo>
                  <a:pt x="590520" y="285750"/>
                </a:lnTo>
                <a:lnTo>
                  <a:pt x="614202" y="287304"/>
                </a:lnTo>
                <a:lnTo>
                  <a:pt x="637794" y="288768"/>
                </a:lnTo>
                <a:lnTo>
                  <a:pt x="662208" y="290322"/>
                </a:lnTo>
                <a:lnTo>
                  <a:pt x="685800" y="291876"/>
                </a:lnTo>
                <a:lnTo>
                  <a:pt x="709392" y="292608"/>
                </a:lnTo>
                <a:lnTo>
                  <a:pt x="733074" y="294162"/>
                </a:lnTo>
                <a:lnTo>
                  <a:pt x="757398" y="294894"/>
                </a:lnTo>
                <a:lnTo>
                  <a:pt x="781080" y="295626"/>
                </a:lnTo>
                <a:lnTo>
                  <a:pt x="804672" y="295626"/>
                </a:lnTo>
                <a:lnTo>
                  <a:pt x="828264" y="296448"/>
                </a:lnTo>
                <a:lnTo>
                  <a:pt x="852678" y="296448"/>
                </a:lnTo>
                <a:lnTo>
                  <a:pt x="876270" y="297180"/>
                </a:lnTo>
                <a:lnTo>
                  <a:pt x="899952" y="297180"/>
                </a:lnTo>
                <a:lnTo>
                  <a:pt x="923544" y="297912"/>
                </a:lnTo>
                <a:lnTo>
                  <a:pt x="947958" y="297912"/>
                </a:lnTo>
                <a:lnTo>
                  <a:pt x="971550" y="297912"/>
                </a:lnTo>
                <a:lnTo>
                  <a:pt x="995142" y="297912"/>
                </a:lnTo>
                <a:lnTo>
                  <a:pt x="1018824" y="297912"/>
                </a:lnTo>
                <a:lnTo>
                  <a:pt x="1043148" y="297912"/>
                </a:lnTo>
                <a:lnTo>
                  <a:pt x="1066830" y="298734"/>
                </a:lnTo>
                <a:lnTo>
                  <a:pt x="1090422" y="298734"/>
                </a:lnTo>
                <a:lnTo>
                  <a:pt x="1114014" y="298734"/>
                </a:lnTo>
                <a:lnTo>
                  <a:pt x="1138428" y="298734"/>
                </a:lnTo>
                <a:lnTo>
                  <a:pt x="1162020" y="298734"/>
                </a:lnTo>
                <a:lnTo>
                  <a:pt x="1185702" y="298734"/>
                </a:lnTo>
                <a:lnTo>
                  <a:pt x="1209294" y="298734"/>
                </a:lnTo>
                <a:lnTo>
                  <a:pt x="1233708" y="298734"/>
                </a:lnTo>
                <a:lnTo>
                  <a:pt x="1257300" y="298734"/>
                </a:lnTo>
                <a:lnTo>
                  <a:pt x="1280892" y="298734"/>
                </a:lnTo>
                <a:lnTo>
                  <a:pt x="1304574" y="298734"/>
                </a:lnTo>
                <a:lnTo>
                  <a:pt x="1328898" y="298734"/>
                </a:lnTo>
                <a:lnTo>
                  <a:pt x="1352580" y="298734"/>
                </a:lnTo>
                <a:lnTo>
                  <a:pt x="1376172" y="298734"/>
                </a:lnTo>
                <a:lnTo>
                  <a:pt x="1399764" y="298734"/>
                </a:lnTo>
                <a:lnTo>
                  <a:pt x="1424178" y="298734"/>
                </a:lnTo>
                <a:lnTo>
                  <a:pt x="1447770" y="298734"/>
                </a:lnTo>
                <a:lnTo>
                  <a:pt x="1471452" y="298734"/>
                </a:lnTo>
                <a:lnTo>
                  <a:pt x="1495044" y="298734"/>
                </a:lnTo>
                <a:lnTo>
                  <a:pt x="1519458" y="298734"/>
                </a:lnTo>
                <a:lnTo>
                  <a:pt x="1543050" y="298734"/>
                </a:lnTo>
                <a:lnTo>
                  <a:pt x="1566642" y="298734"/>
                </a:lnTo>
                <a:lnTo>
                  <a:pt x="1590324" y="298734"/>
                </a:lnTo>
                <a:lnTo>
                  <a:pt x="1614648" y="298734"/>
                </a:lnTo>
                <a:lnTo>
                  <a:pt x="1638330" y="298734"/>
                </a:lnTo>
                <a:lnTo>
                  <a:pt x="1661922" y="298734"/>
                </a:lnTo>
                <a:lnTo>
                  <a:pt x="1685514" y="298734"/>
                </a:lnTo>
                <a:lnTo>
                  <a:pt x="1709928" y="298734"/>
                </a:lnTo>
                <a:lnTo>
                  <a:pt x="1733520" y="298734"/>
                </a:lnTo>
                <a:lnTo>
                  <a:pt x="1757202" y="298734"/>
                </a:lnTo>
                <a:lnTo>
                  <a:pt x="1780794" y="298734"/>
                </a:lnTo>
                <a:lnTo>
                  <a:pt x="1805208" y="298734"/>
                </a:lnTo>
                <a:lnTo>
                  <a:pt x="1828800" y="298734"/>
                </a:lnTo>
                <a:lnTo>
                  <a:pt x="1852392" y="298734"/>
                </a:lnTo>
                <a:lnTo>
                  <a:pt x="1876074" y="298734"/>
                </a:lnTo>
                <a:lnTo>
                  <a:pt x="1900398" y="298734"/>
                </a:lnTo>
                <a:lnTo>
                  <a:pt x="1924080" y="298734"/>
                </a:lnTo>
                <a:lnTo>
                  <a:pt x="1947672" y="298734"/>
                </a:lnTo>
                <a:lnTo>
                  <a:pt x="1971264" y="298734"/>
                </a:lnTo>
                <a:lnTo>
                  <a:pt x="1995678" y="298734"/>
                </a:lnTo>
                <a:lnTo>
                  <a:pt x="2019270" y="298734"/>
                </a:lnTo>
                <a:lnTo>
                  <a:pt x="2042952" y="298734"/>
                </a:lnTo>
                <a:lnTo>
                  <a:pt x="2066544" y="298734"/>
                </a:lnTo>
                <a:lnTo>
                  <a:pt x="2090958" y="298734"/>
                </a:lnTo>
                <a:lnTo>
                  <a:pt x="2114550" y="298734"/>
                </a:lnTo>
                <a:lnTo>
                  <a:pt x="2138142" y="298734"/>
                </a:lnTo>
                <a:lnTo>
                  <a:pt x="2161824" y="298734"/>
                </a:lnTo>
                <a:lnTo>
                  <a:pt x="2186148" y="298734"/>
                </a:lnTo>
                <a:lnTo>
                  <a:pt x="2209830" y="298734"/>
                </a:lnTo>
                <a:lnTo>
                  <a:pt x="2233422" y="298734"/>
                </a:lnTo>
                <a:lnTo>
                  <a:pt x="2257014" y="298734"/>
                </a:lnTo>
                <a:lnTo>
                  <a:pt x="2281428" y="298734"/>
                </a:lnTo>
                <a:lnTo>
                  <a:pt x="2305020" y="298734"/>
                </a:lnTo>
                <a:lnTo>
                  <a:pt x="2328702" y="298734"/>
                </a:lnTo>
                <a:lnTo>
                  <a:pt x="2352294" y="298734"/>
                </a:lnTo>
                <a:lnTo>
                  <a:pt x="2376708" y="298734"/>
                </a:lnTo>
                <a:lnTo>
                  <a:pt x="2400300" y="298734"/>
                </a:lnTo>
                <a:lnTo>
                  <a:pt x="2423892" y="298734"/>
                </a:lnTo>
                <a:lnTo>
                  <a:pt x="2447574" y="298734"/>
                </a:lnTo>
                <a:lnTo>
                  <a:pt x="2471898" y="298734"/>
                </a:lnTo>
                <a:lnTo>
                  <a:pt x="2495580" y="298734"/>
                </a:lnTo>
                <a:lnTo>
                  <a:pt x="2519172" y="298734"/>
                </a:lnTo>
                <a:lnTo>
                  <a:pt x="2542764" y="298734"/>
                </a:lnTo>
                <a:lnTo>
                  <a:pt x="2567178" y="298734"/>
                </a:lnTo>
                <a:lnTo>
                  <a:pt x="2590770" y="298734"/>
                </a:lnTo>
                <a:lnTo>
                  <a:pt x="2614452" y="298734"/>
                </a:lnTo>
                <a:lnTo>
                  <a:pt x="2638044" y="298734"/>
                </a:lnTo>
                <a:lnTo>
                  <a:pt x="2662458" y="298734"/>
                </a:lnTo>
                <a:lnTo>
                  <a:pt x="2686050" y="298734"/>
                </a:lnTo>
                <a:lnTo>
                  <a:pt x="2709642" y="298734"/>
                </a:lnTo>
                <a:lnTo>
                  <a:pt x="2733324" y="298734"/>
                </a:lnTo>
                <a:lnTo>
                  <a:pt x="2757648" y="298734"/>
                </a:lnTo>
                <a:lnTo>
                  <a:pt x="2781330" y="298734"/>
                </a:lnTo>
                <a:lnTo>
                  <a:pt x="2804922" y="298734"/>
                </a:lnTo>
                <a:lnTo>
                  <a:pt x="2828514" y="298734"/>
                </a:lnTo>
                <a:lnTo>
                  <a:pt x="2852928" y="298734"/>
                </a:lnTo>
                <a:lnTo>
                  <a:pt x="2876520" y="298734"/>
                </a:lnTo>
                <a:lnTo>
                  <a:pt x="2900202" y="298734"/>
                </a:lnTo>
                <a:lnTo>
                  <a:pt x="2923794" y="298734"/>
                </a:lnTo>
                <a:lnTo>
                  <a:pt x="2948208" y="298734"/>
                </a:lnTo>
                <a:lnTo>
                  <a:pt x="2971800" y="298734"/>
                </a:lnTo>
                <a:lnTo>
                  <a:pt x="2995392" y="298734"/>
                </a:lnTo>
                <a:lnTo>
                  <a:pt x="3019074" y="298734"/>
                </a:lnTo>
                <a:lnTo>
                  <a:pt x="3043398" y="298734"/>
                </a:lnTo>
                <a:lnTo>
                  <a:pt x="3067080" y="298734"/>
                </a:lnTo>
                <a:lnTo>
                  <a:pt x="3090672" y="298734"/>
                </a:lnTo>
                <a:lnTo>
                  <a:pt x="3114264" y="298734"/>
                </a:lnTo>
                <a:lnTo>
                  <a:pt x="3138678" y="298734"/>
                </a:lnTo>
                <a:lnTo>
                  <a:pt x="3162270" y="298734"/>
                </a:lnTo>
                <a:lnTo>
                  <a:pt x="3185952" y="298734"/>
                </a:lnTo>
                <a:lnTo>
                  <a:pt x="3209544" y="298734"/>
                </a:lnTo>
                <a:lnTo>
                  <a:pt x="3233958" y="298734"/>
                </a:lnTo>
                <a:lnTo>
                  <a:pt x="3257550" y="298734"/>
                </a:lnTo>
                <a:lnTo>
                  <a:pt x="3281142" y="298734"/>
                </a:lnTo>
                <a:lnTo>
                  <a:pt x="3304824" y="298734"/>
                </a:lnTo>
                <a:lnTo>
                  <a:pt x="3329148" y="298734"/>
                </a:lnTo>
                <a:lnTo>
                  <a:pt x="3352830" y="298734"/>
                </a:lnTo>
                <a:lnTo>
                  <a:pt x="3376422" y="298734"/>
                </a:lnTo>
                <a:lnTo>
                  <a:pt x="3400014" y="298734"/>
                </a:lnTo>
                <a:lnTo>
                  <a:pt x="3424428" y="298734"/>
                </a:lnTo>
                <a:lnTo>
                  <a:pt x="3448020" y="298734"/>
                </a:lnTo>
                <a:lnTo>
                  <a:pt x="3471702" y="298734"/>
                </a:lnTo>
                <a:lnTo>
                  <a:pt x="3495294" y="298734"/>
                </a:lnTo>
                <a:lnTo>
                  <a:pt x="3519708" y="298734"/>
                </a:lnTo>
                <a:lnTo>
                  <a:pt x="3543300" y="298734"/>
                </a:lnTo>
                <a:lnTo>
                  <a:pt x="3566892" y="298734"/>
                </a:lnTo>
                <a:lnTo>
                  <a:pt x="3590574" y="298734"/>
                </a:lnTo>
                <a:lnTo>
                  <a:pt x="3614898" y="298734"/>
                </a:lnTo>
                <a:lnTo>
                  <a:pt x="3638580" y="298734"/>
                </a:lnTo>
                <a:lnTo>
                  <a:pt x="3662172" y="298734"/>
                </a:lnTo>
                <a:lnTo>
                  <a:pt x="3686586" y="298734"/>
                </a:lnTo>
                <a:lnTo>
                  <a:pt x="3710178" y="298734"/>
                </a:lnTo>
                <a:lnTo>
                  <a:pt x="3733770" y="298734"/>
                </a:lnTo>
                <a:lnTo>
                  <a:pt x="3757452" y="298734"/>
                </a:lnTo>
                <a:lnTo>
                  <a:pt x="3781776" y="298734"/>
                </a:lnTo>
                <a:lnTo>
                  <a:pt x="3805458" y="298734"/>
                </a:lnTo>
                <a:lnTo>
                  <a:pt x="3829050" y="298734"/>
                </a:lnTo>
                <a:lnTo>
                  <a:pt x="3852642" y="298734"/>
                </a:lnTo>
                <a:lnTo>
                  <a:pt x="3877056" y="298734"/>
                </a:lnTo>
                <a:lnTo>
                  <a:pt x="3900648" y="298734"/>
                </a:lnTo>
                <a:lnTo>
                  <a:pt x="3924330" y="298734"/>
                </a:lnTo>
                <a:lnTo>
                  <a:pt x="3947922" y="298734"/>
                </a:lnTo>
                <a:lnTo>
                  <a:pt x="3972336" y="298734"/>
                </a:lnTo>
                <a:lnTo>
                  <a:pt x="3995928" y="298734"/>
                </a:lnTo>
                <a:lnTo>
                  <a:pt x="4019520" y="298734"/>
                </a:lnTo>
                <a:lnTo>
                  <a:pt x="4043202" y="298734"/>
                </a:lnTo>
                <a:lnTo>
                  <a:pt x="4067526" y="298734"/>
                </a:lnTo>
                <a:lnTo>
                  <a:pt x="4091208" y="298734"/>
                </a:lnTo>
                <a:lnTo>
                  <a:pt x="4114800" y="298734"/>
                </a:lnTo>
                <a:lnTo>
                  <a:pt x="4138392" y="298734"/>
                </a:lnTo>
                <a:lnTo>
                  <a:pt x="4162806" y="298734"/>
                </a:lnTo>
                <a:lnTo>
                  <a:pt x="4186398" y="298734"/>
                </a:lnTo>
                <a:lnTo>
                  <a:pt x="4210080" y="298734"/>
                </a:lnTo>
                <a:lnTo>
                  <a:pt x="4233672" y="298734"/>
                </a:lnTo>
                <a:lnTo>
                  <a:pt x="4258086" y="298734"/>
                </a:lnTo>
                <a:lnTo>
                  <a:pt x="4281678" y="298734"/>
                </a:lnTo>
                <a:lnTo>
                  <a:pt x="4305270" y="298734"/>
                </a:lnTo>
                <a:lnTo>
                  <a:pt x="4328952" y="298734"/>
                </a:lnTo>
                <a:lnTo>
                  <a:pt x="4353276" y="298734"/>
                </a:lnTo>
                <a:lnTo>
                  <a:pt x="4376958" y="298734"/>
                </a:lnTo>
                <a:lnTo>
                  <a:pt x="4400550" y="298734"/>
                </a:lnTo>
                <a:lnTo>
                  <a:pt x="4424142" y="298734"/>
                </a:lnTo>
                <a:lnTo>
                  <a:pt x="4448556" y="298734"/>
                </a:lnTo>
                <a:lnTo>
                  <a:pt x="4472148" y="298734"/>
                </a:lnTo>
                <a:lnTo>
                  <a:pt x="4495830" y="298734"/>
                </a:lnTo>
                <a:lnTo>
                  <a:pt x="4519422" y="298734"/>
                </a:lnTo>
                <a:lnTo>
                  <a:pt x="4543836" y="298734"/>
                </a:lnTo>
                <a:lnTo>
                  <a:pt x="4567428" y="298734"/>
                </a:lnTo>
                <a:lnTo>
                  <a:pt x="4591020" y="298734"/>
                </a:lnTo>
                <a:lnTo>
                  <a:pt x="4614702" y="298734"/>
                </a:lnTo>
                <a:lnTo>
                  <a:pt x="4639026" y="298734"/>
                </a:lnTo>
                <a:lnTo>
                  <a:pt x="4662708" y="298734"/>
                </a:lnTo>
                <a:lnTo>
                  <a:pt x="4686300" y="298734"/>
                </a:lnTo>
                <a:lnTo>
                  <a:pt x="4709892" y="298734"/>
                </a:lnTo>
                <a:lnTo>
                  <a:pt x="4734306" y="298734"/>
                </a:lnTo>
                <a:lnTo>
                  <a:pt x="4757898" y="298734"/>
                </a:lnTo>
                <a:lnTo>
                  <a:pt x="4781580" y="298734"/>
                </a:lnTo>
                <a:lnTo>
                  <a:pt x="4781580" y="298734"/>
                </a:lnTo>
                <a:close/>
              </a:path>
            </a:pathLst>
          </a:custGeom>
          <a:solidFill>
            <a:srgbClr val="FFFFFF">
              <a:alpha val="12000"/>
            </a:srgbClr>
          </a:solidFill>
          <a:ln/>
        </p:spPr>
      </p:sp>
      <p:sp>
        <p:nvSpPr>
          <p:cNvPr id="35" name="te-controls_34"/>
          <p:cNvSpPr/>
          <p:nvPr/>
        </p:nvSpPr>
        <p:spPr>
          <a:xfrm>
            <a:off x="2286000" y="3657600"/>
            <a:ext cx="7619970" cy="2209830"/>
          </a:xfrm>
          <a:custGeom>
            <a:avLst/>
            <a:gdLst/>
            <a:ahLst/>
            <a:cxnLst/>
            <a:rect l="l" t="t" r="r" b="b"/>
            <a:pathLst>
              <a:path w="7619970" h="2209830">
                <a:moveTo>
                  <a:pt x="0" y="2209008"/>
                </a:moveTo>
                <a:lnTo>
                  <a:pt x="23592" y="2209008"/>
                </a:lnTo>
                <a:lnTo>
                  <a:pt x="48006" y="2209008"/>
                </a:lnTo>
                <a:lnTo>
                  <a:pt x="71598" y="2208276"/>
                </a:lnTo>
                <a:lnTo>
                  <a:pt x="95280" y="2208276"/>
                </a:lnTo>
                <a:lnTo>
                  <a:pt x="118872" y="2207544"/>
                </a:lnTo>
                <a:lnTo>
                  <a:pt x="142464" y="2207544"/>
                </a:lnTo>
                <a:lnTo>
                  <a:pt x="166878" y="2206722"/>
                </a:lnTo>
                <a:lnTo>
                  <a:pt x="190470" y="2206722"/>
                </a:lnTo>
                <a:lnTo>
                  <a:pt x="214152" y="2205990"/>
                </a:lnTo>
                <a:lnTo>
                  <a:pt x="237744" y="2205258"/>
                </a:lnTo>
                <a:lnTo>
                  <a:pt x="262158" y="2203704"/>
                </a:lnTo>
                <a:lnTo>
                  <a:pt x="285750" y="2202972"/>
                </a:lnTo>
                <a:lnTo>
                  <a:pt x="309342" y="2201418"/>
                </a:lnTo>
                <a:lnTo>
                  <a:pt x="333024" y="2199864"/>
                </a:lnTo>
                <a:lnTo>
                  <a:pt x="357348" y="2198400"/>
                </a:lnTo>
                <a:lnTo>
                  <a:pt x="381030" y="2196846"/>
                </a:lnTo>
                <a:lnTo>
                  <a:pt x="404622" y="2194560"/>
                </a:lnTo>
                <a:lnTo>
                  <a:pt x="428214" y="2191542"/>
                </a:lnTo>
                <a:lnTo>
                  <a:pt x="452628" y="2188434"/>
                </a:lnTo>
                <a:lnTo>
                  <a:pt x="476220" y="2185416"/>
                </a:lnTo>
                <a:lnTo>
                  <a:pt x="499902" y="2181576"/>
                </a:lnTo>
                <a:lnTo>
                  <a:pt x="523494" y="2177004"/>
                </a:lnTo>
                <a:lnTo>
                  <a:pt x="547908" y="2171700"/>
                </a:lnTo>
                <a:lnTo>
                  <a:pt x="571500" y="2165574"/>
                </a:lnTo>
                <a:lnTo>
                  <a:pt x="595092" y="2159538"/>
                </a:lnTo>
                <a:lnTo>
                  <a:pt x="618774" y="2151858"/>
                </a:lnTo>
                <a:lnTo>
                  <a:pt x="643098" y="2143536"/>
                </a:lnTo>
                <a:lnTo>
                  <a:pt x="666780" y="2134392"/>
                </a:lnTo>
                <a:lnTo>
                  <a:pt x="690372" y="2124426"/>
                </a:lnTo>
                <a:lnTo>
                  <a:pt x="713964" y="2112996"/>
                </a:lnTo>
                <a:lnTo>
                  <a:pt x="738378" y="2100102"/>
                </a:lnTo>
                <a:lnTo>
                  <a:pt x="761970" y="2085564"/>
                </a:lnTo>
                <a:lnTo>
                  <a:pt x="785652" y="2070384"/>
                </a:lnTo>
                <a:lnTo>
                  <a:pt x="809244" y="2052828"/>
                </a:lnTo>
                <a:lnTo>
                  <a:pt x="833658" y="2033808"/>
                </a:lnTo>
                <a:lnTo>
                  <a:pt x="857250" y="2013234"/>
                </a:lnTo>
                <a:lnTo>
                  <a:pt x="880842" y="1991106"/>
                </a:lnTo>
                <a:lnTo>
                  <a:pt x="904524" y="1965960"/>
                </a:lnTo>
                <a:lnTo>
                  <a:pt x="928848" y="1939260"/>
                </a:lnTo>
                <a:lnTo>
                  <a:pt x="952530" y="1911096"/>
                </a:lnTo>
                <a:lnTo>
                  <a:pt x="976122" y="1879824"/>
                </a:lnTo>
                <a:lnTo>
                  <a:pt x="999714" y="1846356"/>
                </a:lnTo>
                <a:lnTo>
                  <a:pt x="1024128" y="1810512"/>
                </a:lnTo>
                <a:lnTo>
                  <a:pt x="1047720" y="1772382"/>
                </a:lnTo>
                <a:lnTo>
                  <a:pt x="1071402" y="1732056"/>
                </a:lnTo>
                <a:lnTo>
                  <a:pt x="1094994" y="1688622"/>
                </a:lnTo>
                <a:lnTo>
                  <a:pt x="1119408" y="1643634"/>
                </a:lnTo>
                <a:lnTo>
                  <a:pt x="1143000" y="1595628"/>
                </a:lnTo>
                <a:lnTo>
                  <a:pt x="1166592" y="1545336"/>
                </a:lnTo>
                <a:lnTo>
                  <a:pt x="1190274" y="1492758"/>
                </a:lnTo>
                <a:lnTo>
                  <a:pt x="1214598" y="1437162"/>
                </a:lnTo>
                <a:lnTo>
                  <a:pt x="1238280" y="1380744"/>
                </a:lnTo>
                <a:lnTo>
                  <a:pt x="1261872" y="1321308"/>
                </a:lnTo>
                <a:lnTo>
                  <a:pt x="1285464" y="1260318"/>
                </a:lnTo>
                <a:lnTo>
                  <a:pt x="1309878" y="1197864"/>
                </a:lnTo>
                <a:lnTo>
                  <a:pt x="1333470" y="1133856"/>
                </a:lnTo>
                <a:lnTo>
                  <a:pt x="1357152" y="1069116"/>
                </a:lnTo>
                <a:lnTo>
                  <a:pt x="1380744" y="1002822"/>
                </a:lnTo>
                <a:lnTo>
                  <a:pt x="1405158" y="936528"/>
                </a:lnTo>
                <a:lnTo>
                  <a:pt x="1428750" y="869412"/>
                </a:lnTo>
                <a:lnTo>
                  <a:pt x="1452342" y="802386"/>
                </a:lnTo>
                <a:lnTo>
                  <a:pt x="1476024" y="736092"/>
                </a:lnTo>
                <a:lnTo>
                  <a:pt x="1500348" y="669798"/>
                </a:lnTo>
                <a:lnTo>
                  <a:pt x="1524030" y="605058"/>
                </a:lnTo>
                <a:lnTo>
                  <a:pt x="1547622" y="541782"/>
                </a:lnTo>
                <a:lnTo>
                  <a:pt x="1571214" y="480060"/>
                </a:lnTo>
                <a:lnTo>
                  <a:pt x="1595628" y="420624"/>
                </a:lnTo>
                <a:lnTo>
                  <a:pt x="1619220" y="364206"/>
                </a:lnTo>
                <a:lnTo>
                  <a:pt x="1642902" y="310164"/>
                </a:lnTo>
                <a:lnTo>
                  <a:pt x="1666494" y="259872"/>
                </a:lnTo>
                <a:lnTo>
                  <a:pt x="1690908" y="212598"/>
                </a:lnTo>
                <a:lnTo>
                  <a:pt x="1714500" y="169896"/>
                </a:lnTo>
                <a:lnTo>
                  <a:pt x="1738092" y="131034"/>
                </a:lnTo>
                <a:lnTo>
                  <a:pt x="1761774" y="97566"/>
                </a:lnTo>
                <a:lnTo>
                  <a:pt x="1786098" y="67848"/>
                </a:lnTo>
                <a:lnTo>
                  <a:pt x="1809780" y="43434"/>
                </a:lnTo>
                <a:lnTo>
                  <a:pt x="1833372" y="24414"/>
                </a:lnTo>
                <a:lnTo>
                  <a:pt x="1856964" y="10698"/>
                </a:lnTo>
                <a:lnTo>
                  <a:pt x="1881378" y="3018"/>
                </a:lnTo>
                <a:lnTo>
                  <a:pt x="1904970" y="0"/>
                </a:lnTo>
                <a:lnTo>
                  <a:pt x="1928652" y="3018"/>
                </a:lnTo>
                <a:lnTo>
                  <a:pt x="1952244" y="10698"/>
                </a:lnTo>
                <a:lnTo>
                  <a:pt x="1976658" y="24414"/>
                </a:lnTo>
                <a:lnTo>
                  <a:pt x="2000250" y="43434"/>
                </a:lnTo>
                <a:lnTo>
                  <a:pt x="2023842" y="67848"/>
                </a:lnTo>
                <a:lnTo>
                  <a:pt x="2047524" y="97566"/>
                </a:lnTo>
                <a:lnTo>
                  <a:pt x="2071848" y="131034"/>
                </a:lnTo>
                <a:lnTo>
                  <a:pt x="2095530" y="169896"/>
                </a:lnTo>
                <a:lnTo>
                  <a:pt x="2119122" y="212598"/>
                </a:lnTo>
                <a:lnTo>
                  <a:pt x="2142714" y="259872"/>
                </a:lnTo>
                <a:lnTo>
                  <a:pt x="2167128" y="310164"/>
                </a:lnTo>
                <a:lnTo>
                  <a:pt x="2190720" y="364206"/>
                </a:lnTo>
                <a:lnTo>
                  <a:pt x="2214402" y="420624"/>
                </a:lnTo>
                <a:lnTo>
                  <a:pt x="2237994" y="480060"/>
                </a:lnTo>
                <a:lnTo>
                  <a:pt x="2262408" y="541782"/>
                </a:lnTo>
                <a:lnTo>
                  <a:pt x="2286000" y="605058"/>
                </a:lnTo>
                <a:lnTo>
                  <a:pt x="2309592" y="669798"/>
                </a:lnTo>
                <a:lnTo>
                  <a:pt x="2333274" y="736092"/>
                </a:lnTo>
                <a:lnTo>
                  <a:pt x="2357598" y="802386"/>
                </a:lnTo>
                <a:lnTo>
                  <a:pt x="2381280" y="869412"/>
                </a:lnTo>
                <a:lnTo>
                  <a:pt x="2404872" y="936528"/>
                </a:lnTo>
                <a:lnTo>
                  <a:pt x="2428464" y="1002822"/>
                </a:lnTo>
                <a:lnTo>
                  <a:pt x="2452878" y="1069116"/>
                </a:lnTo>
                <a:lnTo>
                  <a:pt x="2476470" y="1133856"/>
                </a:lnTo>
                <a:lnTo>
                  <a:pt x="2500152" y="1197864"/>
                </a:lnTo>
                <a:lnTo>
                  <a:pt x="2523744" y="1260318"/>
                </a:lnTo>
                <a:lnTo>
                  <a:pt x="2548158" y="1321308"/>
                </a:lnTo>
                <a:lnTo>
                  <a:pt x="2571750" y="1380744"/>
                </a:lnTo>
                <a:lnTo>
                  <a:pt x="2595342" y="1437162"/>
                </a:lnTo>
                <a:lnTo>
                  <a:pt x="2619024" y="1492758"/>
                </a:lnTo>
                <a:lnTo>
                  <a:pt x="2643348" y="1545336"/>
                </a:lnTo>
                <a:lnTo>
                  <a:pt x="2667030" y="1595628"/>
                </a:lnTo>
                <a:lnTo>
                  <a:pt x="2690622" y="1643634"/>
                </a:lnTo>
                <a:lnTo>
                  <a:pt x="2714214" y="1688622"/>
                </a:lnTo>
                <a:lnTo>
                  <a:pt x="2738628" y="1732056"/>
                </a:lnTo>
                <a:lnTo>
                  <a:pt x="2762220" y="1772382"/>
                </a:lnTo>
                <a:lnTo>
                  <a:pt x="2785902" y="1810512"/>
                </a:lnTo>
                <a:lnTo>
                  <a:pt x="2809494" y="1846356"/>
                </a:lnTo>
                <a:lnTo>
                  <a:pt x="2833908" y="1879824"/>
                </a:lnTo>
                <a:lnTo>
                  <a:pt x="2857500" y="1911096"/>
                </a:lnTo>
                <a:lnTo>
                  <a:pt x="2881092" y="1939260"/>
                </a:lnTo>
                <a:lnTo>
                  <a:pt x="2904774" y="1965960"/>
                </a:lnTo>
                <a:lnTo>
                  <a:pt x="2929098" y="1991106"/>
                </a:lnTo>
                <a:lnTo>
                  <a:pt x="2952780" y="2013234"/>
                </a:lnTo>
                <a:lnTo>
                  <a:pt x="2976372" y="2033808"/>
                </a:lnTo>
                <a:lnTo>
                  <a:pt x="2999964" y="2052828"/>
                </a:lnTo>
                <a:lnTo>
                  <a:pt x="3024378" y="2070384"/>
                </a:lnTo>
                <a:lnTo>
                  <a:pt x="3047970" y="2085564"/>
                </a:lnTo>
                <a:lnTo>
                  <a:pt x="3071652" y="2100102"/>
                </a:lnTo>
                <a:lnTo>
                  <a:pt x="3095244" y="2112996"/>
                </a:lnTo>
                <a:lnTo>
                  <a:pt x="3119658" y="2124426"/>
                </a:lnTo>
                <a:lnTo>
                  <a:pt x="3143250" y="2134392"/>
                </a:lnTo>
                <a:lnTo>
                  <a:pt x="3166842" y="2143536"/>
                </a:lnTo>
                <a:lnTo>
                  <a:pt x="3190524" y="2151858"/>
                </a:lnTo>
                <a:lnTo>
                  <a:pt x="3214848" y="2159538"/>
                </a:lnTo>
                <a:lnTo>
                  <a:pt x="3238530" y="2165574"/>
                </a:lnTo>
                <a:lnTo>
                  <a:pt x="3262122" y="2171700"/>
                </a:lnTo>
                <a:lnTo>
                  <a:pt x="3285714" y="2177004"/>
                </a:lnTo>
                <a:lnTo>
                  <a:pt x="3310128" y="2181576"/>
                </a:lnTo>
                <a:lnTo>
                  <a:pt x="3333720" y="2185416"/>
                </a:lnTo>
                <a:lnTo>
                  <a:pt x="3357402" y="2188434"/>
                </a:lnTo>
                <a:lnTo>
                  <a:pt x="3380994" y="2191542"/>
                </a:lnTo>
                <a:lnTo>
                  <a:pt x="3405408" y="2194560"/>
                </a:lnTo>
                <a:lnTo>
                  <a:pt x="3429000" y="2196846"/>
                </a:lnTo>
                <a:lnTo>
                  <a:pt x="3452592" y="2198400"/>
                </a:lnTo>
                <a:lnTo>
                  <a:pt x="3476274" y="2199864"/>
                </a:lnTo>
                <a:lnTo>
                  <a:pt x="3500598" y="2201418"/>
                </a:lnTo>
                <a:lnTo>
                  <a:pt x="3524280" y="2202972"/>
                </a:lnTo>
                <a:lnTo>
                  <a:pt x="3547872" y="2203704"/>
                </a:lnTo>
                <a:lnTo>
                  <a:pt x="3571464" y="2205258"/>
                </a:lnTo>
                <a:lnTo>
                  <a:pt x="3595878" y="2205990"/>
                </a:lnTo>
                <a:lnTo>
                  <a:pt x="3619470" y="2206722"/>
                </a:lnTo>
                <a:lnTo>
                  <a:pt x="3643152" y="2206722"/>
                </a:lnTo>
                <a:lnTo>
                  <a:pt x="3666744" y="2207544"/>
                </a:lnTo>
                <a:lnTo>
                  <a:pt x="3691158" y="2207544"/>
                </a:lnTo>
                <a:lnTo>
                  <a:pt x="3714750" y="2208276"/>
                </a:lnTo>
                <a:lnTo>
                  <a:pt x="3738342" y="2208276"/>
                </a:lnTo>
                <a:lnTo>
                  <a:pt x="3762024" y="2209008"/>
                </a:lnTo>
                <a:lnTo>
                  <a:pt x="3786348" y="2209008"/>
                </a:lnTo>
                <a:lnTo>
                  <a:pt x="3810030" y="2209008"/>
                </a:lnTo>
                <a:lnTo>
                  <a:pt x="3833622" y="2209008"/>
                </a:lnTo>
                <a:lnTo>
                  <a:pt x="3857214" y="2209008"/>
                </a:lnTo>
                <a:lnTo>
                  <a:pt x="3881628" y="2209008"/>
                </a:lnTo>
                <a:lnTo>
                  <a:pt x="3905220" y="2209830"/>
                </a:lnTo>
                <a:lnTo>
                  <a:pt x="3928902" y="2209830"/>
                </a:lnTo>
                <a:lnTo>
                  <a:pt x="3952494" y="2209830"/>
                </a:lnTo>
                <a:lnTo>
                  <a:pt x="3976908" y="2209830"/>
                </a:lnTo>
                <a:lnTo>
                  <a:pt x="4000500" y="2209830"/>
                </a:lnTo>
                <a:lnTo>
                  <a:pt x="4024092" y="2209830"/>
                </a:lnTo>
                <a:lnTo>
                  <a:pt x="4047774" y="2209830"/>
                </a:lnTo>
                <a:lnTo>
                  <a:pt x="4072098" y="2209830"/>
                </a:lnTo>
                <a:lnTo>
                  <a:pt x="4095780" y="2209830"/>
                </a:lnTo>
                <a:lnTo>
                  <a:pt x="4119372" y="2209830"/>
                </a:lnTo>
                <a:lnTo>
                  <a:pt x="4142964" y="2209830"/>
                </a:lnTo>
                <a:lnTo>
                  <a:pt x="4167378" y="2209830"/>
                </a:lnTo>
                <a:lnTo>
                  <a:pt x="4190970" y="2209830"/>
                </a:lnTo>
                <a:lnTo>
                  <a:pt x="4214652" y="2209830"/>
                </a:lnTo>
                <a:lnTo>
                  <a:pt x="4238244" y="2209830"/>
                </a:lnTo>
                <a:lnTo>
                  <a:pt x="4262658" y="2209830"/>
                </a:lnTo>
                <a:lnTo>
                  <a:pt x="4286250" y="2209830"/>
                </a:lnTo>
                <a:lnTo>
                  <a:pt x="4309842" y="2209830"/>
                </a:lnTo>
                <a:lnTo>
                  <a:pt x="4333524" y="2209830"/>
                </a:lnTo>
                <a:lnTo>
                  <a:pt x="4357848" y="2209830"/>
                </a:lnTo>
                <a:lnTo>
                  <a:pt x="4381530" y="2209830"/>
                </a:lnTo>
                <a:lnTo>
                  <a:pt x="4405122" y="2209830"/>
                </a:lnTo>
                <a:lnTo>
                  <a:pt x="4428714" y="2209830"/>
                </a:lnTo>
                <a:lnTo>
                  <a:pt x="4453128" y="2209830"/>
                </a:lnTo>
                <a:lnTo>
                  <a:pt x="4476720" y="2209830"/>
                </a:lnTo>
                <a:lnTo>
                  <a:pt x="4500402" y="2209830"/>
                </a:lnTo>
                <a:lnTo>
                  <a:pt x="4523994" y="2209830"/>
                </a:lnTo>
                <a:lnTo>
                  <a:pt x="4548408" y="2209830"/>
                </a:lnTo>
                <a:lnTo>
                  <a:pt x="4572000" y="2209830"/>
                </a:lnTo>
                <a:lnTo>
                  <a:pt x="4595592" y="2209830"/>
                </a:lnTo>
                <a:lnTo>
                  <a:pt x="4619274" y="2209830"/>
                </a:lnTo>
                <a:lnTo>
                  <a:pt x="4643598" y="2209830"/>
                </a:lnTo>
                <a:lnTo>
                  <a:pt x="4667280" y="2209830"/>
                </a:lnTo>
                <a:lnTo>
                  <a:pt x="4690872" y="2209830"/>
                </a:lnTo>
                <a:lnTo>
                  <a:pt x="4714464" y="2209830"/>
                </a:lnTo>
                <a:lnTo>
                  <a:pt x="4738878" y="2209830"/>
                </a:lnTo>
                <a:lnTo>
                  <a:pt x="4762470" y="2209830"/>
                </a:lnTo>
                <a:lnTo>
                  <a:pt x="4786152" y="2209830"/>
                </a:lnTo>
                <a:lnTo>
                  <a:pt x="4809744" y="2209830"/>
                </a:lnTo>
                <a:lnTo>
                  <a:pt x="4834158" y="2209830"/>
                </a:lnTo>
                <a:lnTo>
                  <a:pt x="4857750" y="2209830"/>
                </a:lnTo>
                <a:lnTo>
                  <a:pt x="4881342" y="2209830"/>
                </a:lnTo>
                <a:lnTo>
                  <a:pt x="4905024" y="2209830"/>
                </a:lnTo>
                <a:lnTo>
                  <a:pt x="4929348" y="2209830"/>
                </a:lnTo>
                <a:lnTo>
                  <a:pt x="4953030" y="2209830"/>
                </a:lnTo>
                <a:lnTo>
                  <a:pt x="4976622" y="2209830"/>
                </a:lnTo>
                <a:lnTo>
                  <a:pt x="5000214" y="2209830"/>
                </a:lnTo>
                <a:lnTo>
                  <a:pt x="5024628" y="2209830"/>
                </a:lnTo>
                <a:lnTo>
                  <a:pt x="5048220" y="2209830"/>
                </a:lnTo>
                <a:lnTo>
                  <a:pt x="5071902" y="2209830"/>
                </a:lnTo>
                <a:lnTo>
                  <a:pt x="5095494" y="2209830"/>
                </a:lnTo>
                <a:lnTo>
                  <a:pt x="5119908" y="2209830"/>
                </a:lnTo>
                <a:lnTo>
                  <a:pt x="5143500" y="2209830"/>
                </a:lnTo>
                <a:lnTo>
                  <a:pt x="5167092" y="2209830"/>
                </a:lnTo>
                <a:lnTo>
                  <a:pt x="5190774" y="2209830"/>
                </a:lnTo>
                <a:lnTo>
                  <a:pt x="5215098" y="2209830"/>
                </a:lnTo>
                <a:lnTo>
                  <a:pt x="5238780" y="2209830"/>
                </a:lnTo>
                <a:lnTo>
                  <a:pt x="5262372" y="2209830"/>
                </a:lnTo>
                <a:lnTo>
                  <a:pt x="5285964" y="2209830"/>
                </a:lnTo>
                <a:lnTo>
                  <a:pt x="5310378" y="2209830"/>
                </a:lnTo>
                <a:lnTo>
                  <a:pt x="5333970" y="2209830"/>
                </a:lnTo>
                <a:lnTo>
                  <a:pt x="5357652" y="2209830"/>
                </a:lnTo>
                <a:lnTo>
                  <a:pt x="5381244" y="2209830"/>
                </a:lnTo>
                <a:lnTo>
                  <a:pt x="5405658" y="2209830"/>
                </a:lnTo>
                <a:lnTo>
                  <a:pt x="5429250" y="2209830"/>
                </a:lnTo>
                <a:lnTo>
                  <a:pt x="5452842" y="2209830"/>
                </a:lnTo>
                <a:lnTo>
                  <a:pt x="5476524" y="2209830"/>
                </a:lnTo>
                <a:lnTo>
                  <a:pt x="5500848" y="2209830"/>
                </a:lnTo>
                <a:lnTo>
                  <a:pt x="5524530" y="2209830"/>
                </a:lnTo>
                <a:lnTo>
                  <a:pt x="5548122" y="2209830"/>
                </a:lnTo>
                <a:lnTo>
                  <a:pt x="5571714" y="2209830"/>
                </a:lnTo>
                <a:lnTo>
                  <a:pt x="5596128" y="2209830"/>
                </a:lnTo>
                <a:lnTo>
                  <a:pt x="5619720" y="2209830"/>
                </a:lnTo>
                <a:lnTo>
                  <a:pt x="5643402" y="2209830"/>
                </a:lnTo>
                <a:lnTo>
                  <a:pt x="5666994" y="2209830"/>
                </a:lnTo>
                <a:lnTo>
                  <a:pt x="5691408" y="2209830"/>
                </a:lnTo>
                <a:lnTo>
                  <a:pt x="5715000" y="2209830"/>
                </a:lnTo>
                <a:lnTo>
                  <a:pt x="5738592" y="2209830"/>
                </a:lnTo>
                <a:lnTo>
                  <a:pt x="5762274" y="2209830"/>
                </a:lnTo>
                <a:lnTo>
                  <a:pt x="5786598" y="2209830"/>
                </a:lnTo>
                <a:lnTo>
                  <a:pt x="5810280" y="2209830"/>
                </a:lnTo>
                <a:lnTo>
                  <a:pt x="5833872" y="2209830"/>
                </a:lnTo>
                <a:lnTo>
                  <a:pt x="5857464" y="2209830"/>
                </a:lnTo>
                <a:lnTo>
                  <a:pt x="5881878" y="2209830"/>
                </a:lnTo>
                <a:lnTo>
                  <a:pt x="5905470" y="2209830"/>
                </a:lnTo>
                <a:lnTo>
                  <a:pt x="5929152" y="2209830"/>
                </a:lnTo>
                <a:lnTo>
                  <a:pt x="5952744" y="2209830"/>
                </a:lnTo>
                <a:lnTo>
                  <a:pt x="5977158" y="2209830"/>
                </a:lnTo>
                <a:lnTo>
                  <a:pt x="6000750" y="2209830"/>
                </a:lnTo>
                <a:lnTo>
                  <a:pt x="6024342" y="2209830"/>
                </a:lnTo>
                <a:lnTo>
                  <a:pt x="6048024" y="2209830"/>
                </a:lnTo>
                <a:lnTo>
                  <a:pt x="6072348" y="2209830"/>
                </a:lnTo>
                <a:lnTo>
                  <a:pt x="6096030" y="2209830"/>
                </a:lnTo>
                <a:lnTo>
                  <a:pt x="6119622" y="2209830"/>
                </a:lnTo>
                <a:lnTo>
                  <a:pt x="6143214" y="2209830"/>
                </a:lnTo>
                <a:lnTo>
                  <a:pt x="6167628" y="2209830"/>
                </a:lnTo>
                <a:lnTo>
                  <a:pt x="6191220" y="2209830"/>
                </a:lnTo>
                <a:lnTo>
                  <a:pt x="6214902" y="2209830"/>
                </a:lnTo>
                <a:lnTo>
                  <a:pt x="6238494" y="2209830"/>
                </a:lnTo>
                <a:lnTo>
                  <a:pt x="6262908" y="2209830"/>
                </a:lnTo>
                <a:lnTo>
                  <a:pt x="6286500" y="2209830"/>
                </a:lnTo>
                <a:lnTo>
                  <a:pt x="6310092" y="2209830"/>
                </a:lnTo>
                <a:lnTo>
                  <a:pt x="6333774" y="2209830"/>
                </a:lnTo>
                <a:lnTo>
                  <a:pt x="6358098" y="2209830"/>
                </a:lnTo>
                <a:lnTo>
                  <a:pt x="6381780" y="2209830"/>
                </a:lnTo>
                <a:lnTo>
                  <a:pt x="6405372" y="2209830"/>
                </a:lnTo>
                <a:lnTo>
                  <a:pt x="6428964" y="2209830"/>
                </a:lnTo>
                <a:lnTo>
                  <a:pt x="6453378" y="2209830"/>
                </a:lnTo>
                <a:lnTo>
                  <a:pt x="6476970" y="2209830"/>
                </a:lnTo>
                <a:lnTo>
                  <a:pt x="6500652" y="2209830"/>
                </a:lnTo>
                <a:lnTo>
                  <a:pt x="6524976" y="2209830"/>
                </a:lnTo>
                <a:lnTo>
                  <a:pt x="6548658" y="2209830"/>
                </a:lnTo>
                <a:lnTo>
                  <a:pt x="6572250" y="2209830"/>
                </a:lnTo>
                <a:lnTo>
                  <a:pt x="6595842" y="2209830"/>
                </a:lnTo>
                <a:lnTo>
                  <a:pt x="6620256" y="2209830"/>
                </a:lnTo>
                <a:lnTo>
                  <a:pt x="6643848" y="2209830"/>
                </a:lnTo>
                <a:lnTo>
                  <a:pt x="6667530" y="2209830"/>
                </a:lnTo>
                <a:lnTo>
                  <a:pt x="6691122" y="2209830"/>
                </a:lnTo>
                <a:lnTo>
                  <a:pt x="6715536" y="2209830"/>
                </a:lnTo>
                <a:lnTo>
                  <a:pt x="6739128" y="2209830"/>
                </a:lnTo>
                <a:lnTo>
                  <a:pt x="6762720" y="2209830"/>
                </a:lnTo>
                <a:lnTo>
                  <a:pt x="6786402" y="2209830"/>
                </a:lnTo>
                <a:lnTo>
                  <a:pt x="6810726" y="2209830"/>
                </a:lnTo>
                <a:lnTo>
                  <a:pt x="6834408" y="2209830"/>
                </a:lnTo>
                <a:lnTo>
                  <a:pt x="6858000" y="2209830"/>
                </a:lnTo>
                <a:lnTo>
                  <a:pt x="6881592" y="2209830"/>
                </a:lnTo>
                <a:lnTo>
                  <a:pt x="6906006" y="2209830"/>
                </a:lnTo>
                <a:lnTo>
                  <a:pt x="6929598" y="2209830"/>
                </a:lnTo>
                <a:lnTo>
                  <a:pt x="6953280" y="2209830"/>
                </a:lnTo>
                <a:lnTo>
                  <a:pt x="6976872" y="2209830"/>
                </a:lnTo>
                <a:lnTo>
                  <a:pt x="7001286" y="2209830"/>
                </a:lnTo>
                <a:lnTo>
                  <a:pt x="7024878" y="2209830"/>
                </a:lnTo>
                <a:lnTo>
                  <a:pt x="7048470" y="2209830"/>
                </a:lnTo>
                <a:lnTo>
                  <a:pt x="7072152" y="2209830"/>
                </a:lnTo>
                <a:lnTo>
                  <a:pt x="7096476" y="2209830"/>
                </a:lnTo>
                <a:lnTo>
                  <a:pt x="7120158" y="2209830"/>
                </a:lnTo>
                <a:lnTo>
                  <a:pt x="7143750" y="2209830"/>
                </a:lnTo>
                <a:lnTo>
                  <a:pt x="7167342" y="2209830"/>
                </a:lnTo>
                <a:lnTo>
                  <a:pt x="7191756" y="2209830"/>
                </a:lnTo>
                <a:lnTo>
                  <a:pt x="7215348" y="2209830"/>
                </a:lnTo>
                <a:lnTo>
                  <a:pt x="7239030" y="2209830"/>
                </a:lnTo>
                <a:lnTo>
                  <a:pt x="7262622" y="2209830"/>
                </a:lnTo>
                <a:lnTo>
                  <a:pt x="7287036" y="2209830"/>
                </a:lnTo>
                <a:lnTo>
                  <a:pt x="7310628" y="2209830"/>
                </a:lnTo>
                <a:lnTo>
                  <a:pt x="7334220" y="2209830"/>
                </a:lnTo>
                <a:lnTo>
                  <a:pt x="7357902" y="2209830"/>
                </a:lnTo>
                <a:lnTo>
                  <a:pt x="7382226" y="2209830"/>
                </a:lnTo>
                <a:lnTo>
                  <a:pt x="7405908" y="2209830"/>
                </a:lnTo>
                <a:lnTo>
                  <a:pt x="7429500" y="2209830"/>
                </a:lnTo>
                <a:lnTo>
                  <a:pt x="7453092" y="2209830"/>
                </a:lnTo>
                <a:lnTo>
                  <a:pt x="7477506" y="2209830"/>
                </a:lnTo>
                <a:lnTo>
                  <a:pt x="7501098" y="2209830"/>
                </a:lnTo>
                <a:lnTo>
                  <a:pt x="7524780" y="2209830"/>
                </a:lnTo>
                <a:lnTo>
                  <a:pt x="7548372" y="2209830"/>
                </a:lnTo>
                <a:lnTo>
                  <a:pt x="7572786" y="2209830"/>
                </a:lnTo>
                <a:lnTo>
                  <a:pt x="7596378" y="2209830"/>
                </a:lnTo>
                <a:lnTo>
                  <a:pt x="7619970" y="2209830"/>
                </a:lnTo>
              </a:path>
            </a:pathLst>
          </a:custGeom>
          <a:ln w="22860">
            <a:solidFill>
              <a:srgbClr val="FFFFFF"/>
            </a:solidFill>
            <a:prstDash val="solid"/>
          </a:ln>
        </p:spPr>
      </p:sp>
      <p:sp>
        <p:nvSpPr>
          <p:cNvPr id="36" name="te-controls_35"/>
          <p:cNvSpPr/>
          <p:nvPr/>
        </p:nvSpPr>
        <p:spPr>
          <a:xfrm>
            <a:off x="2286000" y="5859750"/>
            <a:ext cx="7619970" cy="152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37" name="te-controls_36"/>
          <p:cNvSpPr/>
          <p:nvPr/>
        </p:nvSpPr>
        <p:spPr>
          <a:xfrm>
            <a:off x="4183380" y="586743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38" name="te-controls_37"/>
          <p:cNvSpPr txBox="1"/>
          <p:nvPr/>
        </p:nvSpPr>
        <p:spPr>
          <a:xfrm>
            <a:off x="4090477" y="5975695"/>
            <a:ext cx="200985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72" dirty="0"/>
          </a:p>
        </p:txBody>
      </p:sp>
      <p:sp>
        <p:nvSpPr>
          <p:cNvPr id="39" name="te-controls_38"/>
          <p:cNvSpPr/>
          <p:nvPr/>
        </p:nvSpPr>
        <p:spPr>
          <a:xfrm>
            <a:off x="6088350" y="586743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40" name="te-controls_39"/>
          <p:cNvSpPr txBox="1"/>
          <p:nvPr/>
        </p:nvSpPr>
        <p:spPr>
          <a:xfrm>
            <a:off x="5994166" y="5975695"/>
            <a:ext cx="203728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72" dirty="0"/>
          </a:p>
        </p:txBody>
      </p:sp>
      <p:sp>
        <p:nvSpPr>
          <p:cNvPr id="41" name="te-controls_40"/>
          <p:cNvSpPr/>
          <p:nvPr/>
        </p:nvSpPr>
        <p:spPr>
          <a:xfrm>
            <a:off x="7993410" y="586743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42" name="te-controls_41"/>
          <p:cNvSpPr txBox="1"/>
          <p:nvPr/>
        </p:nvSpPr>
        <p:spPr>
          <a:xfrm>
            <a:off x="7901513" y="5975695"/>
            <a:ext cx="198882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72" dirty="0"/>
          </a:p>
        </p:txBody>
      </p:sp>
      <p:sp>
        <p:nvSpPr>
          <p:cNvPr id="43" name="te-controls_42"/>
          <p:cNvSpPr/>
          <p:nvPr/>
        </p:nvSpPr>
        <p:spPr>
          <a:xfrm>
            <a:off x="9898380" y="586743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44" name="te-controls_43"/>
          <p:cNvSpPr txBox="1"/>
          <p:nvPr/>
        </p:nvSpPr>
        <p:spPr>
          <a:xfrm>
            <a:off x="9772010" y="5975695"/>
            <a:ext cx="268011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72" dirty="0"/>
          </a:p>
        </p:txBody>
      </p:sp>
      <p:sp>
        <p:nvSpPr>
          <p:cNvPr id="45" name="te-controls_44"/>
          <p:cNvSpPr txBox="1"/>
          <p:nvPr/>
        </p:nvSpPr>
        <p:spPr>
          <a:xfrm>
            <a:off x="5002408" y="6250015"/>
            <a:ext cx="2187245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distribution (z-score)</a:t>
            </a:r>
            <a:endParaRPr lang="en-US" sz="1272" dirty="0"/>
          </a:p>
        </p:txBody>
      </p:sp>
      <p:sp>
        <p:nvSpPr>
          <p:cNvPr id="46" name="te-controls_45"/>
          <p:cNvSpPr/>
          <p:nvPr/>
        </p:nvSpPr>
        <p:spPr>
          <a:xfrm flipV="1">
            <a:off x="7943850" y="4739610"/>
            <a:ext cx="3840" cy="1127730"/>
          </a:xfrm>
          <a:prstGeom prst="line">
            <a:avLst/>
          </a:prstGeom>
          <a:ln w="19050">
            <a:solidFill>
              <a:srgbClr val="F9BE00"/>
            </a:solidFill>
            <a:custDash>
              <a:ds d="240000" sp="200000"/>
            </a:custDash>
          </a:ln>
        </p:spPr>
      </p:sp>
      <p:sp>
        <p:nvSpPr>
          <p:cNvPr id="47" name="te-controls_46"/>
          <p:cNvSpPr/>
          <p:nvPr/>
        </p:nvSpPr>
        <p:spPr>
          <a:xfrm>
            <a:off x="7890540" y="5814030"/>
            <a:ext cx="106710" cy="106710"/>
          </a:xfrm>
          <a:prstGeom prst="ellipse">
            <a:avLst/>
          </a:prstGeom>
          <a:solidFill>
            <a:srgbClr val="F9BE00"/>
          </a:solidFill>
          <a:ln/>
        </p:spPr>
      </p:sp>
      <p:sp>
        <p:nvSpPr>
          <p:cNvPr id="48" name="te-controls_47"/>
          <p:cNvSpPr txBox="1"/>
          <p:nvPr/>
        </p:nvSpPr>
        <p:spPr>
          <a:xfrm>
            <a:off x="7467173" y="4232940"/>
            <a:ext cx="953353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bp exact</a:t>
            </a:r>
            <a:endParaRPr lang="en-US" sz="1272" dirty="0"/>
          </a:p>
        </p:txBody>
      </p:sp>
      <p:sp>
        <p:nvSpPr>
          <p:cNvPr id="49" name="te-controls_48"/>
          <p:cNvSpPr/>
          <p:nvPr/>
        </p:nvSpPr>
        <p:spPr>
          <a:xfrm flipV="1">
            <a:off x="9586935" y="4282410"/>
            <a:ext cx="3840" cy="1584930"/>
          </a:xfrm>
          <a:prstGeom prst="line">
            <a:avLst/>
          </a:prstGeom>
          <a:ln w="19050">
            <a:solidFill>
              <a:srgbClr val="F9BE00"/>
            </a:solidFill>
            <a:custDash>
              <a:ds d="240000" sp="200000"/>
            </a:custDash>
          </a:ln>
        </p:spPr>
      </p:sp>
      <p:sp>
        <p:nvSpPr>
          <p:cNvPr id="50" name="te-controls_49"/>
          <p:cNvSpPr/>
          <p:nvPr/>
        </p:nvSpPr>
        <p:spPr>
          <a:xfrm>
            <a:off x="9533534" y="5814030"/>
            <a:ext cx="106710" cy="106710"/>
          </a:xfrm>
          <a:prstGeom prst="ellipse">
            <a:avLst/>
          </a:prstGeom>
          <a:solidFill>
            <a:srgbClr val="F9BE00"/>
          </a:solidFill>
          <a:ln/>
        </p:spPr>
      </p:sp>
      <p:sp>
        <p:nvSpPr>
          <p:cNvPr id="51" name="te-controls_50"/>
          <p:cNvSpPr txBox="1"/>
          <p:nvPr/>
        </p:nvSpPr>
        <p:spPr>
          <a:xfrm>
            <a:off x="9013972" y="3775740"/>
            <a:ext cx="1148121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bp window</a:t>
            </a:r>
            <a:endParaRPr lang="en-US" sz="1272" dirty="0"/>
          </a:p>
        </p:txBody>
      </p:sp>
      <p:sp>
        <p:nvSpPr>
          <p:cNvPr id="52" name="te-controls_51"/>
          <p:cNvSpPr/>
          <p:nvPr/>
        </p:nvSpPr>
        <p:spPr>
          <a:xfrm>
            <a:off x="4611045" y="3962370"/>
            <a:ext cx="563910" cy="1904970"/>
          </a:xfrm>
          <a:custGeom>
            <a:avLst/>
            <a:gdLst/>
            <a:ahLst/>
            <a:cxnLst/>
            <a:rect l="l" t="t" r="r" b="b"/>
            <a:pathLst>
              <a:path w="563910" h="1904970">
                <a:moveTo>
                  <a:pt x="0" y="1904970"/>
                </a:moveTo>
                <a:lnTo>
                  <a:pt x="0" y="0"/>
                </a:lnTo>
                <a:lnTo>
                  <a:pt x="563910" y="0"/>
                </a:lnTo>
              </a:path>
            </a:pathLst>
          </a:custGeom>
          <a:ln w="19050">
            <a:solidFill>
              <a:srgbClr val="F9BE00"/>
            </a:solidFill>
            <a:prstDash val="solid"/>
          </a:ln>
        </p:spPr>
      </p:sp>
      <p:sp>
        <p:nvSpPr>
          <p:cNvPr id="53" name="te-controls_52"/>
          <p:cNvSpPr/>
          <p:nvPr/>
        </p:nvSpPr>
        <p:spPr>
          <a:xfrm>
            <a:off x="4557735" y="5814030"/>
            <a:ext cx="106710" cy="106710"/>
          </a:xfrm>
          <a:prstGeom prst="ellipse">
            <a:avLst/>
          </a:prstGeom>
          <a:solidFill>
            <a:srgbClr val="F9BE00"/>
          </a:solidFill>
          <a:ln/>
        </p:spPr>
      </p:sp>
      <p:sp>
        <p:nvSpPr>
          <p:cNvPr id="54" name="te-controls_53"/>
          <p:cNvSpPr txBox="1"/>
          <p:nvPr/>
        </p:nvSpPr>
        <p:spPr>
          <a:xfrm>
            <a:off x="6603248" y="3882360"/>
            <a:ext cx="953353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bp exact</a:t>
            </a:r>
            <a:endParaRPr lang="en-US" sz="1272" dirty="0"/>
          </a:p>
        </p:txBody>
      </p:sp>
      <p:sp>
        <p:nvSpPr>
          <p:cNvPr id="55" name="te-controls_54"/>
          <p:cNvSpPr/>
          <p:nvPr/>
        </p:nvSpPr>
        <p:spPr>
          <a:xfrm>
            <a:off x="4644878" y="3276570"/>
            <a:ext cx="502920" cy="2590770"/>
          </a:xfrm>
          <a:custGeom>
            <a:avLst/>
            <a:gdLst/>
            <a:ahLst/>
            <a:cxnLst/>
            <a:rect l="l" t="t" r="r" b="b"/>
            <a:pathLst>
              <a:path w="502920" h="2590770">
                <a:moveTo>
                  <a:pt x="0" y="2590770"/>
                </a:moveTo>
                <a:lnTo>
                  <a:pt x="0" y="0"/>
                </a:lnTo>
                <a:lnTo>
                  <a:pt x="502920" y="0"/>
                </a:lnTo>
              </a:path>
            </a:pathLst>
          </a:custGeom>
          <a:ln w="19050">
            <a:solidFill>
              <a:srgbClr val="F9BE00"/>
            </a:solidFill>
            <a:prstDash val="solid"/>
          </a:ln>
        </p:spPr>
      </p:sp>
      <p:sp>
        <p:nvSpPr>
          <p:cNvPr id="56" name="te-controls_55"/>
          <p:cNvSpPr/>
          <p:nvPr/>
        </p:nvSpPr>
        <p:spPr>
          <a:xfrm>
            <a:off x="4591568" y="5814030"/>
            <a:ext cx="106710" cy="106710"/>
          </a:xfrm>
          <a:prstGeom prst="ellipse">
            <a:avLst/>
          </a:prstGeom>
          <a:solidFill>
            <a:srgbClr val="F9BE00"/>
          </a:solidFill>
          <a:ln/>
        </p:spPr>
      </p:sp>
      <p:sp>
        <p:nvSpPr>
          <p:cNvPr id="57" name="te-controls_56"/>
          <p:cNvSpPr txBox="1"/>
          <p:nvPr/>
        </p:nvSpPr>
        <p:spPr>
          <a:xfrm>
            <a:off x="6479896" y="3196560"/>
            <a:ext cx="1148121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bp window</a:t>
            </a:r>
            <a:endParaRPr lang="en-US" sz="1272" dirty="0"/>
          </a:p>
        </p:txBody>
      </p:sp>
      <p:sp>
        <p:nvSpPr>
          <p:cNvPr id="58" name="te-controls_57"/>
          <p:cNvSpPr txBox="1"/>
          <p:nvPr/>
        </p:nvSpPr>
        <p:spPr>
          <a:xfrm>
            <a:off x="3794760" y="2837475"/>
            <a:ext cx="1254648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bp exact</a:t>
            </a:r>
            <a:endParaRPr lang="en-US" sz="1654" dirty="0"/>
          </a:p>
        </p:txBody>
      </p:sp>
      <p:sp>
        <p:nvSpPr>
          <p:cNvPr id="59" name="te-controls_58"/>
          <p:cNvSpPr txBox="1"/>
          <p:nvPr/>
        </p:nvSpPr>
        <p:spPr>
          <a:xfrm>
            <a:off x="1554114" y="3238530"/>
            <a:ext cx="20424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526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</a:t>
            </a:r>
            <a:pPr algn="r" indent="0" marL="0">
              <a:buNone/>
            </a:pPr>
            <a:r>
              <a:rPr lang="en-US" sz="1526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 = 378)</a:t>
            </a:r>
            <a:endParaRPr lang="en-US" sz="1526" dirty="0"/>
          </a:p>
        </p:txBody>
      </p:sp>
      <p:sp>
        <p:nvSpPr>
          <p:cNvPr id="60" name="te-controls_59"/>
          <p:cNvSpPr/>
          <p:nvPr/>
        </p:nvSpPr>
        <p:spPr>
          <a:xfrm>
            <a:off x="3810030" y="3215670"/>
            <a:ext cx="4572000" cy="274320"/>
          </a:xfrm>
          <a:prstGeom prst="roundRect">
            <a:avLst>
              <a:gd name="adj" fmla="val 11100"/>
            </a:avLst>
          </a:prstGeom>
          <a:solidFill>
            <a:srgbClr val="19222D"/>
          </a:solidFill>
          <a:ln/>
        </p:spPr>
      </p:sp>
      <p:sp>
        <p:nvSpPr>
          <p:cNvPr id="61" name="te-controls_60"/>
          <p:cNvSpPr/>
          <p:nvPr/>
        </p:nvSpPr>
        <p:spPr>
          <a:xfrm>
            <a:off x="3810030" y="3215670"/>
            <a:ext cx="266090" cy="274320"/>
          </a:xfrm>
          <a:prstGeom prst="roundRect">
            <a:avLst>
              <a:gd name="adj" fmla="val 11443"/>
            </a:avLst>
          </a:prstGeom>
          <a:solidFill>
            <a:srgbClr val="F9BE00"/>
          </a:solidFill>
          <a:ln/>
        </p:spPr>
      </p:sp>
      <p:sp>
        <p:nvSpPr>
          <p:cNvPr id="62" name="te-controls_61"/>
          <p:cNvSpPr/>
          <p:nvPr/>
        </p:nvSpPr>
        <p:spPr>
          <a:xfrm>
            <a:off x="4098981" y="3215670"/>
            <a:ext cx="4283050" cy="274320"/>
          </a:xfrm>
          <a:prstGeom prst="roundRect">
            <a:avLst>
              <a:gd name="adj" fmla="val 11100"/>
            </a:avLst>
          </a:prstGeom>
          <a:solidFill>
            <a:srgbClr val="187FC3"/>
          </a:solidFill>
          <a:ln/>
        </p:spPr>
      </p:sp>
      <p:sp>
        <p:nvSpPr>
          <p:cNvPr id="63" name="te-controls_62"/>
          <p:cNvSpPr txBox="1"/>
          <p:nvPr/>
        </p:nvSpPr>
        <p:spPr>
          <a:xfrm>
            <a:off x="8481060" y="3229021"/>
            <a:ext cx="845637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5.82%</a:t>
            </a:r>
            <a:endParaRPr lang="en-US" sz="1654" dirty="0"/>
          </a:p>
        </p:txBody>
      </p:sp>
      <p:sp>
        <p:nvSpPr>
          <p:cNvPr id="64" name="te-controls_63"/>
          <p:cNvSpPr txBox="1"/>
          <p:nvPr/>
        </p:nvSpPr>
        <p:spPr>
          <a:xfrm>
            <a:off x="964052" y="3695730"/>
            <a:ext cx="263264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526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copies </a:t>
            </a:r>
            <a:pPr algn="r" indent="0" marL="0">
              <a:buNone/>
            </a:pPr>
            <a:r>
              <a:rPr lang="en-US" sz="1526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 = 1,298)</a:t>
            </a:r>
            <a:endParaRPr lang="en-US" sz="1526" dirty="0"/>
          </a:p>
        </p:txBody>
      </p:sp>
      <p:sp>
        <p:nvSpPr>
          <p:cNvPr id="65" name="te-controls_64"/>
          <p:cNvSpPr/>
          <p:nvPr/>
        </p:nvSpPr>
        <p:spPr>
          <a:xfrm>
            <a:off x="3810030" y="3672870"/>
            <a:ext cx="4572000" cy="274320"/>
          </a:xfrm>
          <a:prstGeom prst="roundRect">
            <a:avLst>
              <a:gd name="adj" fmla="val 11100"/>
            </a:avLst>
          </a:prstGeom>
          <a:solidFill>
            <a:srgbClr val="19222D"/>
          </a:solidFill>
          <a:ln/>
        </p:spPr>
      </p:sp>
      <p:sp>
        <p:nvSpPr>
          <p:cNvPr id="66" name="te-controls_65"/>
          <p:cNvSpPr/>
          <p:nvPr/>
        </p:nvSpPr>
        <p:spPr>
          <a:xfrm>
            <a:off x="3810030" y="3672870"/>
            <a:ext cx="211226" cy="274320"/>
          </a:xfrm>
          <a:prstGeom prst="roundRect">
            <a:avLst>
              <a:gd name="adj" fmla="val 14416"/>
            </a:avLst>
          </a:prstGeom>
          <a:solidFill>
            <a:srgbClr val="F9BE00"/>
          </a:solidFill>
          <a:ln/>
        </p:spPr>
      </p:sp>
      <p:sp>
        <p:nvSpPr>
          <p:cNvPr id="67" name="te-controls_66"/>
          <p:cNvSpPr/>
          <p:nvPr/>
        </p:nvSpPr>
        <p:spPr>
          <a:xfrm>
            <a:off x="4044117" y="3672870"/>
            <a:ext cx="4337914" cy="274320"/>
          </a:xfrm>
          <a:prstGeom prst="roundRect">
            <a:avLst>
              <a:gd name="adj" fmla="val 11100"/>
            </a:avLst>
          </a:prstGeom>
          <a:solidFill>
            <a:srgbClr val="187FC3"/>
          </a:solidFill>
          <a:ln/>
        </p:spPr>
      </p:sp>
      <p:sp>
        <p:nvSpPr>
          <p:cNvPr id="68" name="te-controls_67"/>
          <p:cNvSpPr txBox="1"/>
          <p:nvPr/>
        </p:nvSpPr>
        <p:spPr>
          <a:xfrm>
            <a:off x="8481060" y="3686221"/>
            <a:ext cx="850941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4.62%</a:t>
            </a:r>
            <a:endParaRPr lang="en-US" sz="1654" dirty="0"/>
          </a:p>
        </p:txBody>
      </p:sp>
      <p:sp>
        <p:nvSpPr>
          <p:cNvPr id="69" name="te-controls_68"/>
          <p:cNvSpPr txBox="1"/>
          <p:nvPr/>
        </p:nvSpPr>
        <p:spPr>
          <a:xfrm>
            <a:off x="3794760" y="4361505"/>
            <a:ext cx="1510589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bp window</a:t>
            </a:r>
            <a:endParaRPr lang="en-US" sz="1654" dirty="0"/>
          </a:p>
        </p:txBody>
      </p:sp>
      <p:sp>
        <p:nvSpPr>
          <p:cNvPr id="70" name="te-controls_69"/>
          <p:cNvSpPr txBox="1"/>
          <p:nvPr/>
        </p:nvSpPr>
        <p:spPr>
          <a:xfrm>
            <a:off x="1554114" y="4762470"/>
            <a:ext cx="20424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526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</a:t>
            </a:r>
            <a:pPr algn="r" indent="0" marL="0">
              <a:buNone/>
            </a:pPr>
            <a:r>
              <a:rPr lang="en-US" sz="1526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 = 378)</a:t>
            </a:r>
            <a:endParaRPr lang="en-US" sz="1526" dirty="0"/>
          </a:p>
        </p:txBody>
      </p:sp>
      <p:sp>
        <p:nvSpPr>
          <p:cNvPr id="71" name="te-controls_70"/>
          <p:cNvSpPr/>
          <p:nvPr/>
        </p:nvSpPr>
        <p:spPr>
          <a:xfrm>
            <a:off x="3810030" y="4739610"/>
            <a:ext cx="4572000" cy="274320"/>
          </a:xfrm>
          <a:prstGeom prst="roundRect">
            <a:avLst>
              <a:gd name="adj" fmla="val 11100"/>
            </a:avLst>
          </a:prstGeom>
          <a:solidFill>
            <a:srgbClr val="19222D"/>
          </a:solidFill>
          <a:ln/>
        </p:spPr>
      </p:sp>
      <p:sp>
        <p:nvSpPr>
          <p:cNvPr id="72" name="te-controls_71"/>
          <p:cNvSpPr/>
          <p:nvPr/>
        </p:nvSpPr>
        <p:spPr>
          <a:xfrm>
            <a:off x="3810030" y="4739610"/>
            <a:ext cx="1475842" cy="274320"/>
          </a:xfrm>
          <a:prstGeom prst="roundRect">
            <a:avLst>
              <a:gd name="adj" fmla="val 11100"/>
            </a:avLst>
          </a:prstGeom>
          <a:solidFill>
            <a:srgbClr val="F9BE00"/>
          </a:solidFill>
          <a:ln/>
        </p:spPr>
      </p:sp>
      <p:sp>
        <p:nvSpPr>
          <p:cNvPr id="73" name="te-controls_72"/>
          <p:cNvSpPr/>
          <p:nvPr/>
        </p:nvSpPr>
        <p:spPr>
          <a:xfrm>
            <a:off x="5308732" y="4739610"/>
            <a:ext cx="3073298" cy="274320"/>
          </a:xfrm>
          <a:prstGeom prst="roundRect">
            <a:avLst>
              <a:gd name="adj" fmla="val 11100"/>
            </a:avLst>
          </a:prstGeom>
          <a:solidFill>
            <a:srgbClr val="187FC3"/>
          </a:solidFill>
          <a:ln/>
        </p:spPr>
      </p:sp>
      <p:sp>
        <p:nvSpPr>
          <p:cNvPr id="74" name="te-controls_73"/>
          <p:cNvSpPr txBox="1"/>
          <p:nvPr/>
        </p:nvSpPr>
        <p:spPr>
          <a:xfrm>
            <a:off x="8481060" y="4752960"/>
            <a:ext cx="1000811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32.28%</a:t>
            </a:r>
            <a:endParaRPr lang="en-US" sz="1654" dirty="0"/>
          </a:p>
        </p:txBody>
      </p:sp>
      <p:sp>
        <p:nvSpPr>
          <p:cNvPr id="75" name="te-controls_74"/>
          <p:cNvSpPr txBox="1"/>
          <p:nvPr/>
        </p:nvSpPr>
        <p:spPr>
          <a:xfrm>
            <a:off x="964052" y="5219670"/>
            <a:ext cx="263264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526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copies </a:t>
            </a:r>
            <a:pPr algn="r" indent="0" marL="0">
              <a:buNone/>
            </a:pPr>
            <a:r>
              <a:rPr lang="en-US" sz="1526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 = 1,298)</a:t>
            </a:r>
            <a:endParaRPr lang="en-US" sz="1526" dirty="0"/>
          </a:p>
        </p:txBody>
      </p:sp>
      <p:sp>
        <p:nvSpPr>
          <p:cNvPr id="76" name="te-controls_75"/>
          <p:cNvSpPr/>
          <p:nvPr/>
        </p:nvSpPr>
        <p:spPr>
          <a:xfrm>
            <a:off x="3810030" y="5196810"/>
            <a:ext cx="4572000" cy="274320"/>
          </a:xfrm>
          <a:prstGeom prst="roundRect">
            <a:avLst>
              <a:gd name="adj" fmla="val 11100"/>
            </a:avLst>
          </a:prstGeom>
          <a:solidFill>
            <a:srgbClr val="19222D"/>
          </a:solidFill>
          <a:ln/>
        </p:spPr>
      </p:sp>
      <p:sp>
        <p:nvSpPr>
          <p:cNvPr id="77" name="te-controls_76"/>
          <p:cNvSpPr/>
          <p:nvPr/>
        </p:nvSpPr>
        <p:spPr>
          <a:xfrm>
            <a:off x="3810030" y="5196810"/>
            <a:ext cx="1363370" cy="274320"/>
          </a:xfrm>
          <a:prstGeom prst="roundRect">
            <a:avLst>
              <a:gd name="adj" fmla="val 11100"/>
            </a:avLst>
          </a:prstGeom>
          <a:solidFill>
            <a:srgbClr val="F9BE00"/>
          </a:solidFill>
          <a:ln/>
        </p:spPr>
      </p:sp>
      <p:sp>
        <p:nvSpPr>
          <p:cNvPr id="78" name="te-controls_77"/>
          <p:cNvSpPr/>
          <p:nvPr/>
        </p:nvSpPr>
        <p:spPr>
          <a:xfrm>
            <a:off x="5196261" y="5196810"/>
            <a:ext cx="3185770" cy="274320"/>
          </a:xfrm>
          <a:prstGeom prst="roundRect">
            <a:avLst>
              <a:gd name="adj" fmla="val 11100"/>
            </a:avLst>
          </a:prstGeom>
          <a:solidFill>
            <a:srgbClr val="187FC3"/>
          </a:solidFill>
          <a:ln/>
        </p:spPr>
      </p:sp>
      <p:sp>
        <p:nvSpPr>
          <p:cNvPr id="79" name="te-controls_78"/>
          <p:cNvSpPr txBox="1"/>
          <p:nvPr/>
        </p:nvSpPr>
        <p:spPr>
          <a:xfrm>
            <a:off x="8481060" y="5210160"/>
            <a:ext cx="988649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29.82%</a:t>
            </a:r>
            <a:endParaRPr lang="en-US" sz="1654" dirty="0"/>
          </a:p>
        </p:txBody>
      </p:sp>
      <p:sp>
        <p:nvSpPr>
          <p:cNvPr id="80" name="te-controls_79"/>
          <p:cNvSpPr/>
          <p:nvPr/>
        </p:nvSpPr>
        <p:spPr>
          <a:xfrm>
            <a:off x="9418320" y="3352830"/>
            <a:ext cx="106710" cy="457200"/>
          </a:xfrm>
          <a:custGeom>
            <a:avLst/>
            <a:gdLst/>
            <a:ahLst/>
            <a:cxnLst/>
            <a:rect l="l" t="t" r="r" b="b"/>
            <a:pathLst>
              <a:path w="106710" h="457200">
                <a:moveTo>
                  <a:pt x="0" y="0"/>
                </a:moveTo>
                <a:lnTo>
                  <a:pt x="106710" y="0"/>
                </a:lnTo>
                <a:lnTo>
                  <a:pt x="106710" y="457200"/>
                </a:lnTo>
                <a:lnTo>
                  <a:pt x="0" y="457200"/>
                </a:lnTo>
              </a:path>
            </a:pathLst>
          </a:custGeom>
          <a:ln w="19050">
            <a:solidFill>
              <a:srgbClr val="FFFFFF"/>
            </a:solidFill>
            <a:prstDash val="solid"/>
          </a:ln>
        </p:spPr>
      </p:sp>
      <p:sp>
        <p:nvSpPr>
          <p:cNvPr id="81" name="te-controls_80"/>
          <p:cNvSpPr txBox="1"/>
          <p:nvPr/>
        </p:nvSpPr>
        <p:spPr>
          <a:xfrm>
            <a:off x="9806117" y="3227100"/>
            <a:ext cx="1571305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Fisher’s exact test</a:t>
            </a:r>
            <a:endParaRPr lang="en-US" sz="1272" dirty="0"/>
          </a:p>
        </p:txBody>
      </p:sp>
      <p:sp>
        <p:nvSpPr>
          <p:cNvPr id="82" name="te-controls_81"/>
          <p:cNvSpPr txBox="1"/>
          <p:nvPr/>
        </p:nvSpPr>
        <p:spPr>
          <a:xfrm>
            <a:off x="9906061" y="3438510"/>
            <a:ext cx="137150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0.344</a:t>
            </a:r>
            <a:endParaRPr lang="en-US" sz="1908" dirty="0"/>
          </a:p>
        </p:txBody>
      </p:sp>
      <p:sp>
        <p:nvSpPr>
          <p:cNvPr id="83" name="te-controls_82"/>
          <p:cNvSpPr/>
          <p:nvPr/>
        </p:nvSpPr>
        <p:spPr>
          <a:xfrm>
            <a:off x="9418320" y="4876770"/>
            <a:ext cx="106710" cy="457200"/>
          </a:xfrm>
          <a:custGeom>
            <a:avLst/>
            <a:gdLst/>
            <a:ahLst/>
            <a:cxnLst/>
            <a:rect l="l" t="t" r="r" b="b"/>
            <a:pathLst>
              <a:path w="106710" h="457200">
                <a:moveTo>
                  <a:pt x="0" y="0"/>
                </a:moveTo>
                <a:lnTo>
                  <a:pt x="106710" y="0"/>
                </a:lnTo>
                <a:lnTo>
                  <a:pt x="106710" y="457200"/>
                </a:lnTo>
                <a:lnTo>
                  <a:pt x="0" y="457200"/>
                </a:lnTo>
              </a:path>
            </a:pathLst>
          </a:custGeom>
          <a:ln w="19050">
            <a:solidFill>
              <a:srgbClr val="FFFFFF"/>
            </a:solidFill>
            <a:prstDash val="solid"/>
          </a:ln>
        </p:spPr>
      </p:sp>
      <p:sp>
        <p:nvSpPr>
          <p:cNvPr id="84" name="te-controls_83"/>
          <p:cNvSpPr txBox="1"/>
          <p:nvPr/>
        </p:nvSpPr>
        <p:spPr>
          <a:xfrm>
            <a:off x="9806117" y="4751040"/>
            <a:ext cx="1571305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Fisher’s exact test</a:t>
            </a:r>
            <a:endParaRPr lang="en-US" sz="1272" dirty="0"/>
          </a:p>
        </p:txBody>
      </p:sp>
      <p:sp>
        <p:nvSpPr>
          <p:cNvPr id="85" name="te-controls_84"/>
          <p:cNvSpPr txBox="1"/>
          <p:nvPr/>
        </p:nvSpPr>
        <p:spPr>
          <a:xfrm>
            <a:off x="9925995" y="4962540"/>
            <a:ext cx="133164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0.374</a:t>
            </a:r>
            <a:endParaRPr lang="en-US" sz="1908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0" presetClass="path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-0.21719 0.14444 E" pathEditMode="relative" rAng="0" ptsTypes="AA">
                                      <p:cBhvr>
                                        <p:cTn id="143" dur="1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4" presetID="0" presetClass="path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-0.08242 -0.14444 E" pathEditMode="relative" rAng="0" ptsTypes="AA">
                                      <p:cBhvr>
                                        <p:cTn id="145" dur="11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4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6" dur="8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9" dur="8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2" dur="8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22" presetClass="entr" presetSubtype="8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8" dur="8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0" presetClass="entr" presetSubtype="0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4" dur="6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7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0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3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6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9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2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5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4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0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3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6" dur="6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9" dur="6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2" dur="6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5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8" dur="6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1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4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9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2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5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8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7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0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3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6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9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0" presetID="0" presetClass="path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-0.38180 0.05556 E" pathEditMode="relative" rAng="0" ptsTypes="AA">
                                      <p:cBhvr>
                                        <p:cTn id="441" dur="11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2" presetID="0" presetClass="path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-0.38402 -0.26667 E" pathEditMode="relative" rAng="0" ptsTypes="AA">
                                      <p:cBhvr>
                                        <p:cTn id="443" dur="11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4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7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0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3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6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9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 animBg="1"/>
      <p:bldP spid="9" grpId="0" animBg="1"/>
      <p:bldP spid="10" grpId="0" animBg="1"/>
      <p:bldP spid="11" grpId="0"/>
      <p:bldP spid="12" grpId="0"/>
      <p:bldP spid="13" grpId="0" animBg="1"/>
      <p:bldP spid="14" grpId="0" animBg="1"/>
      <p:bldP spid="15" grpId="0" animBg="1"/>
      <p:bldP spid="16" grpId="0"/>
      <p:bldP spid="17" grpId="0"/>
      <p:bldP spid="18" grpId="0"/>
      <p:bldP spid="19" grpId="0" animBg="1"/>
      <p:bldP spid="20" grpId="0" animBg="1"/>
      <p:bldP spid="21" grpId="0" animBg="1"/>
      <p:bldP spid="22" grpId="0"/>
      <p:bldP spid="23" grpId="0"/>
      <p:bldP spid="24" grpId="0" animBg="1"/>
      <p:bldP spid="25" grpId="0" animBg="1"/>
      <p:bldP spid="26" grpId="0" animBg="1"/>
      <p:bldP spid="27" grpId="0"/>
      <p:bldP spid="28" grpId="0" animBg="1"/>
      <p:bldP spid="29" grpId="0"/>
      <p:bldP spid="30" grpId="0"/>
      <p:bldP spid="31" grpId="0" animBg="1"/>
      <p:bldP spid="32" grpId="0"/>
      <p:bldP spid="33" grpId="0"/>
      <p:bldP spid="34" grpId="0" animBg="1"/>
      <p:bldP spid="35" grpId="0" animBg="1"/>
      <p:bldP spid="36" grpId="0" animBg="1"/>
      <p:bldP spid="37" grpId="0" animBg="1"/>
      <p:bldP spid="38" grpId="0"/>
      <p:bldP spid="39" grpId="0" animBg="1"/>
      <p:bldP spid="40" grpId="0"/>
      <p:bldP spid="41" grpId="0" animBg="1"/>
      <p:bldP spid="42" grpId="0"/>
      <p:bldP spid="43" grpId="0" animBg="1"/>
      <p:bldP spid="44" grpId="0"/>
      <p:bldP spid="45" grpId="0"/>
      <p:bldP spid="46" grpId="0" animBg="1"/>
      <p:bldP spid="47" grpId="0" animBg="1"/>
      <p:bldP spid="48" grpId="0"/>
      <p:bldP spid="49" grpId="0" animBg="1"/>
      <p:bldP spid="50" grpId="0" animBg="1"/>
      <p:bldP spid="51" grpId="0"/>
      <p:bldP spid="52" grpId="0" animBg="1"/>
      <p:bldP spid="53" grpId="0" animBg="1"/>
      <p:bldP spid="54" grpId="0"/>
      <p:bldP spid="55" grpId="0" animBg="1"/>
      <p:bldP spid="56" grpId="0" animBg="1"/>
      <p:bldP spid="57" grpId="0"/>
      <p:bldP spid="58" grpId="0"/>
      <p:bldP spid="59" grpId="0"/>
      <p:bldP spid="60" grpId="0" animBg="1"/>
      <p:bldP spid="61" grpId="0" animBg="1"/>
      <p:bldP spid="62" grpId="0" animBg="1"/>
      <p:bldP spid="63" grpId="0"/>
      <p:bldP spid="64" grpId="0"/>
      <p:bldP spid="65" grpId="0" animBg="1"/>
      <p:bldP spid="66" grpId="0" animBg="1"/>
      <p:bldP spid="67" grpId="0" animBg="1"/>
      <p:bldP spid="68" grpId="0"/>
      <p:bldP spid="69" grpId="0"/>
      <p:bldP spid="70" grpId="0"/>
      <p:bldP spid="71" grpId="0" animBg="1"/>
      <p:bldP spid="72" grpId="0" animBg="1"/>
      <p:bldP spid="73" grpId="0" animBg="1"/>
      <p:bldP spid="74" grpId="0"/>
      <p:bldP spid="75" grpId="0"/>
      <p:bldP spid="76" grpId="0" animBg="1"/>
      <p:bldP spid="77" grpId="0" animBg="1"/>
      <p:bldP spid="78" grpId="0" animBg="1"/>
      <p:bldP spid="79" grpId="0"/>
      <p:bldP spid="80" grpId="0" animBg="1"/>
      <p:bldP spid="81" grpId="0"/>
      <p:bldP spid="82" grpId="0"/>
      <p:bldP spid="83" grpId="0" animBg="1"/>
      <p:bldP spid="84" grpId="0"/>
      <p:bldP spid="8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-missed_1"/>
          <p:cNvSpPr txBox="1"/>
          <p:nvPr/>
        </p:nvSpPr>
        <p:spPr>
          <a:xfrm>
            <a:off x="548640" y="396210"/>
            <a:ext cx="11140410" cy="464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why were these copies missed in the first place?</a:t>
            </a:r>
            <a:endParaRPr lang="en-US" sz="2880" dirty="0"/>
          </a:p>
        </p:txBody>
      </p:sp>
      <p:sp>
        <p:nvSpPr>
          <p:cNvPr id="3" name="te-missed_2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permissive BLAST search found these copies, but RepeatMasker didn’t? Why?</a:t>
            </a:r>
            <a:endParaRPr lang="en-US" sz="2544" dirty="0"/>
          </a:p>
        </p:txBody>
      </p:sp>
      <p:sp>
        <p:nvSpPr>
          <p:cNvPr id="4" name="te-missed_3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this, I had to delve into RepeatMasker’s documentation</a:t>
            </a:r>
            <a:endParaRPr lang="en-US" sz="2544" dirty="0"/>
          </a:p>
        </p:txBody>
      </p:sp>
      <p:sp>
        <p:nvSpPr>
          <p:cNvPr id="5" name="te-missed_4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it turns out, RepeatMasker’s RMBlast engine requires copies to pass a fixed score threshold to be annotated</a:t>
            </a:r>
            <a:endParaRPr lang="en-US" sz="2544" dirty="0"/>
          </a:p>
        </p:txBody>
      </p:sp>
      <p:sp>
        <p:nvSpPr>
          <p:cNvPr id="6" name="te-missed_5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However, short elements have fewer total bases, making it harder for them to reach this fixed threshold</a:t>
            </a:r>
            <a:endParaRPr lang="en-US" sz="2544" dirty="0"/>
          </a:p>
        </p:txBody>
      </p:sp>
      <p:sp>
        <p:nvSpPr>
          <p:cNvPr id="7" name="te-missed_6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is also dependent on the GC % of the surrounding sequence</a:t>
            </a:r>
            <a:endParaRPr lang="en-US" sz="2544" dirty="0"/>
          </a:p>
        </p:txBody>
      </p:sp>
      <p:sp>
        <p:nvSpPr>
          <p:cNvPr id="8" name="te-missed_7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GC % to select the scoring matrix used</a:t>
            </a:r>
            <a:endParaRPr lang="en-US" sz="2544" dirty="0"/>
          </a:p>
        </p:txBody>
      </p:sp>
      <p:sp>
        <p:nvSpPr>
          <p:cNvPr id="9" name="te-missed_8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RepeatMasker calculates GC % in 56–60 kb batches</a:t>
            </a:r>
            <a:endParaRPr lang="en-US" sz="2544" dirty="0"/>
          </a:p>
        </p:txBody>
      </p:sp>
      <p:sp>
        <p:nvSpPr>
          <p:cNvPr id="10" name="te-missed_9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can flip detection outcomes</a:t>
            </a:r>
            <a:endParaRPr lang="en-US" sz="2544" dirty="0"/>
          </a:p>
        </p:txBody>
      </p:sp>
      <p:sp>
        <p:nvSpPr>
          <p:cNvPr id="11" name="te-missed_10"/>
          <p:cNvSpPr/>
          <p:nvPr/>
        </p:nvSpPr>
        <p:spPr>
          <a:xfrm>
            <a:off x="1524030" y="3672870"/>
            <a:ext cx="914400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2" name="te-missed_11"/>
          <p:cNvSpPr/>
          <p:nvPr/>
        </p:nvSpPr>
        <p:spPr>
          <a:xfrm>
            <a:off x="4876770" y="3672870"/>
            <a:ext cx="274320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13" name="te-missed_12"/>
          <p:cNvSpPr/>
          <p:nvPr/>
        </p:nvSpPr>
        <p:spPr>
          <a:xfrm>
            <a:off x="1524030" y="6164610"/>
            <a:ext cx="9144000" cy="152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14" name="te-missed_13"/>
          <p:cNvSpPr/>
          <p:nvPr/>
        </p:nvSpPr>
        <p:spPr>
          <a:xfrm>
            <a:off x="1516350" y="4404390"/>
            <a:ext cx="15270" cy="176781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15" name="te-missed_14"/>
          <p:cNvSpPr txBox="1"/>
          <p:nvPr/>
        </p:nvSpPr>
        <p:spPr>
          <a:xfrm>
            <a:off x="1231514" y="6076920"/>
            <a:ext cx="200985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72" dirty="0"/>
          </a:p>
        </p:txBody>
      </p:sp>
      <p:sp>
        <p:nvSpPr>
          <p:cNvPr id="16" name="te-missed_15"/>
          <p:cNvSpPr txBox="1"/>
          <p:nvPr/>
        </p:nvSpPr>
        <p:spPr>
          <a:xfrm>
            <a:off x="1023671" y="4705320"/>
            <a:ext cx="408828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225</a:t>
            </a:r>
            <a:endParaRPr lang="en-US" sz="1272" dirty="0"/>
          </a:p>
        </p:txBody>
      </p:sp>
      <p:sp>
        <p:nvSpPr>
          <p:cNvPr id="17" name="te-missed_16"/>
          <p:cNvSpPr/>
          <p:nvPr/>
        </p:nvSpPr>
        <p:spPr>
          <a:xfrm>
            <a:off x="1524030" y="4800600"/>
            <a:ext cx="9144000" cy="0"/>
          </a:xfrm>
          <a:prstGeom prst="line">
            <a:avLst/>
          </a:prstGeom>
          <a:ln w="15240">
            <a:solidFill>
              <a:srgbClr val="FFFFFF"/>
            </a:solidFill>
            <a:custDash>
              <a:ds d="400000" sp="350000"/>
            </a:custDash>
          </a:ln>
        </p:spPr>
      </p:sp>
      <p:sp>
        <p:nvSpPr>
          <p:cNvPr id="18" name="te-missed_17"/>
          <p:cNvSpPr txBox="1"/>
          <p:nvPr/>
        </p:nvSpPr>
        <p:spPr>
          <a:xfrm>
            <a:off x="7384603" y="4568160"/>
            <a:ext cx="3298698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Smith–Waterman score threshold (225)</a:t>
            </a:r>
            <a:endParaRPr lang="en-US" sz="1272" dirty="0"/>
          </a:p>
        </p:txBody>
      </p:sp>
      <p:sp>
        <p:nvSpPr>
          <p:cNvPr id="19" name="te-missed_18"/>
          <p:cNvSpPr txBox="1"/>
          <p:nvPr/>
        </p:nvSpPr>
        <p:spPr>
          <a:xfrm rot="16200000">
            <a:off x="781812" y="5193060"/>
            <a:ext cx="569854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272" dirty="0"/>
          </a:p>
        </p:txBody>
      </p:sp>
      <p:sp>
        <p:nvSpPr>
          <p:cNvPr id="20" name="te-missed_19"/>
          <p:cNvSpPr/>
          <p:nvPr/>
        </p:nvSpPr>
        <p:spPr>
          <a:xfrm flipV="1">
            <a:off x="4876770" y="611121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21" name="te-missed_20"/>
          <p:cNvSpPr/>
          <p:nvPr/>
        </p:nvSpPr>
        <p:spPr>
          <a:xfrm flipV="1">
            <a:off x="4953030" y="605031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22" name="te-missed_21"/>
          <p:cNvSpPr/>
          <p:nvPr/>
        </p:nvSpPr>
        <p:spPr>
          <a:xfrm flipV="1">
            <a:off x="5029200" y="598932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23" name="te-missed_22"/>
          <p:cNvSpPr/>
          <p:nvPr/>
        </p:nvSpPr>
        <p:spPr>
          <a:xfrm flipV="1">
            <a:off x="5105370" y="592833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24" name="te-missed_23"/>
          <p:cNvSpPr/>
          <p:nvPr/>
        </p:nvSpPr>
        <p:spPr>
          <a:xfrm flipV="1">
            <a:off x="5181630" y="586743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25" name="te-missed_24"/>
          <p:cNvSpPr/>
          <p:nvPr/>
        </p:nvSpPr>
        <p:spPr>
          <a:xfrm>
            <a:off x="5257800" y="5867430"/>
            <a:ext cx="76170" cy="9144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26" name="te-missed_25"/>
          <p:cNvSpPr/>
          <p:nvPr/>
        </p:nvSpPr>
        <p:spPr>
          <a:xfrm flipV="1">
            <a:off x="5333970" y="589788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27" name="te-missed_26"/>
          <p:cNvSpPr/>
          <p:nvPr/>
        </p:nvSpPr>
        <p:spPr>
          <a:xfrm flipV="1">
            <a:off x="5410230" y="583689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28" name="te-missed_27"/>
          <p:cNvSpPr/>
          <p:nvPr/>
        </p:nvSpPr>
        <p:spPr>
          <a:xfrm flipV="1">
            <a:off x="5486400" y="577599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29" name="te-missed_28"/>
          <p:cNvSpPr/>
          <p:nvPr/>
        </p:nvSpPr>
        <p:spPr>
          <a:xfrm flipV="1">
            <a:off x="5562570" y="571500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30" name="te-missed_29"/>
          <p:cNvSpPr/>
          <p:nvPr/>
        </p:nvSpPr>
        <p:spPr>
          <a:xfrm flipV="1">
            <a:off x="5638830" y="565401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31" name="te-missed_30"/>
          <p:cNvSpPr/>
          <p:nvPr/>
        </p:nvSpPr>
        <p:spPr>
          <a:xfrm flipV="1">
            <a:off x="5715000" y="559311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32" name="te-missed_31"/>
          <p:cNvSpPr/>
          <p:nvPr/>
        </p:nvSpPr>
        <p:spPr>
          <a:xfrm flipV="1">
            <a:off x="5791170" y="553212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33" name="te-missed_32"/>
          <p:cNvSpPr/>
          <p:nvPr/>
        </p:nvSpPr>
        <p:spPr>
          <a:xfrm>
            <a:off x="5867430" y="5532120"/>
            <a:ext cx="76170" cy="9144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34" name="te-missed_33"/>
          <p:cNvSpPr/>
          <p:nvPr/>
        </p:nvSpPr>
        <p:spPr>
          <a:xfrm flipV="1">
            <a:off x="5943600" y="556257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35" name="te-missed_34"/>
          <p:cNvSpPr/>
          <p:nvPr/>
        </p:nvSpPr>
        <p:spPr>
          <a:xfrm flipV="1">
            <a:off x="6019770" y="550167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36" name="te-missed_35"/>
          <p:cNvSpPr/>
          <p:nvPr/>
        </p:nvSpPr>
        <p:spPr>
          <a:xfrm flipV="1">
            <a:off x="6096030" y="544068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37" name="te-missed_36"/>
          <p:cNvSpPr/>
          <p:nvPr/>
        </p:nvSpPr>
        <p:spPr>
          <a:xfrm flipV="1">
            <a:off x="6172200" y="537969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38" name="te-missed_37"/>
          <p:cNvSpPr/>
          <p:nvPr/>
        </p:nvSpPr>
        <p:spPr>
          <a:xfrm flipV="1">
            <a:off x="6248370" y="531879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39" name="te-missed_38"/>
          <p:cNvSpPr/>
          <p:nvPr/>
        </p:nvSpPr>
        <p:spPr>
          <a:xfrm flipV="1">
            <a:off x="6324630" y="525780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40" name="te-missed_39"/>
          <p:cNvSpPr/>
          <p:nvPr/>
        </p:nvSpPr>
        <p:spPr>
          <a:xfrm>
            <a:off x="6400800" y="5257800"/>
            <a:ext cx="76170" cy="9144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41" name="te-missed_40"/>
          <p:cNvSpPr/>
          <p:nvPr/>
        </p:nvSpPr>
        <p:spPr>
          <a:xfrm flipV="1">
            <a:off x="6476970" y="528825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42" name="te-missed_41"/>
          <p:cNvSpPr/>
          <p:nvPr/>
        </p:nvSpPr>
        <p:spPr>
          <a:xfrm flipV="1">
            <a:off x="6553230" y="522735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43" name="te-missed_42"/>
          <p:cNvSpPr/>
          <p:nvPr/>
        </p:nvSpPr>
        <p:spPr>
          <a:xfrm flipV="1">
            <a:off x="6629400" y="516636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44" name="te-missed_43"/>
          <p:cNvSpPr/>
          <p:nvPr/>
        </p:nvSpPr>
        <p:spPr>
          <a:xfrm flipV="1">
            <a:off x="6705570" y="510537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45" name="te-missed_44"/>
          <p:cNvSpPr/>
          <p:nvPr/>
        </p:nvSpPr>
        <p:spPr>
          <a:xfrm flipV="1">
            <a:off x="6781830" y="504447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46" name="te-missed_45"/>
          <p:cNvSpPr/>
          <p:nvPr/>
        </p:nvSpPr>
        <p:spPr>
          <a:xfrm flipV="1">
            <a:off x="6858000" y="498348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47" name="te-missed_46"/>
          <p:cNvSpPr/>
          <p:nvPr/>
        </p:nvSpPr>
        <p:spPr>
          <a:xfrm flipV="1">
            <a:off x="6934170" y="492249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48" name="te-missed_47"/>
          <p:cNvSpPr/>
          <p:nvPr/>
        </p:nvSpPr>
        <p:spPr>
          <a:xfrm flipV="1">
            <a:off x="7010430" y="486159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49" name="te-missed_48"/>
          <p:cNvSpPr/>
          <p:nvPr/>
        </p:nvSpPr>
        <p:spPr>
          <a:xfrm>
            <a:off x="7086600" y="4861590"/>
            <a:ext cx="76170" cy="9144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50" name="te-missed_49"/>
          <p:cNvSpPr/>
          <p:nvPr/>
        </p:nvSpPr>
        <p:spPr>
          <a:xfrm flipV="1">
            <a:off x="7162770" y="489204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51" name="te-missed_50"/>
          <p:cNvSpPr/>
          <p:nvPr/>
        </p:nvSpPr>
        <p:spPr>
          <a:xfrm flipV="1">
            <a:off x="7239030" y="483105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52" name="te-missed_51"/>
          <p:cNvSpPr/>
          <p:nvPr/>
        </p:nvSpPr>
        <p:spPr>
          <a:xfrm flipV="1">
            <a:off x="7315200" y="477015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53" name="te-missed_52"/>
          <p:cNvSpPr/>
          <p:nvPr/>
        </p:nvSpPr>
        <p:spPr>
          <a:xfrm flipV="1">
            <a:off x="7391370" y="470916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54" name="te-missed_53"/>
          <p:cNvSpPr/>
          <p:nvPr/>
        </p:nvSpPr>
        <p:spPr>
          <a:xfrm flipV="1">
            <a:off x="7467630" y="464817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55" name="te-missed_54"/>
          <p:cNvSpPr/>
          <p:nvPr/>
        </p:nvSpPr>
        <p:spPr>
          <a:xfrm flipV="1">
            <a:off x="7543800" y="458727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56" name="te-missed_55"/>
          <p:cNvSpPr/>
          <p:nvPr/>
        </p:nvSpPr>
        <p:spPr>
          <a:xfrm flipV="1">
            <a:off x="5638830" y="611121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57" name="te-missed_56"/>
          <p:cNvSpPr/>
          <p:nvPr/>
        </p:nvSpPr>
        <p:spPr>
          <a:xfrm flipV="1">
            <a:off x="5715000" y="605031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58" name="te-missed_57"/>
          <p:cNvSpPr/>
          <p:nvPr/>
        </p:nvSpPr>
        <p:spPr>
          <a:xfrm flipV="1">
            <a:off x="5791170" y="598932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59" name="te-missed_58"/>
          <p:cNvSpPr/>
          <p:nvPr/>
        </p:nvSpPr>
        <p:spPr>
          <a:xfrm flipV="1">
            <a:off x="5867430" y="592833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60" name="te-missed_59"/>
          <p:cNvSpPr/>
          <p:nvPr/>
        </p:nvSpPr>
        <p:spPr>
          <a:xfrm flipV="1">
            <a:off x="5943600" y="586743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61" name="te-missed_60"/>
          <p:cNvSpPr/>
          <p:nvPr/>
        </p:nvSpPr>
        <p:spPr>
          <a:xfrm flipV="1">
            <a:off x="6019770" y="580644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62" name="te-missed_61"/>
          <p:cNvSpPr/>
          <p:nvPr/>
        </p:nvSpPr>
        <p:spPr>
          <a:xfrm>
            <a:off x="6096030" y="5806440"/>
            <a:ext cx="76170" cy="9144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63" name="te-missed_62"/>
          <p:cNvSpPr/>
          <p:nvPr/>
        </p:nvSpPr>
        <p:spPr>
          <a:xfrm flipV="1">
            <a:off x="6172200" y="583689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64" name="te-missed_63"/>
          <p:cNvSpPr/>
          <p:nvPr/>
        </p:nvSpPr>
        <p:spPr>
          <a:xfrm flipV="1">
            <a:off x="6248370" y="577599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65" name="te-missed_64"/>
          <p:cNvSpPr/>
          <p:nvPr/>
        </p:nvSpPr>
        <p:spPr>
          <a:xfrm flipV="1">
            <a:off x="6324630" y="571500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66" name="te-missed_65"/>
          <p:cNvSpPr/>
          <p:nvPr/>
        </p:nvSpPr>
        <p:spPr>
          <a:xfrm flipV="1">
            <a:off x="6400800" y="565401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67" name="te-missed_66"/>
          <p:cNvSpPr/>
          <p:nvPr/>
        </p:nvSpPr>
        <p:spPr>
          <a:xfrm flipV="1">
            <a:off x="6476970" y="559311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68" name="te-missed_67"/>
          <p:cNvSpPr/>
          <p:nvPr/>
        </p:nvSpPr>
        <p:spPr>
          <a:xfrm flipV="1">
            <a:off x="6553230" y="553212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69" name="te-missed_68"/>
          <p:cNvSpPr/>
          <p:nvPr/>
        </p:nvSpPr>
        <p:spPr>
          <a:xfrm flipV="1">
            <a:off x="6629400" y="5471130"/>
            <a:ext cx="76170" cy="60990"/>
          </a:xfrm>
          <a:prstGeom prst="line">
            <a:avLst/>
          </a:prstGeom>
          <a:ln w="30480">
            <a:solidFill>
              <a:srgbClr val="F9BE00"/>
            </a:solidFill>
            <a:prstDash val="solid"/>
          </a:ln>
        </p:spPr>
      </p:sp>
      <p:sp>
        <p:nvSpPr>
          <p:cNvPr id="70" name="te-missed_69"/>
          <p:cNvSpPr/>
          <p:nvPr/>
        </p:nvSpPr>
        <p:spPr>
          <a:xfrm>
            <a:off x="761970" y="3368010"/>
            <a:ext cx="1524030" cy="42675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1" name="te-missed_70"/>
          <p:cNvSpPr/>
          <p:nvPr/>
        </p:nvSpPr>
        <p:spPr>
          <a:xfrm>
            <a:off x="761970" y="2834640"/>
            <a:ext cx="1524030" cy="533370"/>
          </a:xfrm>
          <a:prstGeom prst="roundRect">
            <a:avLst>
              <a:gd name="adj" fmla="val 17144"/>
            </a:avLst>
          </a:prstGeom>
          <a:solidFill>
            <a:srgbClr val="1D34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2" name="te-missed_71"/>
          <p:cNvSpPr txBox="1"/>
          <p:nvPr/>
        </p:nvSpPr>
        <p:spPr>
          <a:xfrm>
            <a:off x="678028" y="2977561"/>
            <a:ext cx="1692646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RepeatMasker</a:t>
            </a:r>
            <a:endParaRPr lang="en-US" sz="1654" dirty="0"/>
          </a:p>
        </p:txBody>
      </p:sp>
      <p:sp>
        <p:nvSpPr>
          <p:cNvPr id="73" name="te-missed_72"/>
          <p:cNvSpPr txBox="1"/>
          <p:nvPr/>
        </p:nvSpPr>
        <p:spPr>
          <a:xfrm>
            <a:off x="5579943" y="3959718"/>
            <a:ext cx="133694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6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 ✅</a:t>
            </a:r>
            <a:endParaRPr lang="en-US" sz="1526" dirty="0"/>
          </a:p>
        </p:txBody>
      </p:sp>
      <p:sp>
        <p:nvSpPr>
          <p:cNvPr id="74" name="te-missed_73"/>
          <p:cNvSpPr txBox="1"/>
          <p:nvPr/>
        </p:nvSpPr>
        <p:spPr>
          <a:xfrm>
            <a:off x="4545848" y="3954780"/>
            <a:ext cx="32527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6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threshold: not annotated</a:t>
            </a:r>
            <a:endParaRPr lang="en-US" sz="1526" dirty="0"/>
          </a:p>
        </p:txBody>
      </p:sp>
      <p:sp>
        <p:nvSpPr>
          <p:cNvPr id="75" name="te-missed_74"/>
          <p:cNvSpPr/>
          <p:nvPr/>
        </p:nvSpPr>
        <p:spPr>
          <a:xfrm>
            <a:off x="2286000" y="3368010"/>
            <a:ext cx="304797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76" name="te-missed_75"/>
          <p:cNvSpPr/>
          <p:nvPr/>
        </p:nvSpPr>
        <p:spPr>
          <a:xfrm>
            <a:off x="5333970" y="3368010"/>
            <a:ext cx="152403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77" name="te-missed_76"/>
          <p:cNvSpPr/>
          <p:nvPr/>
        </p:nvSpPr>
        <p:spPr>
          <a:xfrm>
            <a:off x="6858000" y="3368010"/>
            <a:ext cx="304797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78" name="te-missed_77"/>
          <p:cNvSpPr/>
          <p:nvPr/>
        </p:nvSpPr>
        <p:spPr>
          <a:xfrm>
            <a:off x="2278410" y="3162270"/>
            <a:ext cx="15270" cy="5333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te-missed_78"/>
          <p:cNvSpPr txBox="1"/>
          <p:nvPr/>
        </p:nvSpPr>
        <p:spPr>
          <a:xfrm>
            <a:off x="4933737" y="3743371"/>
            <a:ext cx="232458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 content: 45%</a:t>
            </a:r>
            <a:endParaRPr lang="en-US" sz="1908" dirty="0"/>
          </a:p>
        </p:txBody>
      </p:sp>
      <p:sp>
        <p:nvSpPr>
          <p:cNvPr id="80" name="te-missed_79"/>
          <p:cNvSpPr txBox="1"/>
          <p:nvPr/>
        </p:nvSpPr>
        <p:spPr>
          <a:xfrm>
            <a:off x="4766401" y="4288170"/>
            <a:ext cx="2659258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GC scoring matrix</a:t>
            </a:r>
            <a:endParaRPr lang="en-US" sz="1654" dirty="0"/>
          </a:p>
        </p:txBody>
      </p:sp>
      <p:sp>
        <p:nvSpPr>
          <p:cNvPr id="81" name="te-missed_80"/>
          <p:cNvSpPr txBox="1"/>
          <p:nvPr/>
        </p:nvSpPr>
        <p:spPr>
          <a:xfrm>
            <a:off x="5416723" y="4714829"/>
            <a:ext cx="218633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99" dirty="0"/>
          </a:p>
        </p:txBody>
      </p:sp>
      <p:sp>
        <p:nvSpPr>
          <p:cNvPr id="82" name="te-missed_81"/>
          <p:cNvSpPr txBox="1"/>
          <p:nvPr/>
        </p:nvSpPr>
        <p:spPr>
          <a:xfrm>
            <a:off x="5073823" y="5038710"/>
            <a:ext cx="218633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99" dirty="0"/>
          </a:p>
        </p:txBody>
      </p:sp>
      <p:sp>
        <p:nvSpPr>
          <p:cNvPr id="83" name="te-missed_82"/>
          <p:cNvSpPr txBox="1"/>
          <p:nvPr/>
        </p:nvSpPr>
        <p:spPr>
          <a:xfrm>
            <a:off x="5797662" y="4714829"/>
            <a:ext cx="218633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99" dirty="0"/>
          </a:p>
        </p:txBody>
      </p:sp>
      <p:sp>
        <p:nvSpPr>
          <p:cNvPr id="84" name="te-missed_83"/>
          <p:cNvSpPr txBox="1"/>
          <p:nvPr/>
        </p:nvSpPr>
        <p:spPr>
          <a:xfrm>
            <a:off x="5073823" y="5419740"/>
            <a:ext cx="218633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99" dirty="0"/>
          </a:p>
        </p:txBody>
      </p:sp>
      <p:sp>
        <p:nvSpPr>
          <p:cNvPr id="85" name="te-missed_84"/>
          <p:cNvSpPr txBox="1"/>
          <p:nvPr/>
        </p:nvSpPr>
        <p:spPr>
          <a:xfrm>
            <a:off x="6178875" y="4714829"/>
            <a:ext cx="215250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399" dirty="0"/>
          </a:p>
        </p:txBody>
      </p:sp>
      <p:sp>
        <p:nvSpPr>
          <p:cNvPr id="86" name="te-missed_85"/>
          <p:cNvSpPr txBox="1"/>
          <p:nvPr/>
        </p:nvSpPr>
        <p:spPr>
          <a:xfrm>
            <a:off x="5074006" y="5800679"/>
            <a:ext cx="215250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399" dirty="0"/>
          </a:p>
        </p:txBody>
      </p:sp>
      <p:sp>
        <p:nvSpPr>
          <p:cNvPr id="87" name="te-missed_86"/>
          <p:cNvSpPr txBox="1"/>
          <p:nvPr/>
        </p:nvSpPr>
        <p:spPr>
          <a:xfrm>
            <a:off x="6559723" y="4714829"/>
            <a:ext cx="218633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399" dirty="0"/>
          </a:p>
        </p:txBody>
      </p:sp>
      <p:sp>
        <p:nvSpPr>
          <p:cNvPr id="88" name="te-missed_87"/>
          <p:cNvSpPr txBox="1"/>
          <p:nvPr/>
        </p:nvSpPr>
        <p:spPr>
          <a:xfrm>
            <a:off x="5073823" y="6181710"/>
            <a:ext cx="218633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399" dirty="0"/>
          </a:p>
        </p:txBody>
      </p:sp>
      <p:sp>
        <p:nvSpPr>
          <p:cNvPr id="89" name="te-missed_88"/>
          <p:cNvSpPr/>
          <p:nvPr/>
        </p:nvSpPr>
        <p:spPr>
          <a:xfrm>
            <a:off x="5349240" y="4968210"/>
            <a:ext cx="350490" cy="350490"/>
          </a:xfrm>
          <a:prstGeom prst="roundRect">
            <a:avLst>
              <a:gd name="adj" fmla="val 13045"/>
            </a:avLst>
          </a:prstGeom>
          <a:solidFill>
            <a:srgbClr val="F9BE00"/>
          </a:solidFill>
          <a:ln/>
        </p:spPr>
      </p:sp>
      <p:sp>
        <p:nvSpPr>
          <p:cNvPr id="90" name="te-missed_89"/>
          <p:cNvSpPr txBox="1"/>
          <p:nvPr/>
        </p:nvSpPr>
        <p:spPr>
          <a:xfrm>
            <a:off x="5380878" y="5057729"/>
            <a:ext cx="28730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5" b="1" dirty="0">
                <a:solidFill>
                  <a:srgbClr val="1D1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</a:t>
            </a:r>
            <a:endParaRPr lang="en-US" sz="1145" dirty="0"/>
          </a:p>
        </p:txBody>
      </p:sp>
      <p:sp>
        <p:nvSpPr>
          <p:cNvPr id="91" name="te-missed_90"/>
          <p:cNvSpPr/>
          <p:nvPr/>
        </p:nvSpPr>
        <p:spPr>
          <a:xfrm>
            <a:off x="5730270" y="4968210"/>
            <a:ext cx="350490" cy="350490"/>
          </a:xfrm>
          <a:prstGeom prst="roundRect">
            <a:avLst>
              <a:gd name="adj" fmla="val 13045"/>
            </a:avLst>
          </a:prstGeom>
          <a:solidFill>
            <a:srgbClr val="1C2735"/>
          </a:solidFill>
          <a:ln/>
        </p:spPr>
      </p:sp>
      <p:sp>
        <p:nvSpPr>
          <p:cNvPr id="92" name="te-missed_91"/>
          <p:cNvSpPr txBox="1"/>
          <p:nvPr/>
        </p:nvSpPr>
        <p:spPr>
          <a:xfrm>
            <a:off x="5729630" y="5057729"/>
            <a:ext cx="35177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−15</a:t>
            </a:r>
            <a:endParaRPr lang="en-US" sz="1145" dirty="0"/>
          </a:p>
        </p:txBody>
      </p:sp>
      <p:sp>
        <p:nvSpPr>
          <p:cNvPr id="93" name="te-missed_92"/>
          <p:cNvSpPr/>
          <p:nvPr/>
        </p:nvSpPr>
        <p:spPr>
          <a:xfrm>
            <a:off x="6111210" y="4968210"/>
            <a:ext cx="350490" cy="350490"/>
          </a:xfrm>
          <a:prstGeom prst="roundRect">
            <a:avLst>
              <a:gd name="adj" fmla="val 13045"/>
            </a:avLst>
          </a:prstGeom>
          <a:solidFill>
            <a:srgbClr val="2A3441"/>
          </a:solidFill>
          <a:ln/>
        </p:spPr>
      </p:sp>
      <p:sp>
        <p:nvSpPr>
          <p:cNvPr id="94" name="te-missed_93"/>
          <p:cNvSpPr txBox="1"/>
          <p:nvPr/>
        </p:nvSpPr>
        <p:spPr>
          <a:xfrm>
            <a:off x="6142848" y="5057729"/>
            <a:ext cx="28730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</a:t>
            </a:r>
            <a:endParaRPr lang="en-US" sz="1145" dirty="0"/>
          </a:p>
        </p:txBody>
      </p:sp>
      <p:sp>
        <p:nvSpPr>
          <p:cNvPr id="95" name="te-missed_94"/>
          <p:cNvSpPr/>
          <p:nvPr/>
        </p:nvSpPr>
        <p:spPr>
          <a:xfrm>
            <a:off x="6492240" y="4968210"/>
            <a:ext cx="350490" cy="350490"/>
          </a:xfrm>
          <a:prstGeom prst="roundRect">
            <a:avLst>
              <a:gd name="adj" fmla="val 13045"/>
            </a:avLst>
          </a:prstGeom>
          <a:solidFill>
            <a:srgbClr val="1C2735"/>
          </a:solidFill>
          <a:ln/>
        </p:spPr>
      </p:sp>
      <p:sp>
        <p:nvSpPr>
          <p:cNvPr id="96" name="te-missed_95"/>
          <p:cNvSpPr txBox="1"/>
          <p:nvPr/>
        </p:nvSpPr>
        <p:spPr>
          <a:xfrm>
            <a:off x="6495806" y="5057729"/>
            <a:ext cx="3433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−17</a:t>
            </a:r>
            <a:endParaRPr lang="en-US" sz="1145" dirty="0"/>
          </a:p>
        </p:txBody>
      </p:sp>
      <p:sp>
        <p:nvSpPr>
          <p:cNvPr id="97" name="te-missed_96"/>
          <p:cNvSpPr/>
          <p:nvPr/>
        </p:nvSpPr>
        <p:spPr>
          <a:xfrm>
            <a:off x="5349240" y="5349240"/>
            <a:ext cx="350490" cy="350490"/>
          </a:xfrm>
          <a:prstGeom prst="roundRect">
            <a:avLst>
              <a:gd name="adj" fmla="val 13045"/>
            </a:avLst>
          </a:prstGeom>
          <a:solidFill>
            <a:srgbClr val="1C2735"/>
          </a:solidFill>
          <a:ln/>
        </p:spPr>
      </p:sp>
      <p:sp>
        <p:nvSpPr>
          <p:cNvPr id="98" name="te-missed_97"/>
          <p:cNvSpPr txBox="1"/>
          <p:nvPr/>
        </p:nvSpPr>
        <p:spPr>
          <a:xfrm>
            <a:off x="5348691" y="5438760"/>
            <a:ext cx="35177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−15</a:t>
            </a:r>
            <a:endParaRPr lang="en-US" sz="1145" dirty="0"/>
          </a:p>
        </p:txBody>
      </p:sp>
      <p:sp>
        <p:nvSpPr>
          <p:cNvPr id="99" name="te-missed_98"/>
          <p:cNvSpPr/>
          <p:nvPr/>
        </p:nvSpPr>
        <p:spPr>
          <a:xfrm>
            <a:off x="5730270" y="5349240"/>
            <a:ext cx="350490" cy="350490"/>
          </a:xfrm>
          <a:prstGeom prst="roundRect">
            <a:avLst>
              <a:gd name="adj" fmla="val 13045"/>
            </a:avLst>
          </a:prstGeom>
          <a:solidFill>
            <a:srgbClr val="F9BE00"/>
          </a:solidFill>
          <a:ln/>
        </p:spPr>
      </p:sp>
      <p:sp>
        <p:nvSpPr>
          <p:cNvPr id="100" name="te-missed_99"/>
          <p:cNvSpPr txBox="1"/>
          <p:nvPr/>
        </p:nvSpPr>
        <p:spPr>
          <a:xfrm>
            <a:off x="5727253" y="5438760"/>
            <a:ext cx="3564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5" b="1" dirty="0">
                <a:solidFill>
                  <a:srgbClr val="1D1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</a:t>
            </a:r>
            <a:endParaRPr lang="en-US" sz="1145" dirty="0"/>
          </a:p>
        </p:txBody>
      </p:sp>
      <p:sp>
        <p:nvSpPr>
          <p:cNvPr id="101" name="te-missed_100"/>
          <p:cNvSpPr/>
          <p:nvPr/>
        </p:nvSpPr>
        <p:spPr>
          <a:xfrm>
            <a:off x="6111210" y="5349240"/>
            <a:ext cx="350490" cy="350490"/>
          </a:xfrm>
          <a:prstGeom prst="roundRect">
            <a:avLst>
              <a:gd name="adj" fmla="val 13045"/>
            </a:avLst>
          </a:prstGeom>
          <a:solidFill>
            <a:srgbClr val="1C2735"/>
          </a:solidFill>
          <a:ln/>
        </p:spPr>
      </p:sp>
      <p:sp>
        <p:nvSpPr>
          <p:cNvPr id="102" name="te-missed_101"/>
          <p:cNvSpPr txBox="1"/>
          <p:nvPr/>
        </p:nvSpPr>
        <p:spPr>
          <a:xfrm>
            <a:off x="6110661" y="5438760"/>
            <a:ext cx="35177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−15</a:t>
            </a:r>
            <a:endParaRPr lang="en-US" sz="1145" dirty="0"/>
          </a:p>
        </p:txBody>
      </p:sp>
      <p:sp>
        <p:nvSpPr>
          <p:cNvPr id="103" name="te-missed_102"/>
          <p:cNvSpPr/>
          <p:nvPr/>
        </p:nvSpPr>
        <p:spPr>
          <a:xfrm>
            <a:off x="6492240" y="5349240"/>
            <a:ext cx="350490" cy="350490"/>
          </a:xfrm>
          <a:prstGeom prst="roundRect">
            <a:avLst>
              <a:gd name="adj" fmla="val 13045"/>
            </a:avLst>
          </a:prstGeom>
          <a:solidFill>
            <a:srgbClr val="2A3441"/>
          </a:solidFill>
          <a:ln/>
        </p:spPr>
      </p:sp>
      <p:sp>
        <p:nvSpPr>
          <p:cNvPr id="104" name="te-missed_103"/>
          <p:cNvSpPr txBox="1"/>
          <p:nvPr/>
        </p:nvSpPr>
        <p:spPr>
          <a:xfrm>
            <a:off x="6523878" y="5438760"/>
            <a:ext cx="28730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</a:t>
            </a:r>
            <a:endParaRPr lang="en-US" sz="1145" dirty="0"/>
          </a:p>
        </p:txBody>
      </p:sp>
      <p:sp>
        <p:nvSpPr>
          <p:cNvPr id="105" name="te-missed_104"/>
          <p:cNvSpPr/>
          <p:nvPr/>
        </p:nvSpPr>
        <p:spPr>
          <a:xfrm>
            <a:off x="5349240" y="5730270"/>
            <a:ext cx="350490" cy="350490"/>
          </a:xfrm>
          <a:prstGeom prst="roundRect">
            <a:avLst>
              <a:gd name="adj" fmla="val 13045"/>
            </a:avLst>
          </a:prstGeom>
          <a:solidFill>
            <a:srgbClr val="2A3441"/>
          </a:solidFill>
          <a:ln/>
        </p:spPr>
      </p:sp>
      <p:sp>
        <p:nvSpPr>
          <p:cNvPr id="106" name="te-missed_105"/>
          <p:cNvSpPr txBox="1"/>
          <p:nvPr/>
        </p:nvSpPr>
        <p:spPr>
          <a:xfrm>
            <a:off x="5380878" y="5819790"/>
            <a:ext cx="28730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</a:t>
            </a:r>
            <a:endParaRPr lang="en-US" sz="1145" dirty="0"/>
          </a:p>
        </p:txBody>
      </p:sp>
      <p:sp>
        <p:nvSpPr>
          <p:cNvPr id="107" name="te-missed_106"/>
          <p:cNvSpPr/>
          <p:nvPr/>
        </p:nvSpPr>
        <p:spPr>
          <a:xfrm>
            <a:off x="5730270" y="5730270"/>
            <a:ext cx="350490" cy="350490"/>
          </a:xfrm>
          <a:prstGeom prst="roundRect">
            <a:avLst>
              <a:gd name="adj" fmla="val 13045"/>
            </a:avLst>
          </a:prstGeom>
          <a:solidFill>
            <a:srgbClr val="1C2735"/>
          </a:solidFill>
          <a:ln/>
        </p:spPr>
      </p:sp>
      <p:sp>
        <p:nvSpPr>
          <p:cNvPr id="108" name="te-missed_107"/>
          <p:cNvSpPr txBox="1"/>
          <p:nvPr/>
        </p:nvSpPr>
        <p:spPr>
          <a:xfrm>
            <a:off x="5729630" y="5819790"/>
            <a:ext cx="35177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−15</a:t>
            </a:r>
            <a:endParaRPr lang="en-US" sz="1145" dirty="0"/>
          </a:p>
        </p:txBody>
      </p:sp>
      <p:sp>
        <p:nvSpPr>
          <p:cNvPr id="109" name="te-missed_108"/>
          <p:cNvSpPr/>
          <p:nvPr/>
        </p:nvSpPr>
        <p:spPr>
          <a:xfrm>
            <a:off x="6111210" y="5730270"/>
            <a:ext cx="350490" cy="350490"/>
          </a:xfrm>
          <a:prstGeom prst="roundRect">
            <a:avLst>
              <a:gd name="adj" fmla="val 13045"/>
            </a:avLst>
          </a:prstGeom>
          <a:solidFill>
            <a:srgbClr val="F9BE00"/>
          </a:solidFill>
          <a:ln/>
        </p:spPr>
      </p:sp>
      <p:sp>
        <p:nvSpPr>
          <p:cNvPr id="110" name="te-missed_109"/>
          <p:cNvSpPr txBox="1"/>
          <p:nvPr/>
        </p:nvSpPr>
        <p:spPr>
          <a:xfrm>
            <a:off x="6108283" y="5819790"/>
            <a:ext cx="3564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5" b="1" dirty="0">
                <a:solidFill>
                  <a:srgbClr val="1D1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</a:t>
            </a:r>
            <a:endParaRPr lang="en-US" sz="1145" dirty="0"/>
          </a:p>
        </p:txBody>
      </p:sp>
      <p:sp>
        <p:nvSpPr>
          <p:cNvPr id="111" name="te-missed_110"/>
          <p:cNvSpPr/>
          <p:nvPr/>
        </p:nvSpPr>
        <p:spPr>
          <a:xfrm>
            <a:off x="6492240" y="5730270"/>
            <a:ext cx="350490" cy="350490"/>
          </a:xfrm>
          <a:prstGeom prst="roundRect">
            <a:avLst>
              <a:gd name="adj" fmla="val 13045"/>
            </a:avLst>
          </a:prstGeom>
          <a:solidFill>
            <a:srgbClr val="1C2735"/>
          </a:solidFill>
          <a:ln/>
        </p:spPr>
      </p:sp>
      <p:sp>
        <p:nvSpPr>
          <p:cNvPr id="112" name="te-missed_111"/>
          <p:cNvSpPr txBox="1"/>
          <p:nvPr/>
        </p:nvSpPr>
        <p:spPr>
          <a:xfrm>
            <a:off x="6491691" y="5819790"/>
            <a:ext cx="35177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−15</a:t>
            </a:r>
            <a:endParaRPr lang="en-US" sz="1145" dirty="0"/>
          </a:p>
        </p:txBody>
      </p:sp>
      <p:sp>
        <p:nvSpPr>
          <p:cNvPr id="113" name="te-missed_112"/>
          <p:cNvSpPr/>
          <p:nvPr/>
        </p:nvSpPr>
        <p:spPr>
          <a:xfrm>
            <a:off x="5349240" y="6111210"/>
            <a:ext cx="350490" cy="350490"/>
          </a:xfrm>
          <a:prstGeom prst="roundRect">
            <a:avLst>
              <a:gd name="adj" fmla="val 13045"/>
            </a:avLst>
          </a:prstGeom>
          <a:solidFill>
            <a:srgbClr val="1C2735"/>
          </a:solidFill>
          <a:ln/>
        </p:spPr>
      </p:sp>
      <p:sp>
        <p:nvSpPr>
          <p:cNvPr id="114" name="te-missed_113"/>
          <p:cNvSpPr txBox="1"/>
          <p:nvPr/>
        </p:nvSpPr>
        <p:spPr>
          <a:xfrm>
            <a:off x="5352806" y="6200729"/>
            <a:ext cx="3433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−17</a:t>
            </a:r>
            <a:endParaRPr lang="en-US" sz="1145" dirty="0"/>
          </a:p>
        </p:txBody>
      </p:sp>
      <p:sp>
        <p:nvSpPr>
          <p:cNvPr id="115" name="te-missed_114"/>
          <p:cNvSpPr/>
          <p:nvPr/>
        </p:nvSpPr>
        <p:spPr>
          <a:xfrm>
            <a:off x="5730270" y="6111210"/>
            <a:ext cx="350490" cy="350490"/>
          </a:xfrm>
          <a:prstGeom prst="roundRect">
            <a:avLst>
              <a:gd name="adj" fmla="val 13045"/>
            </a:avLst>
          </a:prstGeom>
          <a:solidFill>
            <a:srgbClr val="2A3441"/>
          </a:solidFill>
          <a:ln/>
        </p:spPr>
      </p:sp>
      <p:sp>
        <p:nvSpPr>
          <p:cNvPr id="116" name="te-missed_115"/>
          <p:cNvSpPr txBox="1"/>
          <p:nvPr/>
        </p:nvSpPr>
        <p:spPr>
          <a:xfrm>
            <a:off x="5761817" y="6200729"/>
            <a:ext cx="28730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</a:t>
            </a:r>
            <a:endParaRPr lang="en-US" sz="1145" dirty="0"/>
          </a:p>
        </p:txBody>
      </p:sp>
      <p:sp>
        <p:nvSpPr>
          <p:cNvPr id="117" name="te-missed_116"/>
          <p:cNvSpPr/>
          <p:nvPr/>
        </p:nvSpPr>
        <p:spPr>
          <a:xfrm>
            <a:off x="6111210" y="6111210"/>
            <a:ext cx="350490" cy="350490"/>
          </a:xfrm>
          <a:prstGeom prst="roundRect">
            <a:avLst>
              <a:gd name="adj" fmla="val 13045"/>
            </a:avLst>
          </a:prstGeom>
          <a:solidFill>
            <a:srgbClr val="1C2735"/>
          </a:solidFill>
          <a:ln/>
        </p:spPr>
      </p:sp>
      <p:sp>
        <p:nvSpPr>
          <p:cNvPr id="118" name="te-missed_117"/>
          <p:cNvSpPr txBox="1"/>
          <p:nvPr/>
        </p:nvSpPr>
        <p:spPr>
          <a:xfrm>
            <a:off x="6110661" y="6200729"/>
            <a:ext cx="35177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−15</a:t>
            </a:r>
            <a:endParaRPr lang="en-US" sz="1145" dirty="0"/>
          </a:p>
        </p:txBody>
      </p:sp>
      <p:sp>
        <p:nvSpPr>
          <p:cNvPr id="119" name="te-missed_118"/>
          <p:cNvSpPr/>
          <p:nvPr/>
        </p:nvSpPr>
        <p:spPr>
          <a:xfrm>
            <a:off x="6492240" y="6111210"/>
            <a:ext cx="350490" cy="350490"/>
          </a:xfrm>
          <a:prstGeom prst="roundRect">
            <a:avLst>
              <a:gd name="adj" fmla="val 13045"/>
            </a:avLst>
          </a:prstGeom>
          <a:solidFill>
            <a:srgbClr val="F9BE00"/>
          </a:solidFill>
          <a:ln/>
        </p:spPr>
      </p:sp>
      <p:sp>
        <p:nvSpPr>
          <p:cNvPr id="120" name="te-missed_119"/>
          <p:cNvSpPr txBox="1"/>
          <p:nvPr/>
        </p:nvSpPr>
        <p:spPr>
          <a:xfrm>
            <a:off x="6523878" y="6200729"/>
            <a:ext cx="28730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5" b="1" dirty="0">
                <a:solidFill>
                  <a:srgbClr val="1D1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</a:t>
            </a:r>
            <a:endParaRPr lang="en-US" sz="1145" dirty="0"/>
          </a:p>
        </p:txBody>
      </p:sp>
      <p:sp>
        <p:nvSpPr>
          <p:cNvPr id="121" name="te-missed_120"/>
          <p:cNvSpPr/>
          <p:nvPr/>
        </p:nvSpPr>
        <p:spPr>
          <a:xfrm>
            <a:off x="2286000" y="3520440"/>
            <a:ext cx="761997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22" name="te-missed_121"/>
          <p:cNvSpPr/>
          <p:nvPr/>
        </p:nvSpPr>
        <p:spPr>
          <a:xfrm>
            <a:off x="4953030" y="3520440"/>
            <a:ext cx="228600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123" name="te-missed_122"/>
          <p:cNvSpPr/>
          <p:nvPr/>
        </p:nvSpPr>
        <p:spPr>
          <a:xfrm>
            <a:off x="2286000" y="3108960"/>
            <a:ext cx="7619970" cy="91440"/>
          </a:xfrm>
          <a:custGeom>
            <a:avLst/>
            <a:gdLst/>
            <a:ahLst/>
            <a:cxnLst/>
            <a:rect l="l" t="t" r="r" b="b"/>
            <a:pathLst>
              <a:path w="7619970" h="91440">
                <a:moveTo>
                  <a:pt x="0" y="91440"/>
                </a:moveTo>
                <a:lnTo>
                  <a:pt x="0" y="0"/>
                </a:lnTo>
                <a:lnTo>
                  <a:pt x="7619970" y="0"/>
                </a:lnTo>
                <a:lnTo>
                  <a:pt x="7619970" y="91440"/>
                </a:lnTo>
              </a:path>
            </a:pathLst>
          </a:custGeom>
          <a:ln w="15240">
            <a:solidFill>
              <a:srgbClr val="A9B5C2"/>
            </a:solidFill>
            <a:prstDash val="solid"/>
          </a:ln>
        </p:spPr>
      </p:sp>
      <p:sp>
        <p:nvSpPr>
          <p:cNvPr id="124" name="te-missed_123"/>
          <p:cNvSpPr txBox="1"/>
          <p:nvPr/>
        </p:nvSpPr>
        <p:spPr>
          <a:xfrm>
            <a:off x="5218572" y="2827050"/>
            <a:ext cx="175491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6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 window: 1 kb</a:t>
            </a:r>
            <a:endParaRPr lang="en-US" sz="1526" dirty="0"/>
          </a:p>
        </p:txBody>
      </p:sp>
      <p:sp>
        <p:nvSpPr>
          <p:cNvPr id="125" name="te-missed_124"/>
          <p:cNvSpPr txBox="1"/>
          <p:nvPr/>
        </p:nvSpPr>
        <p:spPr>
          <a:xfrm>
            <a:off x="5333512" y="3895710"/>
            <a:ext cx="152503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GC: 45.3%</a:t>
            </a:r>
            <a:endParaRPr lang="en-US" sz="1908" dirty="0"/>
          </a:p>
        </p:txBody>
      </p:sp>
      <p:sp>
        <p:nvSpPr>
          <p:cNvPr id="126" name="te-missed_125"/>
          <p:cNvSpPr txBox="1"/>
          <p:nvPr/>
        </p:nvSpPr>
        <p:spPr>
          <a:xfrm>
            <a:off x="5197450" y="2827050"/>
            <a:ext cx="179716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6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 window: 5 kb</a:t>
            </a:r>
            <a:endParaRPr lang="en-US" sz="1526" dirty="0"/>
          </a:p>
        </p:txBody>
      </p:sp>
      <p:sp>
        <p:nvSpPr>
          <p:cNvPr id="127" name="te-missed_126"/>
          <p:cNvSpPr txBox="1"/>
          <p:nvPr/>
        </p:nvSpPr>
        <p:spPr>
          <a:xfrm>
            <a:off x="5369723" y="3895710"/>
            <a:ext cx="145252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GC: 46.1%</a:t>
            </a:r>
            <a:endParaRPr lang="en-US" sz="1908" dirty="0"/>
          </a:p>
        </p:txBody>
      </p:sp>
      <p:sp>
        <p:nvSpPr>
          <p:cNvPr id="128" name="te-missed_127"/>
          <p:cNvSpPr txBox="1"/>
          <p:nvPr/>
        </p:nvSpPr>
        <p:spPr>
          <a:xfrm>
            <a:off x="5151364" y="2827050"/>
            <a:ext cx="188933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6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 window: 10 kb</a:t>
            </a:r>
            <a:endParaRPr lang="en-US" sz="1526" dirty="0"/>
          </a:p>
        </p:txBody>
      </p:sp>
      <p:sp>
        <p:nvSpPr>
          <p:cNvPr id="129" name="te-missed_128"/>
          <p:cNvSpPr txBox="1"/>
          <p:nvPr/>
        </p:nvSpPr>
        <p:spPr>
          <a:xfrm>
            <a:off x="5330129" y="3895710"/>
            <a:ext cx="153180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GC: 44.8%</a:t>
            </a:r>
            <a:endParaRPr lang="en-US" sz="1908" dirty="0"/>
          </a:p>
        </p:txBody>
      </p:sp>
      <p:sp>
        <p:nvSpPr>
          <p:cNvPr id="130" name="te-missed_129"/>
          <p:cNvSpPr txBox="1"/>
          <p:nvPr/>
        </p:nvSpPr>
        <p:spPr>
          <a:xfrm>
            <a:off x="5130333" y="2827050"/>
            <a:ext cx="193139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6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 window: 20 kb</a:t>
            </a:r>
            <a:endParaRPr lang="en-US" sz="1526" dirty="0"/>
          </a:p>
        </p:txBody>
      </p:sp>
      <p:sp>
        <p:nvSpPr>
          <p:cNvPr id="131" name="te-missed_130"/>
          <p:cNvSpPr txBox="1"/>
          <p:nvPr/>
        </p:nvSpPr>
        <p:spPr>
          <a:xfrm>
            <a:off x="5353355" y="3895710"/>
            <a:ext cx="148526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GC: 47.2%</a:t>
            </a:r>
            <a:endParaRPr lang="en-US" sz="1908" dirty="0"/>
          </a:p>
        </p:txBody>
      </p:sp>
      <p:sp>
        <p:nvSpPr>
          <p:cNvPr id="132" name="te-missed_131"/>
          <p:cNvSpPr txBox="1"/>
          <p:nvPr/>
        </p:nvSpPr>
        <p:spPr>
          <a:xfrm>
            <a:off x="5129235" y="2827050"/>
            <a:ext cx="193349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6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 window: 30 kb</a:t>
            </a:r>
            <a:endParaRPr lang="en-US" sz="1526" dirty="0"/>
          </a:p>
        </p:txBody>
      </p:sp>
      <p:sp>
        <p:nvSpPr>
          <p:cNvPr id="133" name="te-missed_132"/>
          <p:cNvSpPr txBox="1"/>
          <p:nvPr/>
        </p:nvSpPr>
        <p:spPr>
          <a:xfrm>
            <a:off x="5331684" y="3895710"/>
            <a:ext cx="152851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GC: 46.5%</a:t>
            </a:r>
            <a:endParaRPr lang="en-US" sz="1908" dirty="0"/>
          </a:p>
        </p:txBody>
      </p:sp>
      <p:sp>
        <p:nvSpPr>
          <p:cNvPr id="134" name="te-missed_133"/>
          <p:cNvSpPr txBox="1"/>
          <p:nvPr/>
        </p:nvSpPr>
        <p:spPr>
          <a:xfrm>
            <a:off x="5126126" y="2827050"/>
            <a:ext cx="193971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6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 window: 40 kb</a:t>
            </a:r>
            <a:endParaRPr lang="en-US" sz="1526" dirty="0"/>
          </a:p>
        </p:txBody>
      </p:sp>
      <p:sp>
        <p:nvSpPr>
          <p:cNvPr id="135" name="te-missed_134"/>
          <p:cNvSpPr txBox="1"/>
          <p:nvPr/>
        </p:nvSpPr>
        <p:spPr>
          <a:xfrm>
            <a:off x="5324734" y="3895710"/>
            <a:ext cx="154250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GC: 48.4%</a:t>
            </a:r>
            <a:endParaRPr lang="en-US" sz="1908" dirty="0"/>
          </a:p>
        </p:txBody>
      </p:sp>
      <p:sp>
        <p:nvSpPr>
          <p:cNvPr id="136" name="te-missed_135"/>
          <p:cNvSpPr txBox="1"/>
          <p:nvPr/>
        </p:nvSpPr>
        <p:spPr>
          <a:xfrm>
            <a:off x="5130150" y="2827050"/>
            <a:ext cx="19316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6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 window: 50 kb</a:t>
            </a:r>
            <a:endParaRPr lang="en-US" sz="1526" dirty="0"/>
          </a:p>
        </p:txBody>
      </p:sp>
      <p:sp>
        <p:nvSpPr>
          <p:cNvPr id="137" name="te-missed_136"/>
          <p:cNvSpPr txBox="1"/>
          <p:nvPr/>
        </p:nvSpPr>
        <p:spPr>
          <a:xfrm>
            <a:off x="5362956" y="3895710"/>
            <a:ext cx="146605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GC: 47.7%</a:t>
            </a:r>
            <a:endParaRPr lang="en-US" sz="1908" dirty="0"/>
          </a:p>
        </p:txBody>
      </p:sp>
      <p:sp>
        <p:nvSpPr>
          <p:cNvPr id="138" name="te-missed_137"/>
          <p:cNvSpPr txBox="1"/>
          <p:nvPr/>
        </p:nvSpPr>
        <p:spPr>
          <a:xfrm>
            <a:off x="5128870" y="2827050"/>
            <a:ext cx="193413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6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 window: 60 kb</a:t>
            </a:r>
            <a:endParaRPr lang="en-US" sz="1526" dirty="0"/>
          </a:p>
        </p:txBody>
      </p:sp>
      <p:sp>
        <p:nvSpPr>
          <p:cNvPr id="139" name="te-missed_138"/>
          <p:cNvSpPr txBox="1"/>
          <p:nvPr/>
        </p:nvSpPr>
        <p:spPr>
          <a:xfrm>
            <a:off x="5328849" y="3895710"/>
            <a:ext cx="153436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GC: 48.0%</a:t>
            </a:r>
            <a:endParaRPr lang="en-US" sz="1908" dirty="0"/>
          </a:p>
        </p:txBody>
      </p:sp>
      <p:sp>
        <p:nvSpPr>
          <p:cNvPr id="140" name="te-missed_139"/>
          <p:cNvSpPr txBox="1"/>
          <p:nvPr/>
        </p:nvSpPr>
        <p:spPr>
          <a:xfrm>
            <a:off x="2095073" y="2619390"/>
            <a:ext cx="2515514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kb batch · 48% GC</a:t>
            </a:r>
            <a:endParaRPr lang="en-US" sz="1654" dirty="0"/>
          </a:p>
        </p:txBody>
      </p:sp>
      <p:sp>
        <p:nvSpPr>
          <p:cNvPr id="141" name="te-missed_140"/>
          <p:cNvSpPr/>
          <p:nvPr/>
        </p:nvSpPr>
        <p:spPr>
          <a:xfrm>
            <a:off x="1371600" y="3063240"/>
            <a:ext cx="396237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42" name="te-missed_141"/>
          <p:cNvSpPr/>
          <p:nvPr/>
        </p:nvSpPr>
        <p:spPr>
          <a:xfrm>
            <a:off x="3322290" y="3063240"/>
            <a:ext cx="60990" cy="121890"/>
          </a:xfrm>
          <a:prstGeom prst="rect">
            <a:avLst/>
          </a:prstGeom>
          <a:solidFill>
            <a:srgbClr val="F5DD93"/>
          </a:solidFill>
          <a:ln/>
        </p:spPr>
      </p:sp>
      <p:sp>
        <p:nvSpPr>
          <p:cNvPr id="143" name="te-missed_142"/>
          <p:cNvSpPr/>
          <p:nvPr/>
        </p:nvSpPr>
        <p:spPr>
          <a:xfrm>
            <a:off x="3322290" y="3063240"/>
            <a:ext cx="6099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44" name="te-missed_143"/>
          <p:cNvSpPr txBox="1"/>
          <p:nvPr/>
        </p:nvSpPr>
        <p:spPr>
          <a:xfrm>
            <a:off x="2461839" y="3338749"/>
            <a:ext cx="1781983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 GC matrix</a:t>
            </a:r>
            <a:endParaRPr lang="en-US" sz="1654" dirty="0"/>
          </a:p>
        </p:txBody>
      </p:sp>
      <p:sp>
        <p:nvSpPr>
          <p:cNvPr id="145" name="te-missed_144"/>
          <p:cNvSpPr txBox="1"/>
          <p:nvPr/>
        </p:nvSpPr>
        <p:spPr>
          <a:xfrm>
            <a:off x="2742103" y="3740262"/>
            <a:ext cx="218176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99" dirty="0"/>
          </a:p>
        </p:txBody>
      </p:sp>
      <p:sp>
        <p:nvSpPr>
          <p:cNvPr id="146" name="te-missed_145"/>
          <p:cNvSpPr txBox="1"/>
          <p:nvPr/>
        </p:nvSpPr>
        <p:spPr>
          <a:xfrm>
            <a:off x="2440351" y="4025280"/>
            <a:ext cx="218176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99" dirty="0"/>
          </a:p>
        </p:txBody>
      </p:sp>
      <p:sp>
        <p:nvSpPr>
          <p:cNvPr id="147" name="te-missed_146"/>
          <p:cNvSpPr txBox="1"/>
          <p:nvPr/>
        </p:nvSpPr>
        <p:spPr>
          <a:xfrm>
            <a:off x="3077322" y="3740262"/>
            <a:ext cx="218176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99" dirty="0"/>
          </a:p>
        </p:txBody>
      </p:sp>
      <p:sp>
        <p:nvSpPr>
          <p:cNvPr id="148" name="te-missed_147"/>
          <p:cNvSpPr txBox="1"/>
          <p:nvPr/>
        </p:nvSpPr>
        <p:spPr>
          <a:xfrm>
            <a:off x="2440351" y="4360591"/>
            <a:ext cx="218176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99" dirty="0"/>
          </a:p>
        </p:txBody>
      </p:sp>
      <p:sp>
        <p:nvSpPr>
          <p:cNvPr id="149" name="te-missed_148"/>
          <p:cNvSpPr txBox="1"/>
          <p:nvPr/>
        </p:nvSpPr>
        <p:spPr>
          <a:xfrm>
            <a:off x="3412815" y="3740262"/>
            <a:ext cx="215250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399" dirty="0"/>
          </a:p>
        </p:txBody>
      </p:sp>
      <p:sp>
        <p:nvSpPr>
          <p:cNvPr id="150" name="te-missed_149"/>
          <p:cNvSpPr txBox="1"/>
          <p:nvPr/>
        </p:nvSpPr>
        <p:spPr>
          <a:xfrm>
            <a:off x="2440534" y="4695810"/>
            <a:ext cx="215250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399" dirty="0"/>
          </a:p>
        </p:txBody>
      </p:sp>
      <p:sp>
        <p:nvSpPr>
          <p:cNvPr id="151" name="te-missed_150"/>
          <p:cNvSpPr txBox="1"/>
          <p:nvPr/>
        </p:nvSpPr>
        <p:spPr>
          <a:xfrm>
            <a:off x="3747943" y="3740262"/>
            <a:ext cx="218176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399" dirty="0"/>
          </a:p>
        </p:txBody>
      </p:sp>
      <p:sp>
        <p:nvSpPr>
          <p:cNvPr id="152" name="te-missed_151"/>
          <p:cNvSpPr txBox="1"/>
          <p:nvPr/>
        </p:nvSpPr>
        <p:spPr>
          <a:xfrm>
            <a:off x="2440351" y="5031120"/>
            <a:ext cx="218176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399" dirty="0"/>
          </a:p>
        </p:txBody>
      </p:sp>
      <p:sp>
        <p:nvSpPr>
          <p:cNvPr id="153" name="te-missed_152"/>
          <p:cNvSpPr/>
          <p:nvPr/>
        </p:nvSpPr>
        <p:spPr>
          <a:xfrm>
            <a:off x="2697480" y="397764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F9BE00"/>
          </a:solidFill>
          <a:ln/>
        </p:spPr>
      </p:sp>
      <p:sp>
        <p:nvSpPr>
          <p:cNvPr id="154" name="te-missed_153"/>
          <p:cNvSpPr txBox="1"/>
          <p:nvPr/>
        </p:nvSpPr>
        <p:spPr>
          <a:xfrm>
            <a:off x="2692999" y="4054632"/>
            <a:ext cx="313731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1D1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</a:t>
            </a:r>
            <a:endParaRPr lang="en-US" sz="1007" dirty="0"/>
          </a:p>
        </p:txBody>
      </p:sp>
      <p:sp>
        <p:nvSpPr>
          <p:cNvPr id="155" name="te-missed_154"/>
          <p:cNvSpPr/>
          <p:nvPr/>
        </p:nvSpPr>
        <p:spPr>
          <a:xfrm>
            <a:off x="3032790" y="397764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1C2735"/>
          </a:solidFill>
          <a:ln/>
        </p:spPr>
      </p:sp>
      <p:sp>
        <p:nvSpPr>
          <p:cNvPr id="156" name="te-missed_155"/>
          <p:cNvSpPr txBox="1"/>
          <p:nvPr/>
        </p:nvSpPr>
        <p:spPr>
          <a:xfrm>
            <a:off x="3030413" y="4054632"/>
            <a:ext cx="309524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−15</a:t>
            </a:r>
            <a:endParaRPr lang="en-US" sz="1007" dirty="0"/>
          </a:p>
        </p:txBody>
      </p:sp>
      <p:sp>
        <p:nvSpPr>
          <p:cNvPr id="157" name="te-missed_156"/>
          <p:cNvSpPr/>
          <p:nvPr/>
        </p:nvSpPr>
        <p:spPr>
          <a:xfrm>
            <a:off x="3368010" y="397764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2A3441"/>
          </a:solidFill>
          <a:ln/>
        </p:spPr>
      </p:sp>
      <p:sp>
        <p:nvSpPr>
          <p:cNvPr id="158" name="te-missed_157"/>
          <p:cNvSpPr txBox="1"/>
          <p:nvPr/>
        </p:nvSpPr>
        <p:spPr>
          <a:xfrm>
            <a:off x="3394070" y="4054632"/>
            <a:ext cx="252832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</a:t>
            </a:r>
            <a:endParaRPr lang="en-US" sz="1007" dirty="0"/>
          </a:p>
        </p:txBody>
      </p:sp>
      <p:sp>
        <p:nvSpPr>
          <p:cNvPr id="159" name="te-missed_158"/>
          <p:cNvSpPr/>
          <p:nvPr/>
        </p:nvSpPr>
        <p:spPr>
          <a:xfrm>
            <a:off x="3703320" y="397764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1C2735"/>
          </a:solidFill>
          <a:ln/>
        </p:spPr>
      </p:sp>
      <p:sp>
        <p:nvSpPr>
          <p:cNvPr id="160" name="te-missed_159"/>
          <p:cNvSpPr txBox="1"/>
          <p:nvPr/>
        </p:nvSpPr>
        <p:spPr>
          <a:xfrm>
            <a:off x="3704417" y="4054632"/>
            <a:ext cx="304404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−17</a:t>
            </a:r>
            <a:endParaRPr lang="en-US" sz="1007" dirty="0"/>
          </a:p>
        </p:txBody>
      </p:sp>
      <p:sp>
        <p:nvSpPr>
          <p:cNvPr id="161" name="te-missed_160"/>
          <p:cNvSpPr/>
          <p:nvPr/>
        </p:nvSpPr>
        <p:spPr>
          <a:xfrm>
            <a:off x="2697480" y="431295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1C2735"/>
          </a:solidFill>
          <a:ln/>
        </p:spPr>
      </p:sp>
      <p:sp>
        <p:nvSpPr>
          <p:cNvPr id="162" name="te-missed_161"/>
          <p:cNvSpPr txBox="1"/>
          <p:nvPr/>
        </p:nvSpPr>
        <p:spPr>
          <a:xfrm>
            <a:off x="2695103" y="4389852"/>
            <a:ext cx="309524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−15</a:t>
            </a:r>
            <a:endParaRPr lang="en-US" sz="1007" dirty="0"/>
          </a:p>
        </p:txBody>
      </p:sp>
      <p:sp>
        <p:nvSpPr>
          <p:cNvPr id="163" name="te-missed_162"/>
          <p:cNvSpPr/>
          <p:nvPr/>
        </p:nvSpPr>
        <p:spPr>
          <a:xfrm>
            <a:off x="3032790" y="431295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F9BE00"/>
          </a:solidFill>
          <a:ln/>
        </p:spPr>
      </p:sp>
      <p:sp>
        <p:nvSpPr>
          <p:cNvPr id="164" name="te-missed_163"/>
          <p:cNvSpPr txBox="1"/>
          <p:nvPr/>
        </p:nvSpPr>
        <p:spPr>
          <a:xfrm>
            <a:off x="3058759" y="4389852"/>
            <a:ext cx="252832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1D1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</a:t>
            </a:r>
            <a:endParaRPr lang="en-US" sz="1007" dirty="0"/>
          </a:p>
        </p:txBody>
      </p:sp>
      <p:sp>
        <p:nvSpPr>
          <p:cNvPr id="165" name="te-missed_164"/>
          <p:cNvSpPr/>
          <p:nvPr/>
        </p:nvSpPr>
        <p:spPr>
          <a:xfrm>
            <a:off x="3368010" y="431295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1C2735"/>
          </a:solidFill>
          <a:ln/>
        </p:spPr>
      </p:sp>
      <p:sp>
        <p:nvSpPr>
          <p:cNvPr id="166" name="te-missed_165"/>
          <p:cNvSpPr txBox="1"/>
          <p:nvPr/>
        </p:nvSpPr>
        <p:spPr>
          <a:xfrm>
            <a:off x="3365632" y="4389852"/>
            <a:ext cx="309524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−15</a:t>
            </a:r>
            <a:endParaRPr lang="en-US" sz="1007" dirty="0"/>
          </a:p>
        </p:txBody>
      </p:sp>
      <p:sp>
        <p:nvSpPr>
          <p:cNvPr id="167" name="te-missed_166"/>
          <p:cNvSpPr/>
          <p:nvPr/>
        </p:nvSpPr>
        <p:spPr>
          <a:xfrm>
            <a:off x="3703320" y="431295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2A3441"/>
          </a:solidFill>
          <a:ln/>
        </p:spPr>
      </p:sp>
      <p:sp>
        <p:nvSpPr>
          <p:cNvPr id="168" name="te-missed_167"/>
          <p:cNvSpPr txBox="1"/>
          <p:nvPr/>
        </p:nvSpPr>
        <p:spPr>
          <a:xfrm>
            <a:off x="3729289" y="4389852"/>
            <a:ext cx="252832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</a:t>
            </a:r>
            <a:endParaRPr lang="en-US" sz="1007" dirty="0"/>
          </a:p>
        </p:txBody>
      </p:sp>
      <p:sp>
        <p:nvSpPr>
          <p:cNvPr id="169" name="te-missed_168"/>
          <p:cNvSpPr/>
          <p:nvPr/>
        </p:nvSpPr>
        <p:spPr>
          <a:xfrm>
            <a:off x="2697480" y="464817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2A3441"/>
          </a:solidFill>
          <a:ln/>
        </p:spPr>
      </p:sp>
      <p:sp>
        <p:nvSpPr>
          <p:cNvPr id="170" name="te-missed_169"/>
          <p:cNvSpPr txBox="1"/>
          <p:nvPr/>
        </p:nvSpPr>
        <p:spPr>
          <a:xfrm>
            <a:off x="2723449" y="4725162"/>
            <a:ext cx="252832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</a:t>
            </a:r>
            <a:endParaRPr lang="en-US" sz="1007" dirty="0"/>
          </a:p>
        </p:txBody>
      </p:sp>
      <p:sp>
        <p:nvSpPr>
          <p:cNvPr id="171" name="te-missed_170"/>
          <p:cNvSpPr/>
          <p:nvPr/>
        </p:nvSpPr>
        <p:spPr>
          <a:xfrm>
            <a:off x="3032790" y="464817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1C2735"/>
          </a:solidFill>
          <a:ln/>
        </p:spPr>
      </p:sp>
      <p:sp>
        <p:nvSpPr>
          <p:cNvPr id="172" name="te-missed_171"/>
          <p:cNvSpPr txBox="1"/>
          <p:nvPr/>
        </p:nvSpPr>
        <p:spPr>
          <a:xfrm>
            <a:off x="3030413" y="4725162"/>
            <a:ext cx="309524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−15</a:t>
            </a:r>
            <a:endParaRPr lang="en-US" sz="1007" dirty="0"/>
          </a:p>
        </p:txBody>
      </p:sp>
      <p:sp>
        <p:nvSpPr>
          <p:cNvPr id="173" name="te-missed_172"/>
          <p:cNvSpPr/>
          <p:nvPr/>
        </p:nvSpPr>
        <p:spPr>
          <a:xfrm>
            <a:off x="3368010" y="464817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F9BE00"/>
          </a:solidFill>
          <a:ln/>
        </p:spPr>
      </p:sp>
      <p:sp>
        <p:nvSpPr>
          <p:cNvPr id="174" name="te-missed_173"/>
          <p:cNvSpPr txBox="1"/>
          <p:nvPr/>
        </p:nvSpPr>
        <p:spPr>
          <a:xfrm>
            <a:off x="3394070" y="4725162"/>
            <a:ext cx="252832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1D1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</a:t>
            </a:r>
            <a:endParaRPr lang="en-US" sz="1007" dirty="0"/>
          </a:p>
        </p:txBody>
      </p:sp>
      <p:sp>
        <p:nvSpPr>
          <p:cNvPr id="175" name="te-missed_174"/>
          <p:cNvSpPr/>
          <p:nvPr/>
        </p:nvSpPr>
        <p:spPr>
          <a:xfrm>
            <a:off x="3703320" y="464817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1C2735"/>
          </a:solidFill>
          <a:ln/>
        </p:spPr>
      </p:sp>
      <p:sp>
        <p:nvSpPr>
          <p:cNvPr id="176" name="te-missed_175"/>
          <p:cNvSpPr txBox="1"/>
          <p:nvPr/>
        </p:nvSpPr>
        <p:spPr>
          <a:xfrm>
            <a:off x="3700943" y="4725162"/>
            <a:ext cx="309524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−15</a:t>
            </a:r>
            <a:endParaRPr lang="en-US" sz="1007" dirty="0"/>
          </a:p>
        </p:txBody>
      </p:sp>
      <p:sp>
        <p:nvSpPr>
          <p:cNvPr id="177" name="te-missed_176"/>
          <p:cNvSpPr/>
          <p:nvPr/>
        </p:nvSpPr>
        <p:spPr>
          <a:xfrm>
            <a:off x="2697480" y="498348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1C2735"/>
          </a:solidFill>
          <a:ln/>
        </p:spPr>
      </p:sp>
      <p:sp>
        <p:nvSpPr>
          <p:cNvPr id="178" name="te-missed_177"/>
          <p:cNvSpPr txBox="1"/>
          <p:nvPr/>
        </p:nvSpPr>
        <p:spPr>
          <a:xfrm>
            <a:off x="2698577" y="5060472"/>
            <a:ext cx="304404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−17</a:t>
            </a:r>
            <a:endParaRPr lang="en-US" sz="1007" dirty="0"/>
          </a:p>
        </p:txBody>
      </p:sp>
      <p:sp>
        <p:nvSpPr>
          <p:cNvPr id="179" name="te-missed_178"/>
          <p:cNvSpPr/>
          <p:nvPr/>
        </p:nvSpPr>
        <p:spPr>
          <a:xfrm>
            <a:off x="3032790" y="498348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2A3441"/>
          </a:solidFill>
          <a:ln/>
        </p:spPr>
      </p:sp>
      <p:sp>
        <p:nvSpPr>
          <p:cNvPr id="180" name="te-missed_179"/>
          <p:cNvSpPr txBox="1"/>
          <p:nvPr/>
        </p:nvSpPr>
        <p:spPr>
          <a:xfrm>
            <a:off x="3058759" y="5060472"/>
            <a:ext cx="252832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</a:t>
            </a:r>
            <a:endParaRPr lang="en-US" sz="1007" dirty="0"/>
          </a:p>
        </p:txBody>
      </p:sp>
      <p:sp>
        <p:nvSpPr>
          <p:cNvPr id="181" name="te-missed_180"/>
          <p:cNvSpPr/>
          <p:nvPr/>
        </p:nvSpPr>
        <p:spPr>
          <a:xfrm>
            <a:off x="3368010" y="498348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1C2735"/>
          </a:solidFill>
          <a:ln/>
        </p:spPr>
      </p:sp>
      <p:sp>
        <p:nvSpPr>
          <p:cNvPr id="182" name="te-missed_181"/>
          <p:cNvSpPr txBox="1"/>
          <p:nvPr/>
        </p:nvSpPr>
        <p:spPr>
          <a:xfrm>
            <a:off x="3365632" y="5060472"/>
            <a:ext cx="309524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−15</a:t>
            </a:r>
            <a:endParaRPr lang="en-US" sz="1007" dirty="0"/>
          </a:p>
        </p:txBody>
      </p:sp>
      <p:sp>
        <p:nvSpPr>
          <p:cNvPr id="183" name="te-missed_182"/>
          <p:cNvSpPr/>
          <p:nvPr/>
        </p:nvSpPr>
        <p:spPr>
          <a:xfrm>
            <a:off x="3703320" y="498348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F9BE00"/>
          </a:solidFill>
          <a:ln/>
        </p:spPr>
      </p:sp>
      <p:sp>
        <p:nvSpPr>
          <p:cNvPr id="184" name="te-missed_183"/>
          <p:cNvSpPr txBox="1"/>
          <p:nvPr/>
        </p:nvSpPr>
        <p:spPr>
          <a:xfrm>
            <a:off x="3698839" y="5060472"/>
            <a:ext cx="313731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1D1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</a:t>
            </a:r>
            <a:endParaRPr lang="en-US" sz="1007" dirty="0"/>
          </a:p>
        </p:txBody>
      </p:sp>
      <p:sp>
        <p:nvSpPr>
          <p:cNvPr id="185" name="te-missed_184"/>
          <p:cNvSpPr/>
          <p:nvPr/>
        </p:nvSpPr>
        <p:spPr>
          <a:xfrm>
            <a:off x="2689890" y="3970050"/>
            <a:ext cx="320040" cy="320040"/>
          </a:xfrm>
          <a:prstGeom prst="roundRect">
            <a:avLst>
              <a:gd name="adj" fmla="val 16657"/>
            </a:avLst>
          </a:prstGeom>
          <a:ln w="30480">
            <a:solidFill>
              <a:srgbClr val="FFFFFF"/>
            </a:solidFill>
            <a:prstDash val="solid"/>
          </a:ln>
        </p:spPr>
      </p:sp>
      <p:sp>
        <p:nvSpPr>
          <p:cNvPr id="186" name="te-missed_189"/>
          <p:cNvSpPr/>
          <p:nvPr/>
        </p:nvSpPr>
        <p:spPr>
          <a:xfrm>
            <a:off x="3025110" y="4305270"/>
            <a:ext cx="320040" cy="320040"/>
          </a:xfrm>
          <a:prstGeom prst="roundRect">
            <a:avLst>
              <a:gd name="adj" fmla="val 16657"/>
            </a:avLst>
          </a:prstGeom>
          <a:ln w="30480">
            <a:solidFill>
              <a:srgbClr val="FFFFFF"/>
            </a:solidFill>
            <a:prstDash val="solid"/>
          </a:ln>
        </p:spPr>
      </p:sp>
      <p:sp>
        <p:nvSpPr>
          <p:cNvPr id="187" name="te-missed_192"/>
          <p:cNvSpPr/>
          <p:nvPr/>
        </p:nvSpPr>
        <p:spPr>
          <a:xfrm>
            <a:off x="2689890" y="4640580"/>
            <a:ext cx="320040" cy="320040"/>
          </a:xfrm>
          <a:prstGeom prst="roundRect">
            <a:avLst>
              <a:gd name="adj" fmla="val 16657"/>
            </a:avLst>
          </a:prstGeom>
          <a:ln w="30480">
            <a:solidFill>
              <a:srgbClr val="FFFFFF"/>
            </a:solidFill>
            <a:prstDash val="solid"/>
          </a:ln>
        </p:spPr>
      </p:sp>
      <p:sp>
        <p:nvSpPr>
          <p:cNvPr id="188" name="te-missed_194"/>
          <p:cNvSpPr/>
          <p:nvPr/>
        </p:nvSpPr>
        <p:spPr>
          <a:xfrm>
            <a:off x="3360420" y="4640580"/>
            <a:ext cx="320040" cy="320040"/>
          </a:xfrm>
          <a:prstGeom prst="roundRect">
            <a:avLst>
              <a:gd name="adj" fmla="val 16657"/>
            </a:avLst>
          </a:prstGeom>
          <a:ln w="30480">
            <a:solidFill>
              <a:srgbClr val="FFFFFF"/>
            </a:solidFill>
            <a:prstDash val="solid"/>
          </a:ln>
        </p:spPr>
      </p:sp>
      <p:sp>
        <p:nvSpPr>
          <p:cNvPr id="189" name="te-missed_195"/>
          <p:cNvSpPr/>
          <p:nvPr/>
        </p:nvSpPr>
        <p:spPr>
          <a:xfrm>
            <a:off x="3695730" y="4640580"/>
            <a:ext cx="320040" cy="320040"/>
          </a:xfrm>
          <a:prstGeom prst="roundRect">
            <a:avLst>
              <a:gd name="adj" fmla="val 16657"/>
            </a:avLst>
          </a:prstGeom>
          <a:ln w="30480">
            <a:solidFill>
              <a:srgbClr val="FFFFFF"/>
            </a:solidFill>
            <a:prstDash val="solid"/>
          </a:ln>
        </p:spPr>
      </p:sp>
      <p:sp>
        <p:nvSpPr>
          <p:cNvPr id="190" name="te-missed_199"/>
          <p:cNvSpPr/>
          <p:nvPr/>
        </p:nvSpPr>
        <p:spPr>
          <a:xfrm>
            <a:off x="3695730" y="4975890"/>
            <a:ext cx="320040" cy="320040"/>
          </a:xfrm>
          <a:prstGeom prst="roundRect">
            <a:avLst>
              <a:gd name="adj" fmla="val 16657"/>
            </a:avLst>
          </a:prstGeom>
          <a:ln w="30480">
            <a:solidFill>
              <a:srgbClr val="FFFFFF"/>
            </a:solidFill>
            <a:prstDash val="solid"/>
          </a:ln>
        </p:spPr>
      </p:sp>
      <p:sp>
        <p:nvSpPr>
          <p:cNvPr id="191" name="te-missed_200"/>
          <p:cNvSpPr txBox="1"/>
          <p:nvPr/>
        </p:nvSpPr>
        <p:spPr>
          <a:xfrm>
            <a:off x="2637861" y="5486400"/>
            <a:ext cx="1429847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27</a:t>
            </a:r>
            <a:endParaRPr lang="en-US" sz="2035" dirty="0"/>
          </a:p>
        </p:txBody>
      </p:sp>
      <p:sp>
        <p:nvSpPr>
          <p:cNvPr id="192" name="te-missed_201"/>
          <p:cNvSpPr txBox="1"/>
          <p:nvPr/>
        </p:nvSpPr>
        <p:spPr>
          <a:xfrm>
            <a:off x="2623505" y="5486400"/>
            <a:ext cx="1458651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54</a:t>
            </a:r>
            <a:endParaRPr lang="en-US" sz="2035" dirty="0"/>
          </a:p>
        </p:txBody>
      </p:sp>
      <p:sp>
        <p:nvSpPr>
          <p:cNvPr id="193" name="te-missed_202"/>
          <p:cNvSpPr txBox="1"/>
          <p:nvPr/>
        </p:nvSpPr>
        <p:spPr>
          <a:xfrm>
            <a:off x="2655875" y="5486400"/>
            <a:ext cx="1393728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81</a:t>
            </a:r>
            <a:endParaRPr lang="en-US" sz="2035" dirty="0"/>
          </a:p>
        </p:txBody>
      </p:sp>
      <p:sp>
        <p:nvSpPr>
          <p:cNvPr id="194" name="te-missed_203"/>
          <p:cNvSpPr txBox="1"/>
          <p:nvPr/>
        </p:nvSpPr>
        <p:spPr>
          <a:xfrm>
            <a:off x="2598908" y="5486400"/>
            <a:ext cx="1507846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112</a:t>
            </a:r>
            <a:endParaRPr lang="en-US" sz="2035" dirty="0"/>
          </a:p>
        </p:txBody>
      </p:sp>
      <p:sp>
        <p:nvSpPr>
          <p:cNvPr id="195" name="te-missed_204"/>
          <p:cNvSpPr txBox="1"/>
          <p:nvPr/>
        </p:nvSpPr>
        <p:spPr>
          <a:xfrm>
            <a:off x="2566355" y="5486400"/>
            <a:ext cx="1572859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139</a:t>
            </a:r>
            <a:endParaRPr lang="en-US" sz="2035" dirty="0"/>
          </a:p>
        </p:txBody>
      </p:sp>
      <p:sp>
        <p:nvSpPr>
          <p:cNvPr id="196" name="te-missed_205"/>
          <p:cNvSpPr txBox="1"/>
          <p:nvPr/>
        </p:nvSpPr>
        <p:spPr>
          <a:xfrm>
            <a:off x="2626340" y="5486400"/>
            <a:ext cx="1452982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93</a:t>
            </a:r>
            <a:endParaRPr lang="en-US" sz="2035" dirty="0"/>
          </a:p>
        </p:txBody>
      </p:sp>
      <p:sp>
        <p:nvSpPr>
          <p:cNvPr id="197" name="te-missed_206"/>
          <p:cNvSpPr txBox="1"/>
          <p:nvPr/>
        </p:nvSpPr>
        <p:spPr>
          <a:xfrm>
            <a:off x="2598908" y="5486400"/>
            <a:ext cx="1507846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121</a:t>
            </a:r>
            <a:endParaRPr lang="en-US" sz="2035" dirty="0"/>
          </a:p>
        </p:txBody>
      </p:sp>
      <p:sp>
        <p:nvSpPr>
          <p:cNvPr id="198" name="te-missed_207"/>
          <p:cNvSpPr txBox="1"/>
          <p:nvPr/>
        </p:nvSpPr>
        <p:spPr>
          <a:xfrm>
            <a:off x="2561874" y="5486400"/>
            <a:ext cx="1581821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148</a:t>
            </a:r>
            <a:endParaRPr lang="en-US" sz="2035" dirty="0"/>
          </a:p>
        </p:txBody>
      </p:sp>
      <p:sp>
        <p:nvSpPr>
          <p:cNvPr id="199" name="te-missed_208"/>
          <p:cNvSpPr txBox="1"/>
          <p:nvPr/>
        </p:nvSpPr>
        <p:spPr>
          <a:xfrm>
            <a:off x="2577054" y="5486400"/>
            <a:ext cx="1551554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178</a:t>
            </a:r>
            <a:endParaRPr lang="en-US" sz="2035" dirty="0"/>
          </a:p>
        </p:txBody>
      </p:sp>
      <p:sp>
        <p:nvSpPr>
          <p:cNvPr id="200" name="te-missed_209"/>
          <p:cNvSpPr txBox="1"/>
          <p:nvPr/>
        </p:nvSpPr>
        <p:spPr>
          <a:xfrm>
            <a:off x="2536180" y="5486400"/>
            <a:ext cx="1633301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205</a:t>
            </a:r>
            <a:endParaRPr lang="en-US" sz="2035" dirty="0"/>
          </a:p>
        </p:txBody>
      </p:sp>
      <p:sp>
        <p:nvSpPr>
          <p:cNvPr id="201" name="te-missed_210"/>
          <p:cNvSpPr txBox="1"/>
          <p:nvPr/>
        </p:nvSpPr>
        <p:spPr>
          <a:xfrm>
            <a:off x="2541483" y="5486400"/>
            <a:ext cx="1622694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232</a:t>
            </a:r>
            <a:endParaRPr lang="en-US" sz="2035" dirty="0"/>
          </a:p>
        </p:txBody>
      </p:sp>
      <p:sp>
        <p:nvSpPr>
          <p:cNvPr id="202" name="te-missed_211"/>
          <p:cNvSpPr txBox="1"/>
          <p:nvPr/>
        </p:nvSpPr>
        <p:spPr>
          <a:xfrm>
            <a:off x="2564801" y="5486400"/>
            <a:ext cx="1575968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214</a:t>
            </a:r>
            <a:endParaRPr lang="en-US" sz="2035" dirty="0"/>
          </a:p>
        </p:txBody>
      </p:sp>
      <p:sp>
        <p:nvSpPr>
          <p:cNvPr id="203" name="te-missed_212"/>
          <p:cNvSpPr txBox="1"/>
          <p:nvPr/>
        </p:nvSpPr>
        <p:spPr>
          <a:xfrm>
            <a:off x="2078431" y="5905470"/>
            <a:ext cx="254879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6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214 &lt; 225 · not detected</a:t>
            </a:r>
            <a:endParaRPr lang="en-US" sz="1526" dirty="0"/>
          </a:p>
        </p:txBody>
      </p:sp>
      <p:sp>
        <p:nvSpPr>
          <p:cNvPr id="204" name="te-missed_213"/>
          <p:cNvSpPr txBox="1"/>
          <p:nvPr/>
        </p:nvSpPr>
        <p:spPr>
          <a:xfrm>
            <a:off x="7681692" y="2619390"/>
            <a:ext cx="2314986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kb batch · 45% GC</a:t>
            </a:r>
            <a:endParaRPr lang="en-US" sz="1654" dirty="0"/>
          </a:p>
        </p:txBody>
      </p:sp>
      <p:sp>
        <p:nvSpPr>
          <p:cNvPr id="205" name="te-missed_214"/>
          <p:cNvSpPr/>
          <p:nvPr/>
        </p:nvSpPr>
        <p:spPr>
          <a:xfrm>
            <a:off x="6858000" y="3063240"/>
            <a:ext cx="396237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206" name="te-missed_215"/>
          <p:cNvSpPr/>
          <p:nvPr/>
        </p:nvSpPr>
        <p:spPr>
          <a:xfrm>
            <a:off x="8077170" y="3063240"/>
            <a:ext cx="1524030" cy="121890"/>
          </a:xfrm>
          <a:prstGeom prst="rect">
            <a:avLst/>
          </a:prstGeom>
          <a:solidFill>
            <a:srgbClr val="F5DD93"/>
          </a:solidFill>
          <a:ln/>
        </p:spPr>
      </p:sp>
      <p:sp>
        <p:nvSpPr>
          <p:cNvPr id="207" name="te-missed_216"/>
          <p:cNvSpPr/>
          <p:nvPr/>
        </p:nvSpPr>
        <p:spPr>
          <a:xfrm>
            <a:off x="8077170" y="3063240"/>
            <a:ext cx="152403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208" name="te-missed_217"/>
          <p:cNvSpPr txBox="1"/>
          <p:nvPr/>
        </p:nvSpPr>
        <p:spPr>
          <a:xfrm>
            <a:off x="7949428" y="3338749"/>
            <a:ext cx="1779422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GC matrix</a:t>
            </a:r>
            <a:endParaRPr lang="en-US" sz="1654" dirty="0"/>
          </a:p>
        </p:txBody>
      </p:sp>
      <p:sp>
        <p:nvSpPr>
          <p:cNvPr id="209" name="te-missed_218"/>
          <p:cNvSpPr txBox="1"/>
          <p:nvPr/>
        </p:nvSpPr>
        <p:spPr>
          <a:xfrm>
            <a:off x="8228503" y="3740262"/>
            <a:ext cx="218176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99" dirty="0"/>
          </a:p>
        </p:txBody>
      </p:sp>
      <p:sp>
        <p:nvSpPr>
          <p:cNvPr id="210" name="te-missed_219"/>
          <p:cNvSpPr txBox="1"/>
          <p:nvPr/>
        </p:nvSpPr>
        <p:spPr>
          <a:xfrm>
            <a:off x="7926751" y="4025280"/>
            <a:ext cx="218176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99" dirty="0"/>
          </a:p>
        </p:txBody>
      </p:sp>
      <p:sp>
        <p:nvSpPr>
          <p:cNvPr id="211" name="te-missed_220"/>
          <p:cNvSpPr txBox="1"/>
          <p:nvPr/>
        </p:nvSpPr>
        <p:spPr>
          <a:xfrm>
            <a:off x="8563722" y="3740262"/>
            <a:ext cx="218176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99" dirty="0"/>
          </a:p>
        </p:txBody>
      </p:sp>
      <p:sp>
        <p:nvSpPr>
          <p:cNvPr id="212" name="te-missed_221"/>
          <p:cNvSpPr txBox="1"/>
          <p:nvPr/>
        </p:nvSpPr>
        <p:spPr>
          <a:xfrm>
            <a:off x="7926751" y="4360591"/>
            <a:ext cx="218176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99" dirty="0"/>
          </a:p>
        </p:txBody>
      </p:sp>
      <p:sp>
        <p:nvSpPr>
          <p:cNvPr id="213" name="te-missed_222"/>
          <p:cNvSpPr txBox="1"/>
          <p:nvPr/>
        </p:nvSpPr>
        <p:spPr>
          <a:xfrm>
            <a:off x="8899215" y="3740262"/>
            <a:ext cx="215250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399" dirty="0"/>
          </a:p>
        </p:txBody>
      </p:sp>
      <p:sp>
        <p:nvSpPr>
          <p:cNvPr id="214" name="te-missed_223"/>
          <p:cNvSpPr txBox="1"/>
          <p:nvPr/>
        </p:nvSpPr>
        <p:spPr>
          <a:xfrm>
            <a:off x="7926934" y="4695810"/>
            <a:ext cx="215250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399" dirty="0"/>
          </a:p>
        </p:txBody>
      </p:sp>
      <p:sp>
        <p:nvSpPr>
          <p:cNvPr id="215" name="te-missed_224"/>
          <p:cNvSpPr txBox="1"/>
          <p:nvPr/>
        </p:nvSpPr>
        <p:spPr>
          <a:xfrm>
            <a:off x="9234343" y="3740262"/>
            <a:ext cx="218176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399" dirty="0"/>
          </a:p>
        </p:txBody>
      </p:sp>
      <p:sp>
        <p:nvSpPr>
          <p:cNvPr id="216" name="te-missed_225"/>
          <p:cNvSpPr txBox="1"/>
          <p:nvPr/>
        </p:nvSpPr>
        <p:spPr>
          <a:xfrm>
            <a:off x="7926751" y="5031120"/>
            <a:ext cx="218176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399" dirty="0"/>
          </a:p>
        </p:txBody>
      </p:sp>
      <p:sp>
        <p:nvSpPr>
          <p:cNvPr id="217" name="te-missed_226"/>
          <p:cNvSpPr/>
          <p:nvPr/>
        </p:nvSpPr>
        <p:spPr>
          <a:xfrm>
            <a:off x="8183880" y="397764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F9BE00"/>
          </a:solidFill>
          <a:ln/>
        </p:spPr>
      </p:sp>
      <p:sp>
        <p:nvSpPr>
          <p:cNvPr id="218" name="te-missed_227"/>
          <p:cNvSpPr txBox="1"/>
          <p:nvPr/>
        </p:nvSpPr>
        <p:spPr>
          <a:xfrm>
            <a:off x="8209849" y="4054632"/>
            <a:ext cx="252832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1D1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</a:t>
            </a:r>
            <a:endParaRPr lang="en-US" sz="1007" dirty="0"/>
          </a:p>
        </p:txBody>
      </p:sp>
      <p:sp>
        <p:nvSpPr>
          <p:cNvPr id="219" name="te-missed_228"/>
          <p:cNvSpPr/>
          <p:nvPr/>
        </p:nvSpPr>
        <p:spPr>
          <a:xfrm>
            <a:off x="8519190" y="397764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1C2735"/>
          </a:solidFill>
          <a:ln/>
        </p:spPr>
      </p:sp>
      <p:sp>
        <p:nvSpPr>
          <p:cNvPr id="220" name="te-missed_229"/>
          <p:cNvSpPr txBox="1"/>
          <p:nvPr/>
        </p:nvSpPr>
        <p:spPr>
          <a:xfrm>
            <a:off x="8516813" y="4054632"/>
            <a:ext cx="309524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−15</a:t>
            </a:r>
            <a:endParaRPr lang="en-US" sz="1007" dirty="0"/>
          </a:p>
        </p:txBody>
      </p:sp>
      <p:sp>
        <p:nvSpPr>
          <p:cNvPr id="221" name="te-missed_230"/>
          <p:cNvSpPr/>
          <p:nvPr/>
        </p:nvSpPr>
        <p:spPr>
          <a:xfrm>
            <a:off x="8854410" y="397764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2A3441"/>
          </a:solidFill>
          <a:ln/>
        </p:spPr>
      </p:sp>
      <p:sp>
        <p:nvSpPr>
          <p:cNvPr id="222" name="te-missed_231"/>
          <p:cNvSpPr txBox="1"/>
          <p:nvPr/>
        </p:nvSpPr>
        <p:spPr>
          <a:xfrm>
            <a:off x="8880470" y="4054632"/>
            <a:ext cx="252832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</a:t>
            </a:r>
            <a:endParaRPr lang="en-US" sz="1007" dirty="0"/>
          </a:p>
        </p:txBody>
      </p:sp>
      <p:sp>
        <p:nvSpPr>
          <p:cNvPr id="223" name="te-missed_232"/>
          <p:cNvSpPr/>
          <p:nvPr/>
        </p:nvSpPr>
        <p:spPr>
          <a:xfrm>
            <a:off x="9189720" y="397764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1C2735"/>
          </a:solidFill>
          <a:ln/>
        </p:spPr>
      </p:sp>
      <p:sp>
        <p:nvSpPr>
          <p:cNvPr id="224" name="te-missed_233"/>
          <p:cNvSpPr txBox="1"/>
          <p:nvPr/>
        </p:nvSpPr>
        <p:spPr>
          <a:xfrm>
            <a:off x="9190817" y="4054632"/>
            <a:ext cx="304404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−17</a:t>
            </a:r>
            <a:endParaRPr lang="en-US" sz="1007" dirty="0"/>
          </a:p>
        </p:txBody>
      </p:sp>
      <p:sp>
        <p:nvSpPr>
          <p:cNvPr id="225" name="te-missed_234"/>
          <p:cNvSpPr/>
          <p:nvPr/>
        </p:nvSpPr>
        <p:spPr>
          <a:xfrm>
            <a:off x="8183880" y="431295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1C2735"/>
          </a:solidFill>
          <a:ln/>
        </p:spPr>
      </p:sp>
      <p:sp>
        <p:nvSpPr>
          <p:cNvPr id="226" name="te-missed_235"/>
          <p:cNvSpPr txBox="1"/>
          <p:nvPr/>
        </p:nvSpPr>
        <p:spPr>
          <a:xfrm>
            <a:off x="8181503" y="4389852"/>
            <a:ext cx="309524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−15</a:t>
            </a:r>
            <a:endParaRPr lang="en-US" sz="1007" dirty="0"/>
          </a:p>
        </p:txBody>
      </p:sp>
      <p:sp>
        <p:nvSpPr>
          <p:cNvPr id="227" name="te-missed_236"/>
          <p:cNvSpPr/>
          <p:nvPr/>
        </p:nvSpPr>
        <p:spPr>
          <a:xfrm>
            <a:off x="8519190" y="431295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F9BE00"/>
          </a:solidFill>
          <a:ln/>
        </p:spPr>
      </p:sp>
      <p:sp>
        <p:nvSpPr>
          <p:cNvPr id="228" name="te-missed_237"/>
          <p:cNvSpPr txBox="1"/>
          <p:nvPr/>
        </p:nvSpPr>
        <p:spPr>
          <a:xfrm>
            <a:off x="8514710" y="4389852"/>
            <a:ext cx="313731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1D1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</a:t>
            </a:r>
            <a:endParaRPr lang="en-US" sz="1007" dirty="0"/>
          </a:p>
        </p:txBody>
      </p:sp>
      <p:sp>
        <p:nvSpPr>
          <p:cNvPr id="229" name="te-missed_238"/>
          <p:cNvSpPr/>
          <p:nvPr/>
        </p:nvSpPr>
        <p:spPr>
          <a:xfrm>
            <a:off x="8854410" y="431295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1C2735"/>
          </a:solidFill>
          <a:ln/>
        </p:spPr>
      </p:sp>
      <p:sp>
        <p:nvSpPr>
          <p:cNvPr id="230" name="te-missed_239"/>
          <p:cNvSpPr txBox="1"/>
          <p:nvPr/>
        </p:nvSpPr>
        <p:spPr>
          <a:xfrm>
            <a:off x="8852032" y="4389852"/>
            <a:ext cx="309524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−15</a:t>
            </a:r>
            <a:endParaRPr lang="en-US" sz="1007" dirty="0"/>
          </a:p>
        </p:txBody>
      </p:sp>
      <p:sp>
        <p:nvSpPr>
          <p:cNvPr id="231" name="te-missed_240"/>
          <p:cNvSpPr/>
          <p:nvPr/>
        </p:nvSpPr>
        <p:spPr>
          <a:xfrm>
            <a:off x="9189720" y="431295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2A3441"/>
          </a:solidFill>
          <a:ln/>
        </p:spPr>
      </p:sp>
      <p:sp>
        <p:nvSpPr>
          <p:cNvPr id="232" name="te-missed_241"/>
          <p:cNvSpPr txBox="1"/>
          <p:nvPr/>
        </p:nvSpPr>
        <p:spPr>
          <a:xfrm>
            <a:off x="9215689" y="4389852"/>
            <a:ext cx="252832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</a:t>
            </a:r>
            <a:endParaRPr lang="en-US" sz="1007" dirty="0"/>
          </a:p>
        </p:txBody>
      </p:sp>
      <p:sp>
        <p:nvSpPr>
          <p:cNvPr id="233" name="te-missed_242"/>
          <p:cNvSpPr/>
          <p:nvPr/>
        </p:nvSpPr>
        <p:spPr>
          <a:xfrm>
            <a:off x="8183880" y="464817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2A3441"/>
          </a:solidFill>
          <a:ln/>
        </p:spPr>
      </p:sp>
      <p:sp>
        <p:nvSpPr>
          <p:cNvPr id="234" name="te-missed_243"/>
          <p:cNvSpPr txBox="1"/>
          <p:nvPr/>
        </p:nvSpPr>
        <p:spPr>
          <a:xfrm>
            <a:off x="8209849" y="4725162"/>
            <a:ext cx="252832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</a:t>
            </a:r>
            <a:endParaRPr lang="en-US" sz="1007" dirty="0"/>
          </a:p>
        </p:txBody>
      </p:sp>
      <p:sp>
        <p:nvSpPr>
          <p:cNvPr id="235" name="te-missed_244"/>
          <p:cNvSpPr/>
          <p:nvPr/>
        </p:nvSpPr>
        <p:spPr>
          <a:xfrm>
            <a:off x="8519190" y="464817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1C2735"/>
          </a:solidFill>
          <a:ln/>
        </p:spPr>
      </p:sp>
      <p:sp>
        <p:nvSpPr>
          <p:cNvPr id="236" name="te-missed_245"/>
          <p:cNvSpPr txBox="1"/>
          <p:nvPr/>
        </p:nvSpPr>
        <p:spPr>
          <a:xfrm>
            <a:off x="8516813" y="4725162"/>
            <a:ext cx="309524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−15</a:t>
            </a:r>
            <a:endParaRPr lang="en-US" sz="1007" dirty="0"/>
          </a:p>
        </p:txBody>
      </p:sp>
      <p:sp>
        <p:nvSpPr>
          <p:cNvPr id="237" name="te-missed_246"/>
          <p:cNvSpPr/>
          <p:nvPr/>
        </p:nvSpPr>
        <p:spPr>
          <a:xfrm>
            <a:off x="8854410" y="464817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F9BE00"/>
          </a:solidFill>
          <a:ln/>
        </p:spPr>
      </p:sp>
      <p:sp>
        <p:nvSpPr>
          <p:cNvPr id="238" name="te-missed_247"/>
          <p:cNvSpPr txBox="1"/>
          <p:nvPr/>
        </p:nvSpPr>
        <p:spPr>
          <a:xfrm>
            <a:off x="8849929" y="4725162"/>
            <a:ext cx="313731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1D1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</a:t>
            </a:r>
            <a:endParaRPr lang="en-US" sz="1007" dirty="0"/>
          </a:p>
        </p:txBody>
      </p:sp>
      <p:sp>
        <p:nvSpPr>
          <p:cNvPr id="239" name="te-missed_248"/>
          <p:cNvSpPr/>
          <p:nvPr/>
        </p:nvSpPr>
        <p:spPr>
          <a:xfrm>
            <a:off x="9189720" y="464817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1C2735"/>
          </a:solidFill>
          <a:ln/>
        </p:spPr>
      </p:sp>
      <p:sp>
        <p:nvSpPr>
          <p:cNvPr id="240" name="te-missed_249"/>
          <p:cNvSpPr txBox="1"/>
          <p:nvPr/>
        </p:nvSpPr>
        <p:spPr>
          <a:xfrm>
            <a:off x="9187343" y="4725162"/>
            <a:ext cx="309524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−15</a:t>
            </a:r>
            <a:endParaRPr lang="en-US" sz="1007" dirty="0"/>
          </a:p>
        </p:txBody>
      </p:sp>
      <p:sp>
        <p:nvSpPr>
          <p:cNvPr id="241" name="te-missed_250"/>
          <p:cNvSpPr/>
          <p:nvPr/>
        </p:nvSpPr>
        <p:spPr>
          <a:xfrm>
            <a:off x="8183880" y="498348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1C2735"/>
          </a:solidFill>
          <a:ln/>
        </p:spPr>
      </p:sp>
      <p:sp>
        <p:nvSpPr>
          <p:cNvPr id="242" name="te-missed_251"/>
          <p:cNvSpPr txBox="1"/>
          <p:nvPr/>
        </p:nvSpPr>
        <p:spPr>
          <a:xfrm>
            <a:off x="8184977" y="5060472"/>
            <a:ext cx="304404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−17</a:t>
            </a:r>
            <a:endParaRPr lang="en-US" sz="1007" dirty="0"/>
          </a:p>
        </p:txBody>
      </p:sp>
      <p:sp>
        <p:nvSpPr>
          <p:cNvPr id="243" name="te-missed_252"/>
          <p:cNvSpPr/>
          <p:nvPr/>
        </p:nvSpPr>
        <p:spPr>
          <a:xfrm>
            <a:off x="8519190" y="498348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2A3441"/>
          </a:solidFill>
          <a:ln/>
        </p:spPr>
      </p:sp>
      <p:sp>
        <p:nvSpPr>
          <p:cNvPr id="244" name="te-missed_253"/>
          <p:cNvSpPr txBox="1"/>
          <p:nvPr/>
        </p:nvSpPr>
        <p:spPr>
          <a:xfrm>
            <a:off x="8545159" y="5060472"/>
            <a:ext cx="252832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</a:t>
            </a:r>
            <a:endParaRPr lang="en-US" sz="1007" dirty="0"/>
          </a:p>
        </p:txBody>
      </p:sp>
      <p:sp>
        <p:nvSpPr>
          <p:cNvPr id="245" name="te-missed_254"/>
          <p:cNvSpPr/>
          <p:nvPr/>
        </p:nvSpPr>
        <p:spPr>
          <a:xfrm>
            <a:off x="8854410" y="498348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1C2735"/>
          </a:solidFill>
          <a:ln/>
        </p:spPr>
      </p:sp>
      <p:sp>
        <p:nvSpPr>
          <p:cNvPr id="246" name="te-missed_255"/>
          <p:cNvSpPr txBox="1"/>
          <p:nvPr/>
        </p:nvSpPr>
        <p:spPr>
          <a:xfrm>
            <a:off x="8852032" y="5060472"/>
            <a:ext cx="309524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−15</a:t>
            </a:r>
            <a:endParaRPr lang="en-US" sz="1007" dirty="0"/>
          </a:p>
        </p:txBody>
      </p:sp>
      <p:sp>
        <p:nvSpPr>
          <p:cNvPr id="247" name="te-missed_256"/>
          <p:cNvSpPr/>
          <p:nvPr/>
        </p:nvSpPr>
        <p:spPr>
          <a:xfrm>
            <a:off x="9189720" y="498348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F9BE00"/>
          </a:solidFill>
          <a:ln/>
        </p:spPr>
      </p:sp>
      <p:sp>
        <p:nvSpPr>
          <p:cNvPr id="248" name="te-missed_257"/>
          <p:cNvSpPr txBox="1"/>
          <p:nvPr/>
        </p:nvSpPr>
        <p:spPr>
          <a:xfrm>
            <a:off x="9215689" y="5060472"/>
            <a:ext cx="252832" cy="15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7" b="1" dirty="0">
                <a:solidFill>
                  <a:srgbClr val="1D1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</a:t>
            </a:r>
            <a:endParaRPr lang="en-US" sz="1007" dirty="0"/>
          </a:p>
        </p:txBody>
      </p:sp>
      <p:sp>
        <p:nvSpPr>
          <p:cNvPr id="249" name="te-missed_258"/>
          <p:cNvSpPr/>
          <p:nvPr/>
        </p:nvSpPr>
        <p:spPr>
          <a:xfrm>
            <a:off x="8176290" y="3970050"/>
            <a:ext cx="320040" cy="320040"/>
          </a:xfrm>
          <a:prstGeom prst="roundRect">
            <a:avLst>
              <a:gd name="adj" fmla="val 16657"/>
            </a:avLst>
          </a:prstGeom>
          <a:ln w="30480">
            <a:solidFill>
              <a:srgbClr val="FFFFFF"/>
            </a:solidFill>
            <a:prstDash val="solid"/>
          </a:ln>
        </p:spPr>
      </p:sp>
      <p:sp>
        <p:nvSpPr>
          <p:cNvPr id="250" name="te-missed_263"/>
          <p:cNvSpPr/>
          <p:nvPr/>
        </p:nvSpPr>
        <p:spPr>
          <a:xfrm>
            <a:off x="8511510" y="4305270"/>
            <a:ext cx="320040" cy="320040"/>
          </a:xfrm>
          <a:prstGeom prst="roundRect">
            <a:avLst>
              <a:gd name="adj" fmla="val 16657"/>
            </a:avLst>
          </a:prstGeom>
          <a:ln w="30480">
            <a:solidFill>
              <a:srgbClr val="FFFFFF"/>
            </a:solidFill>
            <a:prstDash val="solid"/>
          </a:ln>
        </p:spPr>
      </p:sp>
      <p:sp>
        <p:nvSpPr>
          <p:cNvPr id="251" name="te-missed_266"/>
          <p:cNvSpPr/>
          <p:nvPr/>
        </p:nvSpPr>
        <p:spPr>
          <a:xfrm>
            <a:off x="8176290" y="4640580"/>
            <a:ext cx="320040" cy="320040"/>
          </a:xfrm>
          <a:prstGeom prst="roundRect">
            <a:avLst>
              <a:gd name="adj" fmla="val 16657"/>
            </a:avLst>
          </a:prstGeom>
          <a:ln w="30480">
            <a:solidFill>
              <a:srgbClr val="FFFFFF"/>
            </a:solidFill>
            <a:prstDash val="solid"/>
          </a:ln>
        </p:spPr>
      </p:sp>
      <p:sp>
        <p:nvSpPr>
          <p:cNvPr id="252" name="te-missed_268"/>
          <p:cNvSpPr/>
          <p:nvPr/>
        </p:nvSpPr>
        <p:spPr>
          <a:xfrm>
            <a:off x="8846820" y="4640580"/>
            <a:ext cx="320040" cy="320040"/>
          </a:xfrm>
          <a:prstGeom prst="roundRect">
            <a:avLst>
              <a:gd name="adj" fmla="val 16657"/>
            </a:avLst>
          </a:prstGeom>
          <a:ln w="30480">
            <a:solidFill>
              <a:srgbClr val="FFFFFF"/>
            </a:solidFill>
            <a:prstDash val="solid"/>
          </a:ln>
        </p:spPr>
      </p:sp>
      <p:sp>
        <p:nvSpPr>
          <p:cNvPr id="253" name="te-missed_269"/>
          <p:cNvSpPr/>
          <p:nvPr/>
        </p:nvSpPr>
        <p:spPr>
          <a:xfrm>
            <a:off x="9182130" y="4640580"/>
            <a:ext cx="320040" cy="320040"/>
          </a:xfrm>
          <a:prstGeom prst="roundRect">
            <a:avLst>
              <a:gd name="adj" fmla="val 16657"/>
            </a:avLst>
          </a:prstGeom>
          <a:ln w="30480">
            <a:solidFill>
              <a:srgbClr val="FFFFFF"/>
            </a:solidFill>
            <a:prstDash val="solid"/>
          </a:ln>
        </p:spPr>
      </p:sp>
      <p:sp>
        <p:nvSpPr>
          <p:cNvPr id="254" name="te-missed_273"/>
          <p:cNvSpPr/>
          <p:nvPr/>
        </p:nvSpPr>
        <p:spPr>
          <a:xfrm>
            <a:off x="9182130" y="4975890"/>
            <a:ext cx="320040" cy="320040"/>
          </a:xfrm>
          <a:prstGeom prst="roundRect">
            <a:avLst>
              <a:gd name="adj" fmla="val 16657"/>
            </a:avLst>
          </a:prstGeom>
          <a:ln w="30480">
            <a:solidFill>
              <a:srgbClr val="FFFFFF"/>
            </a:solidFill>
            <a:prstDash val="solid"/>
          </a:ln>
        </p:spPr>
      </p:sp>
      <p:sp>
        <p:nvSpPr>
          <p:cNvPr id="255" name="te-missed_274"/>
          <p:cNvSpPr txBox="1"/>
          <p:nvPr/>
        </p:nvSpPr>
        <p:spPr>
          <a:xfrm>
            <a:off x="8109265" y="5486400"/>
            <a:ext cx="1459931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30</a:t>
            </a:r>
            <a:endParaRPr lang="en-US" sz="2035" dirty="0"/>
          </a:p>
        </p:txBody>
      </p:sp>
      <p:sp>
        <p:nvSpPr>
          <p:cNvPr id="256" name="te-missed_275"/>
          <p:cNvSpPr txBox="1"/>
          <p:nvPr/>
        </p:nvSpPr>
        <p:spPr>
          <a:xfrm>
            <a:off x="8108716" y="5486400"/>
            <a:ext cx="1461028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60</a:t>
            </a:r>
            <a:endParaRPr lang="en-US" sz="2035" dirty="0"/>
          </a:p>
        </p:txBody>
      </p:sp>
      <p:sp>
        <p:nvSpPr>
          <p:cNvPr id="257" name="te-missed_276"/>
          <p:cNvSpPr txBox="1"/>
          <p:nvPr/>
        </p:nvSpPr>
        <p:spPr>
          <a:xfrm>
            <a:off x="8108716" y="5486400"/>
            <a:ext cx="1461028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90</a:t>
            </a:r>
            <a:endParaRPr lang="en-US" sz="2035" dirty="0"/>
          </a:p>
        </p:txBody>
      </p:sp>
      <p:sp>
        <p:nvSpPr>
          <p:cNvPr id="258" name="te-missed_277"/>
          <p:cNvSpPr txBox="1"/>
          <p:nvPr/>
        </p:nvSpPr>
        <p:spPr>
          <a:xfrm>
            <a:off x="8091983" y="5486400"/>
            <a:ext cx="1494404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117</a:t>
            </a:r>
            <a:endParaRPr lang="en-US" sz="2035" dirty="0"/>
          </a:p>
        </p:txBody>
      </p:sp>
      <p:sp>
        <p:nvSpPr>
          <p:cNvPr id="259" name="te-missed_278"/>
          <p:cNvSpPr txBox="1"/>
          <p:nvPr/>
        </p:nvSpPr>
        <p:spPr>
          <a:xfrm>
            <a:off x="8057876" y="5486400"/>
            <a:ext cx="1562618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147</a:t>
            </a:r>
            <a:endParaRPr lang="en-US" sz="2035" dirty="0"/>
          </a:p>
        </p:txBody>
      </p:sp>
      <p:sp>
        <p:nvSpPr>
          <p:cNvPr id="260" name="te-missed_279"/>
          <p:cNvSpPr txBox="1"/>
          <p:nvPr/>
        </p:nvSpPr>
        <p:spPr>
          <a:xfrm>
            <a:off x="8051475" y="5486400"/>
            <a:ext cx="1575420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102</a:t>
            </a:r>
            <a:endParaRPr lang="en-US" sz="2035" dirty="0"/>
          </a:p>
        </p:txBody>
      </p:sp>
      <p:sp>
        <p:nvSpPr>
          <p:cNvPr id="261" name="te-missed_280"/>
          <p:cNvSpPr txBox="1"/>
          <p:nvPr/>
        </p:nvSpPr>
        <p:spPr>
          <a:xfrm>
            <a:off x="8055498" y="5486400"/>
            <a:ext cx="1567373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132</a:t>
            </a:r>
            <a:endParaRPr lang="en-US" sz="2035" dirty="0"/>
          </a:p>
        </p:txBody>
      </p:sp>
      <p:sp>
        <p:nvSpPr>
          <p:cNvPr id="262" name="te-missed_281"/>
          <p:cNvSpPr txBox="1"/>
          <p:nvPr/>
        </p:nvSpPr>
        <p:spPr>
          <a:xfrm>
            <a:off x="8054950" y="5486400"/>
            <a:ext cx="1568470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162</a:t>
            </a:r>
            <a:endParaRPr lang="en-US" sz="2035" dirty="0"/>
          </a:p>
        </p:txBody>
      </p:sp>
      <p:sp>
        <p:nvSpPr>
          <p:cNvPr id="263" name="te-missed_282"/>
          <p:cNvSpPr txBox="1"/>
          <p:nvPr/>
        </p:nvSpPr>
        <p:spPr>
          <a:xfrm>
            <a:off x="8052024" y="5486400"/>
            <a:ext cx="1574322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189</a:t>
            </a:r>
            <a:endParaRPr lang="en-US" sz="2035" dirty="0"/>
          </a:p>
        </p:txBody>
      </p:sp>
      <p:sp>
        <p:nvSpPr>
          <p:cNvPr id="264" name="te-missed_283"/>
          <p:cNvSpPr txBox="1"/>
          <p:nvPr/>
        </p:nvSpPr>
        <p:spPr>
          <a:xfrm>
            <a:off x="8054950" y="5486400"/>
            <a:ext cx="1568470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219</a:t>
            </a:r>
            <a:endParaRPr lang="en-US" sz="2035" dirty="0"/>
          </a:p>
        </p:txBody>
      </p:sp>
      <p:sp>
        <p:nvSpPr>
          <p:cNvPr id="265" name="te-missed_284"/>
          <p:cNvSpPr txBox="1"/>
          <p:nvPr/>
        </p:nvSpPr>
        <p:spPr>
          <a:xfrm>
            <a:off x="8023037" y="5486400"/>
            <a:ext cx="1632295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249</a:t>
            </a:r>
            <a:endParaRPr lang="en-US" sz="2035" dirty="0"/>
          </a:p>
        </p:txBody>
      </p:sp>
      <p:sp>
        <p:nvSpPr>
          <p:cNvPr id="266" name="te-missed_285"/>
          <p:cNvSpPr txBox="1"/>
          <p:nvPr/>
        </p:nvSpPr>
        <p:spPr>
          <a:xfrm>
            <a:off x="8055498" y="5486400"/>
            <a:ext cx="1567373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231</a:t>
            </a:r>
            <a:endParaRPr lang="en-US" sz="2035" dirty="0"/>
          </a:p>
        </p:txBody>
      </p:sp>
      <p:sp>
        <p:nvSpPr>
          <p:cNvPr id="267" name="te-missed_286"/>
          <p:cNvSpPr txBox="1"/>
          <p:nvPr/>
        </p:nvSpPr>
        <p:spPr>
          <a:xfrm>
            <a:off x="7601682" y="5905470"/>
            <a:ext cx="247692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6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231 ≥ 225 · detected ✅</a:t>
            </a:r>
            <a:endParaRPr lang="en-US" sz="1526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0" presetClass="path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75000 0.00000 E" pathEditMode="relative" rAng="0" ptsTypes="AA">
                                      <p:cBhvr>
                                        <p:cTn id="53" dur="42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" presetID="0" presetClass="path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75000 0.00000 E" pathEditMode="relative" rAng="0" ptsTypes="AA">
                                      <p:cBhvr>
                                        <p:cTn id="55" dur="42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0" presetClass="path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75000 0.00000 E" pathEditMode="relative" rAng="0" ptsTypes="AA">
                                      <p:cBhvr>
                                        <p:cTn id="57" dur="42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275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345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415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2485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555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259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2625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2695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273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2765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2835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287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2905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2975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301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3045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6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3115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3185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6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3255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6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329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3325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6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3395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3395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6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343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3465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6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6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3595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8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0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3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6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4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9" dur="3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2" dur="3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5" dur="3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8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75000 0.00000 E" pathEditMode="relative" rAng="0" ptsTypes="AA">
                                      <p:cBhvr>
                                        <p:cTn id="304" dur="6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5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75000 0.00000 E" pathEditMode="relative" rAng="0" ptsTypes="AA">
                                      <p:cBhvr>
                                        <p:cTn id="306" dur="6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7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75000 0.00000 E" pathEditMode="relative" rAng="0" ptsTypes="AA">
                                      <p:cBhvr>
                                        <p:cTn id="308" dur="6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9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0" presetClass="path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75000 0.00000 E" pathEditMode="relative" rAng="0" ptsTypes="AA">
                                      <p:cBhvr>
                                        <p:cTn id="319" dur="42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0" presetID="0" presetClass="path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75000 0.00000 E" pathEditMode="relative" rAng="0" ptsTypes="AA">
                                      <p:cBhvr>
                                        <p:cTn id="321" dur="42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2" presetID="0" presetClass="path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75000 0.00000 E" pathEditMode="relative" rAng="0" ptsTypes="AA">
                                      <p:cBhvr>
                                        <p:cTn id="323" dur="42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4" presetID="10" presetClass="entr" presetSubtype="0" fill="hold" grpId="0" nodeType="withEffect">
                                  <p:stCondLst>
                                    <p:cond delay="2625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6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presetID="10" presetClass="entr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6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10" presetClass="entr" presetSubtype="0" fill="hold" grpId="0" nodeType="withEffect">
                                  <p:stCondLst>
                                    <p:cond delay="2695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6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presetID="10" presetClass="entr" presetSubtype="0" fill="hold" grpId="0" nodeType="withEffect">
                                  <p:stCondLst>
                                    <p:cond delay="273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6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presetID="10" presetClass="entr" presetSubtype="0" fill="hold" grpId="0" nodeType="withEffect">
                                  <p:stCondLst>
                                    <p:cond delay="2765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6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6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presetID="10" presetClass="entr" presetSubtype="0" fill="hold" grpId="0" nodeType="withEffect">
                                  <p:stCondLst>
                                    <p:cond delay="2835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6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5" presetID="10" presetClass="entr" presetSubtype="0" fill="hold" grpId="0" nodeType="withEffect">
                                  <p:stCondLst>
                                    <p:cond delay="287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6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10" presetClass="entr" presetSubtype="0" fill="hold" grpId="0" nodeType="withEffect">
                                  <p:stCondLst>
                                    <p:cond delay="2905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6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1" presetID="10" presetClass="entr" presetSubtype="0" fill="hold" grpId="0" nodeType="with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6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10" presetClass="entr" presetSubtype="0" fill="hold" grpId="0" nodeType="withEffect">
                                  <p:stCondLst>
                                    <p:cond delay="2975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6" dur="6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presetID="10" presetClass="entr" presetSubtype="0" fill="hold" grpId="0" nodeType="withEffect">
                                  <p:stCondLst>
                                    <p:cond delay="301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9" dur="6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0" presetID="10" presetClass="entr" presetSubtype="0" fill="hold" grpId="0" nodeType="withEffect">
                                  <p:stCondLst>
                                    <p:cond delay="3045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2" dur="6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3" presetID="10" presetClass="entr" presetSubtype="0" fill="hold" grpId="0" nodeType="with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5" dur="6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6" presetID="10" presetClass="entr" presetSubtype="0" fill="hold" grpId="0" nodeType="withEffect">
                                  <p:stCondLst>
                                    <p:cond delay="338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9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2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5" dur="6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8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1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4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7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0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3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6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9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2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5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8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1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4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7" dur="6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0" dur="6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5" fill="hold">
                      <p:stCondLst>
                        <p:cond delay="indefinite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4" dur="1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5" presetID="0" presetClass="path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 L 0.62500 0.00000 E" pathEditMode="relative" rAng="0" ptsTypes="AA">
                                      <p:cBhvr>
                                        <p:cTn id="476" dur="18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7" presetID="10" presetClass="exit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8" dur="2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10" presetClass="entr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3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5" dur="7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6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8" dur="7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9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1" dur="7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2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4" dur="7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5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7" dur="7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8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0" dur="7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1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3" dur="7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4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6" dur="7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7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9" dur="7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0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2" dur="7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3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5" dur="7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6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8" dur="7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9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1" dur="7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2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4" dur="7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5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7" dur="7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8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0" dur="7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1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3" dur="7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4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6" dur="7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7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9" dur="7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0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2" dur="7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3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5" dur="7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6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8" dur="7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9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1" dur="7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2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4" dur="7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5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7" dur="7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8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0" dur="7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1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3" dur="7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4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6" dur="7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7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9" dur="7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0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2" dur="7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3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5" dur="7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6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8" dur="7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9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1" dur="7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2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4" dur="7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5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7" dur="7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8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0" dur="7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1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3" dur="7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4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6" dur="7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9" dur="7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0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2" dur="7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3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5" dur="7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6" fill="hold">
                      <p:stCondLst>
                        <p:cond delay="indefinite"/>
                      </p:stCondLst>
                      <p:childTnLst>
                        <p:par>
                          <p:cTn id="607" fill="hold">
                            <p:stCondLst>
                              <p:cond delay="0"/>
                            </p:stCondLst>
                            <p:childTnLst>
                              <p:par>
                                <p:cTn id="60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4" presetID="10" presetClass="exit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5" dur="36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6" dur="1" fill="hold">
                                          <p:stCondLst>
                                            <p:cond delay="35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7" presetID="10" presetClass="exit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8" dur="12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0" presetID="10" presetClass="exit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1" dur="12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2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3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5" dur="12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8" dur="12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9" presetID="10" presetClass="exit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0" dur="12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1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2" presetID="10" presetClass="exit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3" dur="12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4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5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7" dur="12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8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0" dur="12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1" presetID="10" presetClass="exit" presetSubtype="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2" dur="12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3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4" presetID="10" presetClass="exit" presetSubtype="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5" dur="12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6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7" presetID="10" presetClass="entr" presetSubtype="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9" dur="12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0" presetID="10" presetClass="entr" presetSubtype="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8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2" dur="12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3" presetID="10" presetClass="exit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4" dur="12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5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6" presetID="10" presetClass="exit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7" dur="12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9" presetID="10" presetClass="entr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1" dur="12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2" presetID="10" presetClass="entr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4" dur="12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5" presetID="10" presetClass="exit" presetSubtype="0" fill="hold" grpId="0" nodeType="withEffect">
                                  <p:stCondLst>
                                    <p:cond delay="3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6" dur="12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7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8" presetID="10" presetClass="exit" presetSubtype="0" fill="hold" grpId="0" nodeType="withEffect">
                                  <p:stCondLst>
                                    <p:cond delay="3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9" dur="12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0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1" presetID="10" presetClass="entr" presetSubtype="0" fill="hold" grpId="0" nodeType="withEffect">
                                  <p:stCondLst>
                                    <p:cond delay="355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3" dur="12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4" presetID="10" presetClass="entr" presetSubtype="0" fill="hold" grpId="0" nodeType="withEffect">
                                  <p:stCondLst>
                                    <p:cond delay="3550"/>
                                  </p:stCondLst>
                                  <p:childTnLs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6" dur="12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7" presetID="10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8" dur="12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9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0" presetID="10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1" dur="12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2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3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5" dur="12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6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8" dur="12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9" presetID="10" presetClass="exit" presetSubtype="0" fill="hold" grpId="0" nodeType="withEffect">
                                  <p:stCondLst>
                                    <p:cond delay="44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0" dur="12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1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2" presetID="10" presetClass="exit" presetSubtype="0" fill="hold" grpId="0" nodeType="withEffect">
                                  <p:stCondLst>
                                    <p:cond delay="44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3" dur="12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4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5" presetID="10" presetClass="entr" presetSubtype="0" fill="hold" grpId="0" nodeType="withEffect">
                                  <p:stCondLst>
                                    <p:cond delay="4450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7" dur="12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8" presetID="10" presetClass="entr" presetSubtype="0" fill="hold" grpId="0" nodeType="withEffect">
                                  <p:stCondLst>
                                    <p:cond delay="4450"/>
                                  </p:stCondLst>
                                  <p:childTnLst>
                                    <p:set>
                                      <p:cBhvr>
                                        <p:cTn id="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0" dur="12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1" fill="hold">
                      <p:stCondLst>
                        <p:cond delay="indefinite"/>
                      </p:stCondLst>
                      <p:childTnLst>
                        <p:par>
                          <p:cTn id="852" fill="hold">
                            <p:stCondLst>
                              <p:cond delay="0"/>
                            </p:stCondLst>
                            <p:childTnLst>
                              <p:par>
                                <p:cTn id="8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6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3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9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5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4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0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3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9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5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4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0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3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6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5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8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1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4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0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3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6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9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2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5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8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1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4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0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3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6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9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2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5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8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1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4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7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0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3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6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9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2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5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8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1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7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0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6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9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2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5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8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1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4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0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3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6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9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2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5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8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4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7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0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3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6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9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2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5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8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1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4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7" dur="9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0" dur="6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3" dur="9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6" dur="6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7" presetID="10" presetClass="exit" presetSubtype="0" fill="hold" grpId="0" nodeType="withEffect">
                                  <p:stCondLst>
                                    <p:cond delay="1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8" dur="14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9" dur="1" fill="hold">
                                          <p:stCondLst>
                                            <p:cond delay="139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0" presetID="10" presetClass="exit" presetSubtype="0" fill="hold" grpId="0" nodeType="withEffect">
                                  <p:stCondLst>
                                    <p:cond delay="1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1" dur="14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2" dur="1" fill="hold">
                                          <p:stCondLst>
                                            <p:cond delay="139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3" presetID="10" presetClass="entr" presetSubtype="0" fill="hold" grpId="0" nodeType="withEffect">
                                  <p:stCondLst>
                                    <p:cond delay="1880"/>
                                  </p:stCondLst>
                                  <p:childTnLst>
                                    <p:set>
                                      <p:cBhvr>
                                        <p:cTn id="1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5" dur="9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6" presetID="10" presetClass="exit" presetSubtype="0" fill="hold" grpId="0" nodeType="withEffect">
                                  <p:stCondLst>
                                    <p:cond delay="18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7" dur="6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8" dur="1" fill="hold">
                                          <p:stCondLst>
                                            <p:cond delay="5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9" presetID="10" presetClass="entr" presetSubtype="0" fill="hold" grpId="0" nodeType="withEffect">
                                  <p:stCondLst>
                                    <p:cond delay="1880"/>
                                  </p:stCondLst>
                                  <p:childTnLst>
                                    <p:set>
                                      <p:cBhvr>
                                        <p:cTn id="1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1" dur="6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2" presetID="10" presetClass="entr" presetSubtype="0" fill="hold" grpId="0" nodeType="withEffect">
                                  <p:stCondLst>
                                    <p:cond delay="1880"/>
                                  </p:stCondLst>
                                  <p:childTnLst>
                                    <p:set>
                                      <p:cBhvr>
                                        <p:cTn id="1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4" dur="9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5" presetID="10" presetClass="exit" presetSubtype="0" fill="hold" grpId="0" nodeType="withEffect">
                                  <p:stCondLst>
                                    <p:cond delay="18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6" dur="6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7" dur="1" fill="hold">
                                          <p:stCondLst>
                                            <p:cond delay="59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8" presetID="10" presetClass="entr" presetSubtype="0" fill="hold" grpId="0" nodeType="withEffect">
                                  <p:stCondLst>
                                    <p:cond delay="1880"/>
                                  </p:stCondLst>
                                  <p:childTnLst>
                                    <p:set>
                                      <p:cBhvr>
                                        <p:cTn id="1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0" dur="6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1" presetID="10" presetClass="exit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2" dur="14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3" dur="1" fill="hold">
                                          <p:stCondLst>
                                            <p:cond delay="13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4" presetID="10" presetClass="exit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5" dur="14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6" dur="1" fill="hold">
                                          <p:stCondLst>
                                            <p:cond delay="13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7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1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9" dur="9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0" presetID="10" presetClass="exit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1" dur="6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2" dur="1" fill="hold">
                                          <p:stCondLst>
                                            <p:cond delay="5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3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1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5" dur="6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6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1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8" dur="9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9" presetID="10" presetClass="exit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0" dur="6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1" dur="1" fill="hold">
                                          <p:stCondLst>
                                            <p:cond delay="59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2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1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4" dur="6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5" presetID="10" presetClass="exit" presetSubtype="0" fill="hold" grpId="0" nodeType="withEffect">
                                  <p:stCondLst>
                                    <p:cond delay="24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6" dur="14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7" dur="1" fill="hold">
                                          <p:stCondLst>
                                            <p:cond delay="139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8" presetID="10" presetClass="exit" presetSubtype="0" fill="hold" grpId="0" nodeType="withEffect">
                                  <p:stCondLst>
                                    <p:cond delay="24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9" dur="14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0" dur="1" fill="hold">
                                          <p:stCondLst>
                                            <p:cond delay="139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1" presetID="10" presetClass="entr" presetSubtype="0" fill="hold" grpId="0" nodeType="withEffect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3" dur="9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4" presetID="10" presetClass="exit" presetSubtype="0" fill="hold" grpId="0" nodeType="withEffect">
                                  <p:stCondLst>
                                    <p:cond delay="26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5" dur="6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6" dur="1" fill="hold">
                                          <p:stCondLst>
                                            <p:cond delay="59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7" presetID="10" presetClass="entr" presetSubtype="0" fill="hold" grpId="0" nodeType="withEffect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9" dur="6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0" presetID="10" presetClass="entr" presetSubtype="0" fill="hold" grpId="0" nodeType="withEffect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2" dur="9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3" presetID="10" presetClass="exit" presetSubtype="0" fill="hold" grpId="0" nodeType="withEffect">
                                  <p:stCondLst>
                                    <p:cond delay="26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4" dur="6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5" dur="1" fill="hold">
                                          <p:stCondLst>
                                            <p:cond delay="59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6" presetID="10" presetClass="entr" presetSubtype="0" fill="hold" grpId="0" nodeType="withEffect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8" dur="6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9" presetID="10" presetClass="exit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0" dur="14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1" dur="1" fill="hold">
                                          <p:stCondLst>
                                            <p:cond delay="13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2" presetID="10" presetClass="exit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3" dur="14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4" dur="1" fill="hold">
                                          <p:stCondLst>
                                            <p:cond delay="139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5" presetID="10" presetClass="entr" presetSubtype="0" fill="hold" grpId="0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1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7" dur="9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8" presetID="10" presetClass="exit" presetSubtype="0" fill="hold" grpId="0" nodeType="withEffect">
                                  <p:stCondLst>
                                    <p:cond delay="30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9" dur="6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0" dur="1" fill="hold">
                                          <p:stCondLst>
                                            <p:cond delay="59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1" presetID="10" presetClass="entr" presetSubtype="0" fill="hold" grpId="0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1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3" dur="6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4" presetID="10" presetClass="entr" presetSubtype="0" fill="hold" grpId="0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1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6" dur="9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7" presetID="10" presetClass="exit" presetSubtype="0" fill="hold" grpId="0" nodeType="withEffect">
                                  <p:stCondLst>
                                    <p:cond delay="30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8" dur="6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9" dur="1" fill="hold">
                                          <p:stCondLst>
                                            <p:cond delay="59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0" presetID="10" presetClass="entr" presetSubtype="0" fill="hold" grpId="0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1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2" dur="6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3" presetID="10" presetClass="exit" presetSubtype="0" fill="hold" grpId="0" nodeType="withEffect">
                                  <p:stCondLst>
                                    <p:cond delay="32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4" dur="14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5" dur="1" fill="hold">
                                          <p:stCondLst>
                                            <p:cond delay="13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6" presetID="10" presetClass="exit" presetSubtype="0" fill="hold" grpId="0" nodeType="withEffect">
                                  <p:stCondLst>
                                    <p:cond delay="32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7" dur="14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8" dur="1" fill="hold">
                                          <p:stCondLst>
                                            <p:cond delay="13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9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1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1" dur="9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2" presetID="10" presetClass="exit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3" dur="6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4" dur="1" fill="hold">
                                          <p:stCondLst>
                                            <p:cond delay="59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5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1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7" dur="6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8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1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0" dur="9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1" presetID="10" presetClass="exit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2" dur="6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3" dur="1" fill="hold">
                                          <p:stCondLst>
                                            <p:cond delay="59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4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1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6" dur="6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7" presetID="10" presetClass="exit" presetSubtype="0" fill="hold" grpId="0" nodeType="withEffect">
                                  <p:stCondLst>
                                    <p:cond delay="36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8" dur="14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9" dur="1" fill="hold">
                                          <p:stCondLst>
                                            <p:cond delay="139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0" presetID="10" presetClass="exit" presetSubtype="0" fill="hold" grpId="0" nodeType="withEffect">
                                  <p:stCondLst>
                                    <p:cond delay="36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1" dur="14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2" dur="1" fill="hold">
                                          <p:stCondLst>
                                            <p:cond delay="139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3" presetID="10" presetClass="entr" presetSubtype="0" fill="hold" grpId="0" nodeType="with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1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5" dur="9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6" presetID="10" presetClass="exit" presetSubtype="0" fill="hold" grpId="0" nodeType="withEffect">
                                  <p:stCondLst>
                                    <p:cond delay="37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7" dur="6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8" dur="1" fill="hold">
                                          <p:stCondLst>
                                            <p:cond delay="5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9" presetID="10" presetClass="entr" presetSubtype="0" fill="hold" grpId="0" nodeType="with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1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1" dur="6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2" presetID="10" presetClass="entr" presetSubtype="0" fill="hold" grpId="0" nodeType="with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1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4" dur="9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5" presetID="10" presetClass="exit" presetSubtype="0" fill="hold" grpId="0" nodeType="withEffect">
                                  <p:stCondLst>
                                    <p:cond delay="37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6" dur="6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7" dur="1" fill="hold">
                                          <p:stCondLst>
                                            <p:cond delay="59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8" presetID="10" presetClass="entr" presetSubtype="0" fill="hold" grpId="0" nodeType="with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1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0" dur="6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1" presetID="10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2" dur="14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3" dur="1" fill="hold">
                                          <p:stCondLst>
                                            <p:cond delay="13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4" presetID="10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5" dur="14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6" dur="1" fill="hold">
                                          <p:stCondLst>
                                            <p:cond delay="13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7" presetID="10" presetClass="entr" presetSubtype="0" fill="hold" grpId="0" nodeType="withEffect">
                                  <p:stCondLst>
                                    <p:cond delay="4160"/>
                                  </p:stCondLst>
                                  <p:childTnLst>
                                    <p:set>
                                      <p:cBhvr>
                                        <p:cTn id="1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9" dur="9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0" presetID="10" presetClass="exit" presetSubtype="0" fill="hold" grpId="0" nodeType="withEffect">
                                  <p:stCondLst>
                                    <p:cond delay="41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1" dur="6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2" dur="1" fill="hold">
                                          <p:stCondLst>
                                            <p:cond delay="5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3" presetID="10" presetClass="entr" presetSubtype="0" fill="hold" grpId="0" nodeType="withEffect">
                                  <p:stCondLst>
                                    <p:cond delay="4160"/>
                                  </p:stCondLst>
                                  <p:childTnLst>
                                    <p:set>
                                      <p:cBhvr>
                                        <p:cTn id="1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5" dur="6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6" presetID="10" presetClass="entr" presetSubtype="0" fill="hold" grpId="0" nodeType="withEffect">
                                  <p:stCondLst>
                                    <p:cond delay="4160"/>
                                  </p:stCondLst>
                                  <p:childTnLst>
                                    <p:set>
                                      <p:cBhvr>
                                        <p:cTn id="1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8" dur="9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9" presetID="10" presetClass="exit" presetSubtype="0" fill="hold" grpId="0" nodeType="withEffect">
                                  <p:stCondLst>
                                    <p:cond delay="41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0" dur="6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1" dur="1" fill="hold">
                                          <p:stCondLst>
                                            <p:cond delay="59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2" presetID="10" presetClass="entr" presetSubtype="0" fill="hold" grpId="0" nodeType="withEffect">
                                  <p:stCondLst>
                                    <p:cond delay="4160"/>
                                  </p:stCondLst>
                                  <p:childTnLst>
                                    <p:set>
                                      <p:cBhvr>
                                        <p:cTn id="1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4" dur="6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5" presetID="10" presetClass="exit" presetSubtype="0" fill="hold" grpId="0" nodeType="withEffect">
                                  <p:stCondLst>
                                    <p:cond delay="43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6" dur="14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7" dur="1" fill="hold">
                                          <p:stCondLst>
                                            <p:cond delay="139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8" presetID="10" presetClass="exit" presetSubtype="0" fill="hold" grpId="0" nodeType="withEffect">
                                  <p:stCondLst>
                                    <p:cond delay="43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9" dur="14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0" dur="1" fill="hold">
                                          <p:stCondLst>
                                            <p:cond delay="139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1" presetID="10" presetClass="entr" presetSubtype="0" fill="hold" grpId="0" nodeType="withEffect">
                                  <p:stCondLst>
                                    <p:cond delay="4540"/>
                                  </p:stCondLst>
                                  <p:childTnLst>
                                    <p:set>
                                      <p:cBhvr>
                                        <p:cTn id="1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3" dur="9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4" presetID="10" presetClass="exit" presetSubtype="0" fill="hold" grpId="0" nodeType="withEffect">
                                  <p:stCondLst>
                                    <p:cond delay="45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5" dur="6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6" dur="1" fill="hold">
                                          <p:stCondLst>
                                            <p:cond delay="59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7" presetID="10" presetClass="entr" presetSubtype="0" fill="hold" grpId="0" nodeType="withEffect">
                                  <p:stCondLst>
                                    <p:cond delay="4540"/>
                                  </p:stCondLst>
                                  <p:childTnLst>
                                    <p:set>
                                      <p:cBhvr>
                                        <p:cTn id="1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9" dur="6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0" presetID="10" presetClass="entr" presetSubtype="0" fill="hold" grpId="0" nodeType="withEffect">
                                  <p:stCondLst>
                                    <p:cond delay="4540"/>
                                  </p:stCondLst>
                                  <p:childTnLst>
                                    <p:set>
                                      <p:cBhvr>
                                        <p:cTn id="1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2" dur="9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3" presetID="10" presetClass="exit" presetSubtype="0" fill="hold" grpId="0" nodeType="withEffect">
                                  <p:stCondLst>
                                    <p:cond delay="45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4" dur="6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5" dur="1" fill="hold">
                                          <p:stCondLst>
                                            <p:cond delay="59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6" presetID="10" presetClass="entr" presetSubtype="0" fill="hold" grpId="0" nodeType="withEffect">
                                  <p:stCondLst>
                                    <p:cond delay="4540"/>
                                  </p:stCondLst>
                                  <p:childTnLst>
                                    <p:set>
                                      <p:cBhvr>
                                        <p:cTn id="1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8" dur="6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9" presetID="10" presetClass="exit" presetSubtype="0" fill="hold" grpId="0" nodeType="withEffect">
                                  <p:stCondLst>
                                    <p:cond delay="47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0" dur="14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1" dur="1" fill="hold">
                                          <p:stCondLst>
                                            <p:cond delay="139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2" presetID="10" presetClass="exit" presetSubtype="0" fill="hold" grpId="0" nodeType="withEffect">
                                  <p:stCondLst>
                                    <p:cond delay="47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3" dur="14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4" dur="1" fill="hold">
                                          <p:stCondLst>
                                            <p:cond delay="139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5" presetID="10" presetClass="entr" presetSubtype="0" fill="hold" grpId="0" nodeType="withEffect">
                                  <p:stCondLst>
                                    <p:cond delay="4920"/>
                                  </p:stCondLst>
                                  <p:childTnLst>
                                    <p:set>
                                      <p:cBhvr>
                                        <p:cTn id="1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7" dur="9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8" presetID="10" presetClass="exit" presetSubtype="0" fill="hold" grpId="0" nodeType="withEffect">
                                  <p:stCondLst>
                                    <p:cond delay="49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9" dur="6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0" dur="1" fill="hold">
                                          <p:stCondLst>
                                            <p:cond delay="59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1" presetID="10" presetClass="entr" presetSubtype="0" fill="hold" grpId="0" nodeType="withEffect">
                                  <p:stCondLst>
                                    <p:cond delay="4920"/>
                                  </p:stCondLst>
                                  <p:childTnLst>
                                    <p:set>
                                      <p:cBhvr>
                                        <p:cTn id="1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3" dur="6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4" presetID="10" presetClass="entr" presetSubtype="0" fill="hold" grpId="0" nodeType="withEffect">
                                  <p:stCondLst>
                                    <p:cond delay="4920"/>
                                  </p:stCondLst>
                                  <p:childTnLst>
                                    <p:set>
                                      <p:cBhvr>
                                        <p:cTn id="1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6" dur="9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7" presetID="10" presetClass="exit" presetSubtype="0" fill="hold" grpId="0" nodeType="withEffect">
                                  <p:stCondLst>
                                    <p:cond delay="49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8" dur="6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9" dur="1" fill="hold">
                                          <p:stCondLst>
                                            <p:cond delay="59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0" presetID="10" presetClass="entr" presetSubtype="0" fill="hold" grpId="0" nodeType="withEffect">
                                  <p:stCondLst>
                                    <p:cond delay="4920"/>
                                  </p:stCondLst>
                                  <p:childTnLst>
                                    <p:set>
                                      <p:cBhvr>
                                        <p:cTn id="1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2" dur="6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3" presetID="10" presetClass="exit" presetSubtype="0" fill="hold" grpId="0" nodeType="withEffect">
                                  <p:stCondLst>
                                    <p:cond delay="51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4" dur="14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5" dur="1" fill="hold">
                                          <p:stCondLst>
                                            <p:cond delay="139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6" presetID="10" presetClass="exit" presetSubtype="0" fill="hold" grpId="0" nodeType="withEffect">
                                  <p:stCondLst>
                                    <p:cond delay="51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7" dur="14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8" dur="1" fill="hold">
                                          <p:stCondLst>
                                            <p:cond delay="139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9" presetID="10" presetClass="entr" presetSubtype="0" fill="hold" grpId="0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1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1" dur="9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2" presetID="10" presetClass="exit" presetSubtype="0" fill="hold" grpId="0" nodeType="withEffect">
                                  <p:stCondLst>
                                    <p:cond delay="5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3" dur="6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4" dur="1" fill="hold">
                                          <p:stCondLst>
                                            <p:cond delay="59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5" presetID="10" presetClass="entr" presetSubtype="0" fill="hold" grpId="0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1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7" dur="6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8" presetID="10" presetClass="entr" presetSubtype="0" fill="hold" grpId="0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1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0" dur="9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1" presetID="10" presetClass="exit" presetSubtype="0" fill="hold" grpId="0" nodeType="withEffect">
                                  <p:stCondLst>
                                    <p:cond delay="5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2" dur="6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3" dur="1" fill="hold">
                                          <p:stCondLst>
                                            <p:cond delay="59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4" presetID="10" presetClass="entr" presetSubtype="0" fill="hold" grpId="0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1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6" dur="6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7" presetID="10" presetClass="exit" presetSubtype="0" fill="hold" grpId="0" nodeType="withEffect">
                                  <p:stCondLst>
                                    <p:cond delay="55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8" dur="14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9" dur="1" fill="hold">
                                          <p:stCondLst>
                                            <p:cond delay="13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0" presetID="10" presetClass="exit" presetSubtype="0" fill="hold" grpId="0" nodeType="withEffect">
                                  <p:stCondLst>
                                    <p:cond delay="55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1" dur="14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2" dur="1" fill="hold">
                                          <p:stCondLst>
                                            <p:cond delay="13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3" presetID="10" presetClass="entr" presetSubtype="0" fill="hold" grpId="0" nodeType="withEffect">
                                  <p:stCondLst>
                                    <p:cond delay="5680"/>
                                  </p:stCondLst>
                                  <p:childTnLst>
                                    <p:set>
                                      <p:cBhvr>
                                        <p:cTn id="1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5" dur="9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6" presetID="10" presetClass="exit" presetSubtype="0" fill="hold" grpId="0" nodeType="withEffect">
                                  <p:stCondLst>
                                    <p:cond delay="56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7" dur="6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8" dur="1" fill="hold">
                                          <p:stCondLst>
                                            <p:cond delay="5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9" presetID="10" presetClass="entr" presetSubtype="0" fill="hold" grpId="0" nodeType="withEffect">
                                  <p:stCondLst>
                                    <p:cond delay="5680"/>
                                  </p:stCondLst>
                                  <p:childTnLst>
                                    <p:set>
                                      <p:cBhvr>
                                        <p:cTn id="1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1" dur="6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2" presetID="10" presetClass="entr" presetSubtype="0" fill="hold" grpId="0" nodeType="withEffect">
                                  <p:stCondLst>
                                    <p:cond delay="5680"/>
                                  </p:stCondLst>
                                  <p:childTnLst>
                                    <p:set>
                                      <p:cBhvr>
                                        <p:cTn id="1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4" dur="9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5" presetID="10" presetClass="exit" presetSubtype="0" fill="hold" grpId="0" nodeType="withEffect">
                                  <p:stCondLst>
                                    <p:cond delay="56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6" dur="6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7" dur="1" fill="hold">
                                          <p:stCondLst>
                                            <p:cond delay="59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8" presetID="10" presetClass="entr" presetSubtype="0" fill="hold" grpId="0" nodeType="withEffect">
                                  <p:stCondLst>
                                    <p:cond delay="5680"/>
                                  </p:stCondLst>
                                  <p:childTnLst>
                                    <p:set>
                                      <p:cBhvr>
                                        <p:cTn id="1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0" dur="6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1" presetID="10" presetClass="exit" presetSubtype="0" fill="hold" grpId="0" nodeType="withEffect">
                                  <p:stCondLst>
                                    <p:cond delay="5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2" dur="14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3" dur="1" fill="hold">
                                          <p:stCondLst>
                                            <p:cond delay="13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4" presetID="10" presetClass="exit" presetSubtype="0" fill="hold" grpId="0" nodeType="withEffect">
                                  <p:stCondLst>
                                    <p:cond delay="5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5" dur="14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6" dur="1" fill="hold">
                                          <p:stCondLst>
                                            <p:cond delay="139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7" presetID="10" presetClass="entr" presetSubtype="0" fill="hold" grpId="0" nodeType="withEffect">
                                  <p:stCondLst>
                                    <p:cond delay="6260"/>
                                  </p:stCondLst>
                                  <p:childTnLst>
                                    <p:set>
                                      <p:cBhvr>
                                        <p:cTn id="1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0" presetID="10" presetClass="entr" presetSubtype="0" fill="hold" grpId="0" nodeType="withEffect">
                                  <p:stCondLst>
                                    <p:cond delay="6260"/>
                                  </p:stCondLst>
                                  <p:childTnLst>
                                    <p:set>
                                      <p:cBhvr>
                                        <p:cTn id="1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3" presetID="10" presetClass="entr" presetSubtype="0" fill="hold" grpId="0" nodeType="withEffect">
                                  <p:stCondLst>
                                    <p:cond delay="6460"/>
                                  </p:stCondLst>
                                  <p:childTnLst>
                                    <p:set>
                                      <p:cBhvr>
                                        <p:cTn id="1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5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6" presetID="10" presetClass="entr" presetSubtype="0" fill="hold" grpId="0" nodeType="withEffect">
                                  <p:stCondLst>
                                    <p:cond delay="6460"/>
                                  </p:stCondLst>
                                  <p:childTnLst>
                                    <p:set>
                                      <p:cBhvr>
                                        <p:cTn id="1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8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 animBg="1"/>
      <p:bldP spid="18" grpId="0"/>
      <p:bldP spid="19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/>
      <p:bldP spid="73" grpId="0"/>
      <p:bldP spid="74" grpId="0"/>
      <p:bldP spid="75" grpId="0" animBg="1"/>
      <p:bldP spid="76" grpId="0" animBg="1"/>
      <p:bldP spid="77" grpId="0" animBg="1"/>
      <p:bldP spid="78" grpId="0" animBg="1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 animBg="1"/>
      <p:bldP spid="90" grpId="0"/>
      <p:bldP spid="91" grpId="0" animBg="1"/>
      <p:bldP spid="92" grpId="0"/>
      <p:bldP spid="93" grpId="0" animBg="1"/>
      <p:bldP spid="94" grpId="0"/>
      <p:bldP spid="95" grpId="0" animBg="1"/>
      <p:bldP spid="96" grpId="0"/>
      <p:bldP spid="97" grpId="0" animBg="1"/>
      <p:bldP spid="98" grpId="0"/>
      <p:bldP spid="99" grpId="0" animBg="1"/>
      <p:bldP spid="100" grpId="0"/>
      <p:bldP spid="101" grpId="0" animBg="1"/>
      <p:bldP spid="102" grpId="0"/>
      <p:bldP spid="103" grpId="0" animBg="1"/>
      <p:bldP spid="104" grpId="0"/>
      <p:bldP spid="105" grpId="0" animBg="1"/>
      <p:bldP spid="106" grpId="0"/>
      <p:bldP spid="107" grpId="0" animBg="1"/>
      <p:bldP spid="108" grpId="0"/>
      <p:bldP spid="109" grpId="0" animBg="1"/>
      <p:bldP spid="110" grpId="0"/>
      <p:bldP spid="111" grpId="0" animBg="1"/>
      <p:bldP spid="112" grpId="0"/>
      <p:bldP spid="113" grpId="0" animBg="1"/>
      <p:bldP spid="114" grpId="0"/>
      <p:bldP spid="115" grpId="0" animBg="1"/>
      <p:bldP spid="116" grpId="0"/>
      <p:bldP spid="117" grpId="0" animBg="1"/>
      <p:bldP spid="118" grpId="0"/>
      <p:bldP spid="119" grpId="0" animBg="1"/>
      <p:bldP spid="120" grpId="0"/>
      <p:bldP spid="121" grpId="0" animBg="1"/>
      <p:bldP spid="122" grpId="0" animBg="1"/>
      <p:bldP spid="123" grpId="0" animBg="1"/>
      <p:bldP spid="124" grpId="0"/>
      <p:bldP spid="125" grpId="0"/>
      <p:bldP spid="126" grpId="0"/>
      <p:bldP spid="127" grpId="0"/>
      <p:bldP spid="128" grpId="0"/>
      <p:bldP spid="129" grpId="0"/>
      <p:bldP spid="130" grpId="0"/>
      <p:bldP spid="131" grpId="0"/>
      <p:bldP spid="132" grpId="0"/>
      <p:bldP spid="133" grpId="0"/>
      <p:bldP spid="134" grpId="0"/>
      <p:bldP spid="135" grpId="0"/>
      <p:bldP spid="136" grpId="0"/>
      <p:bldP spid="137" grpId="0"/>
      <p:bldP spid="138" grpId="0"/>
      <p:bldP spid="139" grpId="0"/>
      <p:bldP spid="140" grpId="0"/>
      <p:bldP spid="141" grpId="0" animBg="1"/>
      <p:bldP spid="142" grpId="0" animBg="1"/>
      <p:bldP spid="143" grpId="0" animBg="1"/>
      <p:bldP spid="144" grpId="0"/>
      <p:bldP spid="145" grpId="0"/>
      <p:bldP spid="146" grpId="0"/>
      <p:bldP spid="147" grpId="0"/>
      <p:bldP spid="148" grpId="0"/>
      <p:bldP spid="149" grpId="0"/>
      <p:bldP spid="150" grpId="0"/>
      <p:bldP spid="151" grpId="0"/>
      <p:bldP spid="152" grpId="0"/>
      <p:bldP spid="153" grpId="0" animBg="1"/>
      <p:bldP spid="154" grpId="0"/>
      <p:bldP spid="155" grpId="0" animBg="1"/>
      <p:bldP spid="156" grpId="0"/>
      <p:bldP spid="157" grpId="0" animBg="1"/>
      <p:bldP spid="158" grpId="0"/>
      <p:bldP spid="159" grpId="0" animBg="1"/>
      <p:bldP spid="160" grpId="0"/>
      <p:bldP spid="161" grpId="0" animBg="1"/>
      <p:bldP spid="162" grpId="0"/>
      <p:bldP spid="163" grpId="0" animBg="1"/>
      <p:bldP spid="164" grpId="0"/>
      <p:bldP spid="165" grpId="0" animBg="1"/>
      <p:bldP spid="166" grpId="0"/>
      <p:bldP spid="167" grpId="0" animBg="1"/>
      <p:bldP spid="168" grpId="0"/>
      <p:bldP spid="169" grpId="0" animBg="1"/>
      <p:bldP spid="170" grpId="0"/>
      <p:bldP spid="171" grpId="0" animBg="1"/>
      <p:bldP spid="172" grpId="0"/>
      <p:bldP spid="173" grpId="0" animBg="1"/>
      <p:bldP spid="174" grpId="0"/>
      <p:bldP spid="175" grpId="0" animBg="1"/>
      <p:bldP spid="176" grpId="0"/>
      <p:bldP spid="177" grpId="0" animBg="1"/>
      <p:bldP spid="178" grpId="0"/>
      <p:bldP spid="179" grpId="0" animBg="1"/>
      <p:bldP spid="180" grpId="0"/>
      <p:bldP spid="181" grpId="0" animBg="1"/>
      <p:bldP spid="182" grpId="0"/>
      <p:bldP spid="183" grpId="0" animBg="1"/>
      <p:bldP spid="184" grpId="0"/>
      <p:bldP spid="185" grpId="0" animBg="1"/>
      <p:bldP spid="186" grpId="0" animBg="1"/>
      <p:bldP spid="187" grpId="0" animBg="1"/>
      <p:bldP spid="188" grpId="0" animBg="1"/>
      <p:bldP spid="189" grpId="0" animBg="1"/>
      <p:bldP spid="190" grpId="0" animBg="1"/>
      <p:bldP spid="191" grpId="0"/>
      <p:bldP spid="192" grpId="0"/>
      <p:bldP spid="193" grpId="0"/>
      <p:bldP spid="194" grpId="0"/>
      <p:bldP spid="195" grpId="0"/>
      <p:bldP spid="196" grpId="0"/>
      <p:bldP spid="197" grpId="0"/>
      <p:bldP spid="198" grpId="0"/>
      <p:bldP spid="199" grpId="0"/>
      <p:bldP spid="200" grpId="0"/>
      <p:bldP spid="201" grpId="0"/>
      <p:bldP spid="202" grpId="0"/>
      <p:bldP spid="203" grpId="0"/>
      <p:bldP spid="204" grpId="0"/>
      <p:bldP spid="205" grpId="0" animBg="1"/>
      <p:bldP spid="206" grpId="0" animBg="1"/>
      <p:bldP spid="207" grpId="0" animBg="1"/>
      <p:bldP spid="208" grpId="0"/>
      <p:bldP spid="209" grpId="0"/>
      <p:bldP spid="210" grpId="0"/>
      <p:bldP spid="211" grpId="0"/>
      <p:bldP spid="212" grpId="0"/>
      <p:bldP spid="213" grpId="0"/>
      <p:bldP spid="214" grpId="0"/>
      <p:bldP spid="215" grpId="0"/>
      <p:bldP spid="216" grpId="0"/>
      <p:bldP spid="217" grpId="0" animBg="1"/>
      <p:bldP spid="218" grpId="0"/>
      <p:bldP spid="219" grpId="0" animBg="1"/>
      <p:bldP spid="220" grpId="0"/>
      <p:bldP spid="221" grpId="0" animBg="1"/>
      <p:bldP spid="222" grpId="0"/>
      <p:bldP spid="223" grpId="0" animBg="1"/>
      <p:bldP spid="224" grpId="0"/>
      <p:bldP spid="225" grpId="0" animBg="1"/>
      <p:bldP spid="226" grpId="0"/>
      <p:bldP spid="227" grpId="0" animBg="1"/>
      <p:bldP spid="228" grpId="0"/>
      <p:bldP spid="229" grpId="0" animBg="1"/>
      <p:bldP spid="230" grpId="0"/>
      <p:bldP spid="231" grpId="0" animBg="1"/>
      <p:bldP spid="232" grpId="0"/>
      <p:bldP spid="233" grpId="0" animBg="1"/>
      <p:bldP spid="234" grpId="0"/>
      <p:bldP spid="235" grpId="0" animBg="1"/>
      <p:bldP spid="236" grpId="0"/>
      <p:bldP spid="237" grpId="0" animBg="1"/>
      <p:bldP spid="238" grpId="0"/>
      <p:bldP spid="239" grpId="0" animBg="1"/>
      <p:bldP spid="240" grpId="0"/>
      <p:bldP spid="241" grpId="0" animBg="1"/>
      <p:bldP spid="242" grpId="0"/>
      <p:bldP spid="243" grpId="0" animBg="1"/>
      <p:bldP spid="244" grpId="0"/>
      <p:bldP spid="245" grpId="0" animBg="1"/>
      <p:bldP spid="246" grpId="0"/>
      <p:bldP spid="247" grpId="0" animBg="1"/>
      <p:bldP spid="248" grpId="0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/>
      <p:bldP spid="256" grpId="0"/>
      <p:bldP spid="257" grpId="0"/>
      <p:bldP spid="258" grpId="0"/>
      <p:bldP spid="259" grpId="0"/>
      <p:bldP spid="260" grpId="0"/>
      <p:bldP spid="261" grpId="0"/>
      <p:bldP spid="262" grpId="0"/>
      <p:bldP spid="263" grpId="0"/>
      <p:bldP spid="264" grpId="0"/>
      <p:bldP spid="265" grpId="0"/>
      <p:bldP spid="266" grpId="0"/>
      <p:bldP spid="26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-phmm_1"/>
          <p:cNvSpPr txBox="1"/>
          <p:nvPr/>
        </p:nvSpPr>
        <p:spPr>
          <a:xfrm>
            <a:off x="548640" y="396210"/>
            <a:ext cx="11140410" cy="464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40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profile hidden Markov models (pHMMs) for TE detection</a:t>
            </a:r>
            <a:endParaRPr lang="en-US" sz="2640" dirty="0"/>
          </a:p>
        </p:txBody>
      </p:sp>
      <p:sp>
        <p:nvSpPr>
          <p:cNvPr id="3" name="te-phmm_2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Consensus-based alignment has clear limitations, pHMMs present an alternative</a:t>
            </a:r>
            <a:endParaRPr lang="en-US" sz="2544" dirty="0"/>
          </a:p>
        </p:txBody>
      </p:sp>
      <p:sp>
        <p:nvSpPr>
          <p:cNvPr id="4" name="te-phmm_3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consensus sequences encode a position’s most common base, pHMMs encode all base probabilities</a:t>
            </a:r>
            <a:endParaRPr lang="en-US" sz="2544" dirty="0"/>
          </a:p>
        </p:txBody>
      </p:sp>
      <p:sp>
        <p:nvSpPr>
          <p:cNvPr id="5" name="te-phmm_4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well as insertion/deletion probabilities</a:t>
            </a:r>
            <a:endParaRPr lang="en-US" sz="2544" dirty="0"/>
          </a:p>
        </p:txBody>
      </p:sp>
      <p:sp>
        <p:nvSpPr>
          <p:cNvPr id="6" name="te-phmm_5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BLAST needs an exact match to start, pHMMs are more tolerant to divergence</a:t>
            </a:r>
            <a:endParaRPr lang="en-US" sz="2544" dirty="0"/>
          </a:p>
        </p:txBody>
      </p:sp>
      <p:sp>
        <p:nvSpPr>
          <p:cNvPr id="7" name="te-phmm_6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 searches use one score cutoff for every family, Dfam pHMMs each have their own calibrated cutoffs</a:t>
            </a:r>
            <a:endParaRPr lang="en-US" sz="2544" dirty="0"/>
          </a:p>
        </p:txBody>
      </p:sp>
      <p:sp>
        <p:nvSpPr>
          <p:cNvPr id="8" name="te-phmm_7"/>
          <p:cNvSpPr txBox="1"/>
          <p:nvPr/>
        </p:nvSpPr>
        <p:spPr>
          <a:xfrm>
            <a:off x="4966289" y="3752880"/>
            <a:ext cx="430682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9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798" dirty="0"/>
          </a:p>
        </p:txBody>
      </p:sp>
      <p:sp>
        <p:nvSpPr>
          <p:cNvPr id="9" name="te-phmm_8"/>
          <p:cNvSpPr txBox="1"/>
          <p:nvPr/>
        </p:nvSpPr>
        <p:spPr>
          <a:xfrm>
            <a:off x="5804520" y="3752880"/>
            <a:ext cx="430682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9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798" dirty="0"/>
          </a:p>
        </p:txBody>
      </p:sp>
      <p:sp>
        <p:nvSpPr>
          <p:cNvPr id="10" name="te-phmm_9"/>
          <p:cNvSpPr txBox="1"/>
          <p:nvPr/>
        </p:nvSpPr>
        <p:spPr>
          <a:xfrm>
            <a:off x="4966289" y="4171950"/>
            <a:ext cx="430682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9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798" dirty="0"/>
          </a:p>
        </p:txBody>
      </p:sp>
      <p:sp>
        <p:nvSpPr>
          <p:cNvPr id="11" name="te-phmm_10"/>
          <p:cNvSpPr txBox="1"/>
          <p:nvPr/>
        </p:nvSpPr>
        <p:spPr>
          <a:xfrm>
            <a:off x="5804154" y="4171950"/>
            <a:ext cx="436443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9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798" dirty="0"/>
          </a:p>
        </p:txBody>
      </p:sp>
      <p:sp>
        <p:nvSpPr>
          <p:cNvPr id="12" name="te-phmm_11"/>
          <p:cNvSpPr txBox="1"/>
          <p:nvPr/>
        </p:nvSpPr>
        <p:spPr>
          <a:xfrm>
            <a:off x="4966289" y="4591020"/>
            <a:ext cx="430682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9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798" dirty="0"/>
          </a:p>
        </p:txBody>
      </p:sp>
      <p:sp>
        <p:nvSpPr>
          <p:cNvPr id="13" name="te-phmm_12"/>
          <p:cNvSpPr txBox="1"/>
          <p:nvPr/>
        </p:nvSpPr>
        <p:spPr>
          <a:xfrm>
            <a:off x="5804154" y="4591020"/>
            <a:ext cx="436443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9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798" dirty="0"/>
          </a:p>
        </p:txBody>
      </p:sp>
      <p:sp>
        <p:nvSpPr>
          <p:cNvPr id="14" name="te-phmm_13"/>
          <p:cNvSpPr txBox="1"/>
          <p:nvPr/>
        </p:nvSpPr>
        <p:spPr>
          <a:xfrm>
            <a:off x="6642659" y="3752880"/>
            <a:ext cx="430682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9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798" dirty="0"/>
          </a:p>
        </p:txBody>
      </p:sp>
      <p:sp>
        <p:nvSpPr>
          <p:cNvPr id="15" name="te-phmm_14"/>
          <p:cNvSpPr txBox="1"/>
          <p:nvPr/>
        </p:nvSpPr>
        <p:spPr>
          <a:xfrm>
            <a:off x="6642659" y="4171950"/>
            <a:ext cx="430682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9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798" dirty="0"/>
          </a:p>
        </p:txBody>
      </p:sp>
      <p:sp>
        <p:nvSpPr>
          <p:cNvPr id="16" name="te-phmm_15"/>
          <p:cNvSpPr txBox="1"/>
          <p:nvPr/>
        </p:nvSpPr>
        <p:spPr>
          <a:xfrm>
            <a:off x="6642659" y="4591020"/>
            <a:ext cx="430682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9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798" dirty="0"/>
          </a:p>
        </p:txBody>
      </p:sp>
      <p:sp>
        <p:nvSpPr>
          <p:cNvPr id="17" name="te-phmm_16"/>
          <p:cNvSpPr txBox="1"/>
          <p:nvPr/>
        </p:nvSpPr>
        <p:spPr>
          <a:xfrm>
            <a:off x="6499830" y="2943271"/>
            <a:ext cx="716341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67%</a:t>
            </a:r>
            <a:endParaRPr lang="en-US" sz="1399" dirty="0"/>
          </a:p>
        </p:txBody>
      </p:sp>
      <p:sp>
        <p:nvSpPr>
          <p:cNvPr id="18" name="te-phmm_17"/>
          <p:cNvSpPr txBox="1"/>
          <p:nvPr/>
        </p:nvSpPr>
        <p:spPr>
          <a:xfrm>
            <a:off x="6505316" y="3187050"/>
            <a:ext cx="705460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33%</a:t>
            </a:r>
            <a:endParaRPr lang="en-US" sz="1399" dirty="0"/>
          </a:p>
        </p:txBody>
      </p:sp>
      <p:sp>
        <p:nvSpPr>
          <p:cNvPr id="19" name="te-phmm_18"/>
          <p:cNvSpPr txBox="1"/>
          <p:nvPr/>
        </p:nvSpPr>
        <p:spPr>
          <a:xfrm>
            <a:off x="4769968" y="2943271"/>
            <a:ext cx="823234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100%</a:t>
            </a:r>
            <a:endParaRPr lang="en-US" sz="1399" dirty="0"/>
          </a:p>
        </p:txBody>
      </p:sp>
      <p:sp>
        <p:nvSpPr>
          <p:cNvPr id="20" name="te-phmm_19"/>
          <p:cNvSpPr txBox="1"/>
          <p:nvPr/>
        </p:nvSpPr>
        <p:spPr>
          <a:xfrm>
            <a:off x="5660959" y="2943271"/>
            <a:ext cx="717621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67%</a:t>
            </a:r>
            <a:endParaRPr lang="en-US" sz="1399" dirty="0"/>
          </a:p>
        </p:txBody>
      </p:sp>
      <p:sp>
        <p:nvSpPr>
          <p:cNvPr id="21" name="te-phmm_20"/>
          <p:cNvSpPr txBox="1"/>
          <p:nvPr/>
        </p:nvSpPr>
        <p:spPr>
          <a:xfrm>
            <a:off x="5659404" y="3187050"/>
            <a:ext cx="720822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33%</a:t>
            </a:r>
            <a:endParaRPr lang="en-US" sz="1399" dirty="0"/>
          </a:p>
        </p:txBody>
      </p:sp>
      <p:sp>
        <p:nvSpPr>
          <p:cNvPr id="22" name="te-phmm_21"/>
          <p:cNvSpPr txBox="1"/>
          <p:nvPr/>
        </p:nvSpPr>
        <p:spPr>
          <a:xfrm>
            <a:off x="4966289" y="5010180"/>
            <a:ext cx="430682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9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798" dirty="0"/>
          </a:p>
        </p:txBody>
      </p:sp>
      <p:sp>
        <p:nvSpPr>
          <p:cNvPr id="23" name="te-phmm_22"/>
          <p:cNvSpPr txBox="1"/>
          <p:nvPr/>
        </p:nvSpPr>
        <p:spPr>
          <a:xfrm>
            <a:off x="5804520" y="5010180"/>
            <a:ext cx="430682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9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2798" dirty="0"/>
          </a:p>
        </p:txBody>
      </p:sp>
      <p:sp>
        <p:nvSpPr>
          <p:cNvPr id="24" name="te-phmm_23"/>
          <p:cNvSpPr txBox="1"/>
          <p:nvPr/>
        </p:nvSpPr>
        <p:spPr>
          <a:xfrm>
            <a:off x="7404720" y="5010180"/>
            <a:ext cx="430682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9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798" dirty="0"/>
          </a:p>
        </p:txBody>
      </p:sp>
      <p:sp>
        <p:nvSpPr>
          <p:cNvPr id="25" name="te-phmm_24"/>
          <p:cNvSpPr txBox="1"/>
          <p:nvPr/>
        </p:nvSpPr>
        <p:spPr>
          <a:xfrm>
            <a:off x="4966289" y="5429250"/>
            <a:ext cx="430682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9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798" dirty="0"/>
          </a:p>
        </p:txBody>
      </p:sp>
      <p:sp>
        <p:nvSpPr>
          <p:cNvPr id="26" name="te-phmm_25"/>
          <p:cNvSpPr txBox="1"/>
          <p:nvPr/>
        </p:nvSpPr>
        <p:spPr>
          <a:xfrm>
            <a:off x="5804154" y="5429250"/>
            <a:ext cx="436443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9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798" dirty="0"/>
          </a:p>
        </p:txBody>
      </p:sp>
      <p:sp>
        <p:nvSpPr>
          <p:cNvPr id="27" name="te-phmm_26"/>
          <p:cNvSpPr txBox="1"/>
          <p:nvPr/>
        </p:nvSpPr>
        <p:spPr>
          <a:xfrm>
            <a:off x="6642659" y="5429250"/>
            <a:ext cx="430682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9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798" dirty="0"/>
          </a:p>
        </p:txBody>
      </p:sp>
      <p:sp>
        <p:nvSpPr>
          <p:cNvPr id="28" name="te-phmm_27"/>
          <p:cNvSpPr txBox="1"/>
          <p:nvPr/>
        </p:nvSpPr>
        <p:spPr>
          <a:xfrm>
            <a:off x="7404720" y="5429250"/>
            <a:ext cx="430682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9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798" dirty="0"/>
          </a:p>
        </p:txBody>
      </p:sp>
      <p:sp>
        <p:nvSpPr>
          <p:cNvPr id="29" name="te-phmm_28"/>
          <p:cNvSpPr/>
          <p:nvPr/>
        </p:nvSpPr>
        <p:spPr>
          <a:xfrm>
            <a:off x="6644670" y="3703320"/>
            <a:ext cx="426750" cy="2194560"/>
          </a:xfrm>
          <a:prstGeom prst="roundRect">
            <a:avLst>
              <a:gd name="adj" fmla="val 17849"/>
            </a:avLst>
          </a:prstGeom>
          <a:solidFill>
            <a:srgbClr val="F9BE00">
              <a:alpha val="12000"/>
            </a:srgbClr>
          </a:solidFill>
          <a:ln w="11430">
            <a:solidFill>
              <a:srgbClr val="F9BE00">
                <a:alpha val="50000"/>
              </a:srgbClr>
            </a:solidFill>
            <a:custDash>
              <a:ds d="333333" sp="333333"/>
            </a:custDash>
          </a:ln>
        </p:spPr>
      </p:sp>
      <p:sp>
        <p:nvSpPr>
          <p:cNvPr id="30" name="te-phmm_29"/>
          <p:cNvSpPr txBox="1"/>
          <p:nvPr/>
        </p:nvSpPr>
        <p:spPr>
          <a:xfrm>
            <a:off x="5662879" y="2943271"/>
            <a:ext cx="713781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75%</a:t>
            </a:r>
            <a:endParaRPr lang="en-US" sz="1399" dirty="0"/>
          </a:p>
        </p:txBody>
      </p:sp>
      <p:sp>
        <p:nvSpPr>
          <p:cNvPr id="31" name="te-phmm_30"/>
          <p:cNvSpPr txBox="1"/>
          <p:nvPr/>
        </p:nvSpPr>
        <p:spPr>
          <a:xfrm>
            <a:off x="5661233" y="3187050"/>
            <a:ext cx="717164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25%</a:t>
            </a:r>
            <a:endParaRPr lang="en-US" sz="1399" dirty="0"/>
          </a:p>
        </p:txBody>
      </p:sp>
      <p:sp>
        <p:nvSpPr>
          <p:cNvPr id="32" name="te-phmm_31"/>
          <p:cNvSpPr txBox="1"/>
          <p:nvPr/>
        </p:nvSpPr>
        <p:spPr>
          <a:xfrm>
            <a:off x="5573542" y="3430920"/>
            <a:ext cx="892454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20%</a:t>
            </a:r>
            <a:endParaRPr lang="en-US" sz="1399" dirty="0"/>
          </a:p>
        </p:txBody>
      </p:sp>
      <p:sp>
        <p:nvSpPr>
          <p:cNvPr id="33" name="te-phmm_32"/>
          <p:cNvSpPr txBox="1"/>
          <p:nvPr/>
        </p:nvSpPr>
        <p:spPr>
          <a:xfrm>
            <a:off x="6423660" y="2684130"/>
            <a:ext cx="868589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 20%</a:t>
            </a:r>
            <a:endParaRPr lang="en-US" sz="1399" dirty="0"/>
          </a:p>
        </p:txBody>
      </p:sp>
      <p:sp>
        <p:nvSpPr>
          <p:cNvPr id="34" name="te-phmm_33"/>
          <p:cNvSpPr txBox="1"/>
          <p:nvPr/>
        </p:nvSpPr>
        <p:spPr>
          <a:xfrm>
            <a:off x="7252838" y="2943271"/>
            <a:ext cx="734263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80%</a:t>
            </a:r>
            <a:endParaRPr lang="en-US" sz="1399" dirty="0"/>
          </a:p>
        </p:txBody>
      </p:sp>
      <p:sp>
        <p:nvSpPr>
          <p:cNvPr id="35" name="te-phmm_34"/>
          <p:cNvSpPr txBox="1"/>
          <p:nvPr/>
        </p:nvSpPr>
        <p:spPr>
          <a:xfrm>
            <a:off x="7266462" y="3187050"/>
            <a:ext cx="707014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20%</a:t>
            </a:r>
            <a:endParaRPr lang="en-US" sz="1399" dirty="0"/>
          </a:p>
        </p:txBody>
      </p:sp>
      <p:sp>
        <p:nvSpPr>
          <p:cNvPr id="36" name="te-phmm_35"/>
          <p:cNvSpPr txBox="1"/>
          <p:nvPr/>
        </p:nvSpPr>
        <p:spPr>
          <a:xfrm>
            <a:off x="2128540" y="3076590"/>
            <a:ext cx="2143628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 search</a:t>
            </a:r>
            <a:endParaRPr lang="en-US" sz="1654" dirty="0"/>
          </a:p>
        </p:txBody>
      </p:sp>
      <p:sp>
        <p:nvSpPr>
          <p:cNvPr id="37" name="te-phmm_36"/>
          <p:cNvSpPr txBox="1"/>
          <p:nvPr/>
        </p:nvSpPr>
        <p:spPr>
          <a:xfrm>
            <a:off x="1702430" y="4229100"/>
            <a:ext cx="318211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35" dirty="0"/>
          </a:p>
        </p:txBody>
      </p:sp>
      <p:sp>
        <p:nvSpPr>
          <p:cNvPr id="38" name="te-phmm_37"/>
          <p:cNvSpPr txBox="1"/>
          <p:nvPr/>
        </p:nvSpPr>
        <p:spPr>
          <a:xfrm>
            <a:off x="2038015" y="4229100"/>
            <a:ext cx="313182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035" dirty="0"/>
          </a:p>
        </p:txBody>
      </p:sp>
      <p:sp>
        <p:nvSpPr>
          <p:cNvPr id="39" name="te-phmm_38"/>
          <p:cNvSpPr txBox="1"/>
          <p:nvPr/>
        </p:nvSpPr>
        <p:spPr>
          <a:xfrm>
            <a:off x="2373234" y="4229100"/>
            <a:ext cx="313182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35" dirty="0"/>
          </a:p>
        </p:txBody>
      </p:sp>
      <p:sp>
        <p:nvSpPr>
          <p:cNvPr id="40" name="te-phmm_39"/>
          <p:cNvSpPr txBox="1"/>
          <p:nvPr/>
        </p:nvSpPr>
        <p:spPr>
          <a:xfrm>
            <a:off x="2708544" y="4229100"/>
            <a:ext cx="313182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035" dirty="0"/>
          </a:p>
        </p:txBody>
      </p:sp>
      <p:sp>
        <p:nvSpPr>
          <p:cNvPr id="41" name="te-phmm_40"/>
          <p:cNvSpPr txBox="1"/>
          <p:nvPr/>
        </p:nvSpPr>
        <p:spPr>
          <a:xfrm>
            <a:off x="3043855" y="4229100"/>
            <a:ext cx="313182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035" dirty="0"/>
          </a:p>
        </p:txBody>
      </p:sp>
      <p:sp>
        <p:nvSpPr>
          <p:cNvPr id="42" name="te-phmm_41"/>
          <p:cNvSpPr txBox="1"/>
          <p:nvPr/>
        </p:nvSpPr>
        <p:spPr>
          <a:xfrm>
            <a:off x="3379074" y="4229100"/>
            <a:ext cx="313182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35" dirty="0"/>
          </a:p>
        </p:txBody>
      </p:sp>
      <p:sp>
        <p:nvSpPr>
          <p:cNvPr id="43" name="te-phmm_42"/>
          <p:cNvSpPr txBox="1"/>
          <p:nvPr/>
        </p:nvSpPr>
        <p:spPr>
          <a:xfrm>
            <a:off x="3714110" y="4229100"/>
            <a:ext cx="318211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35" dirty="0"/>
          </a:p>
        </p:txBody>
      </p:sp>
      <p:sp>
        <p:nvSpPr>
          <p:cNvPr id="44" name="te-phmm_43"/>
          <p:cNvSpPr txBox="1"/>
          <p:nvPr/>
        </p:nvSpPr>
        <p:spPr>
          <a:xfrm>
            <a:off x="4049695" y="4229100"/>
            <a:ext cx="313182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35" dirty="0"/>
          </a:p>
        </p:txBody>
      </p:sp>
      <p:sp>
        <p:nvSpPr>
          <p:cNvPr id="45" name="te-phmm_44"/>
          <p:cNvSpPr txBox="1"/>
          <p:nvPr/>
        </p:nvSpPr>
        <p:spPr>
          <a:xfrm>
            <a:off x="4384914" y="4229100"/>
            <a:ext cx="313182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35" dirty="0"/>
          </a:p>
        </p:txBody>
      </p:sp>
      <p:sp>
        <p:nvSpPr>
          <p:cNvPr id="46" name="te-phmm_45"/>
          <p:cNvSpPr/>
          <p:nvPr/>
        </p:nvSpPr>
        <p:spPr>
          <a:xfrm>
            <a:off x="1714500" y="3589020"/>
            <a:ext cx="289590" cy="365760"/>
          </a:xfrm>
          <a:prstGeom prst="roundRect">
            <a:avLst>
              <a:gd name="adj" fmla="val 21061"/>
            </a:avLst>
          </a:prstGeom>
          <a:solidFill>
            <a:srgbClr val="1D3461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7" name="te-phmm_46"/>
          <p:cNvSpPr txBox="1"/>
          <p:nvPr/>
        </p:nvSpPr>
        <p:spPr>
          <a:xfrm>
            <a:off x="1732056" y="3648090"/>
            <a:ext cx="254478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654" dirty="0"/>
          </a:p>
        </p:txBody>
      </p:sp>
      <p:sp>
        <p:nvSpPr>
          <p:cNvPr id="48" name="te-phmm_47"/>
          <p:cNvSpPr/>
          <p:nvPr/>
        </p:nvSpPr>
        <p:spPr>
          <a:xfrm>
            <a:off x="2049810" y="3589020"/>
            <a:ext cx="289590" cy="365760"/>
          </a:xfrm>
          <a:prstGeom prst="roundRect">
            <a:avLst>
              <a:gd name="adj" fmla="val 21061"/>
            </a:avLst>
          </a:prstGeom>
          <a:solidFill>
            <a:srgbClr val="1D3461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9" name="te-phmm_48"/>
          <p:cNvSpPr txBox="1"/>
          <p:nvPr/>
        </p:nvSpPr>
        <p:spPr>
          <a:xfrm>
            <a:off x="2067276" y="3648090"/>
            <a:ext cx="254569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54" dirty="0"/>
          </a:p>
        </p:txBody>
      </p:sp>
      <p:sp>
        <p:nvSpPr>
          <p:cNvPr id="50" name="te-phmm_49"/>
          <p:cNvSpPr/>
          <p:nvPr/>
        </p:nvSpPr>
        <p:spPr>
          <a:xfrm>
            <a:off x="2385030" y="3589020"/>
            <a:ext cx="289590" cy="365760"/>
          </a:xfrm>
          <a:prstGeom prst="roundRect">
            <a:avLst>
              <a:gd name="adj" fmla="val 21061"/>
            </a:avLst>
          </a:prstGeom>
          <a:solidFill>
            <a:srgbClr val="1D3461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1" name="te-phmm_50"/>
          <p:cNvSpPr txBox="1"/>
          <p:nvPr/>
        </p:nvSpPr>
        <p:spPr>
          <a:xfrm>
            <a:off x="2402586" y="3648090"/>
            <a:ext cx="254569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54" dirty="0"/>
          </a:p>
        </p:txBody>
      </p:sp>
      <p:sp>
        <p:nvSpPr>
          <p:cNvPr id="52" name="te-phmm_51"/>
          <p:cNvSpPr txBox="1"/>
          <p:nvPr/>
        </p:nvSpPr>
        <p:spPr>
          <a:xfrm>
            <a:off x="3901470" y="3605205"/>
            <a:ext cx="562722" cy="3492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9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2290" dirty="0"/>
          </a:p>
        </p:txBody>
      </p:sp>
      <p:sp>
        <p:nvSpPr>
          <p:cNvPr id="53" name="te-phmm_52"/>
          <p:cNvSpPr txBox="1"/>
          <p:nvPr/>
        </p:nvSpPr>
        <p:spPr>
          <a:xfrm>
            <a:off x="1258397" y="4772071"/>
            <a:ext cx="3884097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exact seed, so the search never starts</a:t>
            </a:r>
            <a:endParaRPr lang="en-US" sz="1399" dirty="0"/>
          </a:p>
        </p:txBody>
      </p:sp>
      <p:sp>
        <p:nvSpPr>
          <p:cNvPr id="54" name="te-phmm_53"/>
          <p:cNvSpPr txBox="1"/>
          <p:nvPr/>
        </p:nvSpPr>
        <p:spPr>
          <a:xfrm>
            <a:off x="8168884" y="3076590"/>
            <a:ext cx="1645463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pHMM search</a:t>
            </a:r>
            <a:endParaRPr lang="en-US" sz="1654" dirty="0"/>
          </a:p>
        </p:txBody>
      </p:sp>
      <p:sp>
        <p:nvSpPr>
          <p:cNvPr id="55" name="te-phmm_54"/>
          <p:cNvSpPr txBox="1"/>
          <p:nvPr/>
        </p:nvSpPr>
        <p:spPr>
          <a:xfrm>
            <a:off x="7493599" y="4229100"/>
            <a:ext cx="318211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35" dirty="0"/>
          </a:p>
        </p:txBody>
      </p:sp>
      <p:sp>
        <p:nvSpPr>
          <p:cNvPr id="56" name="te-phmm_55"/>
          <p:cNvSpPr txBox="1"/>
          <p:nvPr/>
        </p:nvSpPr>
        <p:spPr>
          <a:xfrm>
            <a:off x="7829184" y="4229100"/>
            <a:ext cx="313182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035" dirty="0"/>
          </a:p>
        </p:txBody>
      </p:sp>
      <p:sp>
        <p:nvSpPr>
          <p:cNvPr id="57" name="te-phmm_56"/>
          <p:cNvSpPr txBox="1"/>
          <p:nvPr/>
        </p:nvSpPr>
        <p:spPr>
          <a:xfrm>
            <a:off x="8164495" y="4229100"/>
            <a:ext cx="313182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35" dirty="0"/>
          </a:p>
        </p:txBody>
      </p:sp>
      <p:sp>
        <p:nvSpPr>
          <p:cNvPr id="58" name="te-phmm_57"/>
          <p:cNvSpPr txBox="1"/>
          <p:nvPr/>
        </p:nvSpPr>
        <p:spPr>
          <a:xfrm>
            <a:off x="8499714" y="4229100"/>
            <a:ext cx="313182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035" dirty="0"/>
          </a:p>
        </p:txBody>
      </p:sp>
      <p:sp>
        <p:nvSpPr>
          <p:cNvPr id="59" name="te-phmm_58"/>
          <p:cNvSpPr txBox="1"/>
          <p:nvPr/>
        </p:nvSpPr>
        <p:spPr>
          <a:xfrm>
            <a:off x="8835024" y="4229100"/>
            <a:ext cx="313182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035" dirty="0"/>
          </a:p>
        </p:txBody>
      </p:sp>
      <p:sp>
        <p:nvSpPr>
          <p:cNvPr id="60" name="te-phmm_59"/>
          <p:cNvSpPr txBox="1"/>
          <p:nvPr/>
        </p:nvSpPr>
        <p:spPr>
          <a:xfrm>
            <a:off x="9170335" y="4229100"/>
            <a:ext cx="313182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35" dirty="0"/>
          </a:p>
        </p:txBody>
      </p:sp>
      <p:sp>
        <p:nvSpPr>
          <p:cNvPr id="61" name="te-phmm_60"/>
          <p:cNvSpPr txBox="1"/>
          <p:nvPr/>
        </p:nvSpPr>
        <p:spPr>
          <a:xfrm>
            <a:off x="9505279" y="4229100"/>
            <a:ext cx="318211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35" dirty="0"/>
          </a:p>
        </p:txBody>
      </p:sp>
      <p:sp>
        <p:nvSpPr>
          <p:cNvPr id="62" name="te-phmm_61"/>
          <p:cNvSpPr txBox="1"/>
          <p:nvPr/>
        </p:nvSpPr>
        <p:spPr>
          <a:xfrm>
            <a:off x="9840864" y="4229100"/>
            <a:ext cx="313182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35" dirty="0"/>
          </a:p>
        </p:txBody>
      </p:sp>
      <p:sp>
        <p:nvSpPr>
          <p:cNvPr id="63" name="te-phmm_62"/>
          <p:cNvSpPr txBox="1"/>
          <p:nvPr/>
        </p:nvSpPr>
        <p:spPr>
          <a:xfrm>
            <a:off x="10176175" y="4229100"/>
            <a:ext cx="313182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35" dirty="0"/>
          </a:p>
        </p:txBody>
      </p:sp>
      <p:sp>
        <p:nvSpPr>
          <p:cNvPr id="64" name="te-phmm_63"/>
          <p:cNvSpPr/>
          <p:nvPr/>
        </p:nvSpPr>
        <p:spPr>
          <a:xfrm>
            <a:off x="7505670" y="3543300"/>
            <a:ext cx="289590" cy="457200"/>
          </a:xfrm>
          <a:prstGeom prst="roundRect">
            <a:avLst>
              <a:gd name="adj" fmla="val 49984"/>
            </a:avLst>
          </a:prstGeom>
          <a:solidFill>
            <a:srgbClr val="1D3461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5" name="te-phmm_64"/>
          <p:cNvSpPr txBox="1"/>
          <p:nvPr/>
        </p:nvSpPr>
        <p:spPr>
          <a:xfrm>
            <a:off x="7523226" y="3648090"/>
            <a:ext cx="254478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654" dirty="0"/>
          </a:p>
        </p:txBody>
      </p:sp>
      <p:sp>
        <p:nvSpPr>
          <p:cNvPr id="66" name="te-phmm_65"/>
          <p:cNvSpPr/>
          <p:nvPr/>
        </p:nvSpPr>
        <p:spPr>
          <a:xfrm>
            <a:off x="7840980" y="3543300"/>
            <a:ext cx="289590" cy="457200"/>
          </a:xfrm>
          <a:prstGeom prst="roundRect">
            <a:avLst>
              <a:gd name="adj" fmla="val 49984"/>
            </a:avLst>
          </a:prstGeom>
          <a:solidFill>
            <a:srgbClr val="1D3461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7" name="te-phmm_66"/>
          <p:cNvSpPr txBox="1"/>
          <p:nvPr/>
        </p:nvSpPr>
        <p:spPr>
          <a:xfrm>
            <a:off x="7858536" y="3587100"/>
            <a:ext cx="254569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54" dirty="0"/>
          </a:p>
        </p:txBody>
      </p:sp>
      <p:sp>
        <p:nvSpPr>
          <p:cNvPr id="68" name="te-phmm_67"/>
          <p:cNvSpPr txBox="1"/>
          <p:nvPr/>
        </p:nvSpPr>
        <p:spPr>
          <a:xfrm>
            <a:off x="7907457" y="3810030"/>
            <a:ext cx="156545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8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18" dirty="0"/>
          </a:p>
        </p:txBody>
      </p:sp>
      <p:sp>
        <p:nvSpPr>
          <p:cNvPr id="69" name="te-phmm_68"/>
          <p:cNvSpPr/>
          <p:nvPr/>
        </p:nvSpPr>
        <p:spPr>
          <a:xfrm>
            <a:off x="8176290" y="3543300"/>
            <a:ext cx="289590" cy="457200"/>
          </a:xfrm>
          <a:prstGeom prst="roundRect">
            <a:avLst>
              <a:gd name="adj" fmla="val 49984"/>
            </a:avLst>
          </a:prstGeom>
          <a:solidFill>
            <a:srgbClr val="1D3461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0" name="te-phmm_69"/>
          <p:cNvSpPr txBox="1"/>
          <p:nvPr/>
        </p:nvSpPr>
        <p:spPr>
          <a:xfrm>
            <a:off x="8193756" y="3587100"/>
            <a:ext cx="254569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54" dirty="0"/>
          </a:p>
        </p:txBody>
      </p:sp>
      <p:sp>
        <p:nvSpPr>
          <p:cNvPr id="71" name="te-phmm_70"/>
          <p:cNvSpPr txBox="1"/>
          <p:nvPr/>
        </p:nvSpPr>
        <p:spPr>
          <a:xfrm>
            <a:off x="8242767" y="3810030"/>
            <a:ext cx="156545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8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018" dirty="0"/>
          </a:p>
        </p:txBody>
      </p:sp>
      <p:sp>
        <p:nvSpPr>
          <p:cNvPr id="72" name="te-phmm_71"/>
          <p:cNvSpPr/>
          <p:nvPr/>
        </p:nvSpPr>
        <p:spPr>
          <a:xfrm>
            <a:off x="8511510" y="3543300"/>
            <a:ext cx="289590" cy="457200"/>
          </a:xfrm>
          <a:prstGeom prst="roundRect">
            <a:avLst>
              <a:gd name="adj" fmla="val 49984"/>
            </a:avLst>
          </a:prstGeom>
          <a:solidFill>
            <a:srgbClr val="3ECF8E">
              <a:alpha val="55000"/>
            </a:srgbClr>
          </a:solidFill>
          <a:ln w="22860">
            <a:solidFill>
              <a:srgbClr val="3ECF8E"/>
            </a:solidFill>
            <a:prstDash val="solid"/>
          </a:ln>
        </p:spPr>
      </p:sp>
      <p:sp>
        <p:nvSpPr>
          <p:cNvPr id="73" name="te-phmm_72"/>
          <p:cNvSpPr/>
          <p:nvPr/>
        </p:nvSpPr>
        <p:spPr>
          <a:xfrm>
            <a:off x="9182130" y="3543300"/>
            <a:ext cx="289590" cy="457200"/>
          </a:xfrm>
          <a:prstGeom prst="roundRect">
            <a:avLst>
              <a:gd name="adj" fmla="val 49984"/>
            </a:avLst>
          </a:prstGeom>
          <a:solidFill>
            <a:srgbClr val="3ECF8E">
              <a:alpha val="55000"/>
            </a:srgbClr>
          </a:solidFill>
          <a:ln w="22860">
            <a:solidFill>
              <a:srgbClr val="3ECF8E"/>
            </a:solidFill>
            <a:prstDash val="solid"/>
          </a:ln>
        </p:spPr>
      </p:sp>
      <p:sp>
        <p:nvSpPr>
          <p:cNvPr id="74" name="te-phmm_73"/>
          <p:cNvSpPr/>
          <p:nvPr/>
        </p:nvSpPr>
        <p:spPr>
          <a:xfrm>
            <a:off x="8846820" y="3543300"/>
            <a:ext cx="289590" cy="457200"/>
          </a:xfrm>
          <a:prstGeom prst="roundRect">
            <a:avLst>
              <a:gd name="adj" fmla="val 49984"/>
            </a:avLst>
          </a:prstGeom>
          <a:solidFill>
            <a:srgbClr val="F5A623">
              <a:alpha val="55000"/>
            </a:srgbClr>
          </a:solidFill>
          <a:ln w="22860">
            <a:solidFill>
              <a:srgbClr val="F5A623"/>
            </a:solidFill>
            <a:prstDash val="solid"/>
          </a:ln>
        </p:spPr>
      </p:sp>
      <p:sp>
        <p:nvSpPr>
          <p:cNvPr id="75" name="te-phmm_74"/>
          <p:cNvSpPr txBox="1"/>
          <p:nvPr/>
        </p:nvSpPr>
        <p:spPr>
          <a:xfrm>
            <a:off x="9692640" y="3605205"/>
            <a:ext cx="562722" cy="3492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9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290" dirty="0"/>
          </a:p>
        </p:txBody>
      </p:sp>
      <p:sp>
        <p:nvSpPr>
          <p:cNvPr id="76" name="te-phmm_75"/>
          <p:cNvSpPr txBox="1"/>
          <p:nvPr/>
        </p:nvSpPr>
        <p:spPr>
          <a:xfrm>
            <a:off x="6894759" y="4772071"/>
            <a:ext cx="4193713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Unseen base = small penalty, not a dead end</a:t>
            </a:r>
            <a:endParaRPr lang="en-US" sz="1399" dirty="0"/>
          </a:p>
        </p:txBody>
      </p:sp>
      <p:sp>
        <p:nvSpPr>
          <p:cNvPr id="77" name="te-phmm_76"/>
          <p:cNvSpPr/>
          <p:nvPr/>
        </p:nvSpPr>
        <p:spPr>
          <a:xfrm>
            <a:off x="1524030" y="3749040"/>
            <a:ext cx="914400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78" name="te-phmm_77"/>
          <p:cNvSpPr/>
          <p:nvPr/>
        </p:nvSpPr>
        <p:spPr>
          <a:xfrm>
            <a:off x="4572000" y="3749040"/>
            <a:ext cx="304797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79" name="te-phmm_78"/>
          <p:cNvSpPr txBox="1"/>
          <p:nvPr/>
        </p:nvSpPr>
        <p:spPr>
          <a:xfrm>
            <a:off x="4621286" y="3343321"/>
            <a:ext cx="2951775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old copy of a TE family</a:t>
            </a:r>
            <a:endParaRPr lang="en-US" sz="1654" dirty="0"/>
          </a:p>
        </p:txBody>
      </p:sp>
      <p:sp>
        <p:nvSpPr>
          <p:cNvPr id="80" name="te-phmm_79"/>
          <p:cNvSpPr/>
          <p:nvPr/>
        </p:nvSpPr>
        <p:spPr>
          <a:xfrm>
            <a:off x="4709160" y="373377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81" name="te-phmm_80"/>
          <p:cNvSpPr/>
          <p:nvPr/>
        </p:nvSpPr>
        <p:spPr>
          <a:xfrm>
            <a:off x="4953030" y="373377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82" name="te-phmm_81"/>
          <p:cNvSpPr/>
          <p:nvPr/>
        </p:nvSpPr>
        <p:spPr>
          <a:xfrm>
            <a:off x="5196810" y="373377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83" name="te-phmm_82"/>
          <p:cNvSpPr/>
          <p:nvPr/>
        </p:nvSpPr>
        <p:spPr>
          <a:xfrm>
            <a:off x="5471130" y="373377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84" name="te-phmm_83"/>
          <p:cNvSpPr/>
          <p:nvPr/>
        </p:nvSpPr>
        <p:spPr>
          <a:xfrm>
            <a:off x="5715000" y="373377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85" name="te-phmm_84"/>
          <p:cNvSpPr/>
          <p:nvPr/>
        </p:nvSpPr>
        <p:spPr>
          <a:xfrm>
            <a:off x="5989320" y="373377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86" name="te-phmm_85"/>
          <p:cNvSpPr/>
          <p:nvPr/>
        </p:nvSpPr>
        <p:spPr>
          <a:xfrm>
            <a:off x="6233190" y="373377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87" name="te-phmm_86"/>
          <p:cNvSpPr/>
          <p:nvPr/>
        </p:nvSpPr>
        <p:spPr>
          <a:xfrm>
            <a:off x="6476970" y="373377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88" name="te-phmm_87"/>
          <p:cNvSpPr/>
          <p:nvPr/>
        </p:nvSpPr>
        <p:spPr>
          <a:xfrm>
            <a:off x="6720840" y="373377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89" name="te-phmm_88"/>
          <p:cNvSpPr/>
          <p:nvPr/>
        </p:nvSpPr>
        <p:spPr>
          <a:xfrm>
            <a:off x="6964710" y="373377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90" name="te-phmm_89"/>
          <p:cNvSpPr/>
          <p:nvPr/>
        </p:nvSpPr>
        <p:spPr>
          <a:xfrm>
            <a:off x="7208490" y="373377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91" name="te-phmm_90"/>
          <p:cNvSpPr/>
          <p:nvPr/>
        </p:nvSpPr>
        <p:spPr>
          <a:xfrm>
            <a:off x="7452360" y="373377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92" name="te-phmm_91"/>
          <p:cNvSpPr txBox="1"/>
          <p:nvPr/>
        </p:nvSpPr>
        <p:spPr>
          <a:xfrm>
            <a:off x="2509571" y="3000421"/>
            <a:ext cx="2143628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 search</a:t>
            </a:r>
            <a:endParaRPr lang="en-US" sz="1654" dirty="0"/>
          </a:p>
        </p:txBody>
      </p:sp>
      <p:sp>
        <p:nvSpPr>
          <p:cNvPr id="93" name="te-phmm_92"/>
          <p:cNvSpPr/>
          <p:nvPr/>
        </p:nvSpPr>
        <p:spPr>
          <a:xfrm>
            <a:off x="1447770" y="4053810"/>
            <a:ext cx="304797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94" name="te-phmm_93"/>
          <p:cNvSpPr/>
          <p:nvPr/>
        </p:nvSpPr>
        <p:spPr>
          <a:xfrm>
            <a:off x="1584930" y="403863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95" name="te-phmm_94"/>
          <p:cNvSpPr/>
          <p:nvPr/>
        </p:nvSpPr>
        <p:spPr>
          <a:xfrm>
            <a:off x="1828800" y="403863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96" name="te-phmm_95"/>
          <p:cNvSpPr/>
          <p:nvPr/>
        </p:nvSpPr>
        <p:spPr>
          <a:xfrm>
            <a:off x="2072670" y="403863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97" name="te-phmm_96"/>
          <p:cNvSpPr/>
          <p:nvPr/>
        </p:nvSpPr>
        <p:spPr>
          <a:xfrm>
            <a:off x="2346990" y="403863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98" name="te-phmm_97"/>
          <p:cNvSpPr/>
          <p:nvPr/>
        </p:nvSpPr>
        <p:spPr>
          <a:xfrm>
            <a:off x="2590770" y="403863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99" name="te-phmm_98"/>
          <p:cNvSpPr/>
          <p:nvPr/>
        </p:nvSpPr>
        <p:spPr>
          <a:xfrm>
            <a:off x="2865090" y="403863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00" name="te-phmm_99"/>
          <p:cNvSpPr/>
          <p:nvPr/>
        </p:nvSpPr>
        <p:spPr>
          <a:xfrm>
            <a:off x="3108960" y="403863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01" name="te-phmm_100"/>
          <p:cNvSpPr/>
          <p:nvPr/>
        </p:nvSpPr>
        <p:spPr>
          <a:xfrm>
            <a:off x="3352830" y="403863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02" name="te-phmm_101"/>
          <p:cNvSpPr/>
          <p:nvPr/>
        </p:nvSpPr>
        <p:spPr>
          <a:xfrm>
            <a:off x="3596610" y="403863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03" name="te-phmm_102"/>
          <p:cNvSpPr/>
          <p:nvPr/>
        </p:nvSpPr>
        <p:spPr>
          <a:xfrm>
            <a:off x="3840480" y="403863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04" name="te-phmm_103"/>
          <p:cNvSpPr/>
          <p:nvPr/>
        </p:nvSpPr>
        <p:spPr>
          <a:xfrm>
            <a:off x="4084350" y="403863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05" name="te-phmm_104"/>
          <p:cNvSpPr/>
          <p:nvPr/>
        </p:nvSpPr>
        <p:spPr>
          <a:xfrm>
            <a:off x="4328130" y="403863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06" name="te-phmm_105"/>
          <p:cNvSpPr/>
          <p:nvPr/>
        </p:nvSpPr>
        <p:spPr>
          <a:xfrm>
            <a:off x="1447770" y="3398550"/>
            <a:ext cx="3047970" cy="1218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7" name="te-phmm_106"/>
          <p:cNvSpPr txBox="1"/>
          <p:nvPr/>
        </p:nvSpPr>
        <p:spPr>
          <a:xfrm>
            <a:off x="450799" y="3373770"/>
            <a:ext cx="90562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45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</a:t>
            </a:r>
            <a:endParaRPr lang="en-US" sz="1145" dirty="0"/>
          </a:p>
        </p:txBody>
      </p:sp>
      <p:sp>
        <p:nvSpPr>
          <p:cNvPr id="108" name="te-phmm_107"/>
          <p:cNvSpPr/>
          <p:nvPr/>
        </p:nvSpPr>
        <p:spPr>
          <a:xfrm>
            <a:off x="1539210" y="4000500"/>
            <a:ext cx="121890" cy="228600"/>
          </a:xfrm>
          <a:prstGeom prst="roundRect">
            <a:avLst>
              <a:gd name="adj" fmla="val 24981"/>
            </a:avLst>
          </a:prstGeom>
          <a:solidFill>
            <a:srgbClr val="F5A623"/>
          </a:solidFill>
          <a:ln/>
        </p:spPr>
      </p:sp>
      <p:sp>
        <p:nvSpPr>
          <p:cNvPr id="109" name="te-phmm_108"/>
          <p:cNvSpPr/>
          <p:nvPr/>
        </p:nvSpPr>
        <p:spPr>
          <a:xfrm>
            <a:off x="1783080" y="4000500"/>
            <a:ext cx="121890" cy="228600"/>
          </a:xfrm>
          <a:prstGeom prst="roundRect">
            <a:avLst>
              <a:gd name="adj" fmla="val 24981"/>
            </a:avLst>
          </a:prstGeom>
          <a:solidFill>
            <a:srgbClr val="E5484D"/>
          </a:solidFill>
          <a:ln/>
        </p:spPr>
      </p:sp>
      <p:sp>
        <p:nvSpPr>
          <p:cNvPr id="110" name="te-phmm_109"/>
          <p:cNvSpPr/>
          <p:nvPr/>
        </p:nvSpPr>
        <p:spPr>
          <a:xfrm>
            <a:off x="2026950" y="4000500"/>
            <a:ext cx="121890" cy="228600"/>
          </a:xfrm>
          <a:prstGeom prst="roundRect">
            <a:avLst>
              <a:gd name="adj" fmla="val 24981"/>
            </a:avLst>
          </a:prstGeom>
          <a:solidFill>
            <a:srgbClr val="E5484D"/>
          </a:solidFill>
          <a:ln/>
        </p:spPr>
      </p:sp>
      <p:sp>
        <p:nvSpPr>
          <p:cNvPr id="111" name="te-phmm_110"/>
          <p:cNvSpPr/>
          <p:nvPr/>
        </p:nvSpPr>
        <p:spPr>
          <a:xfrm>
            <a:off x="2301270" y="4000500"/>
            <a:ext cx="121890" cy="228600"/>
          </a:xfrm>
          <a:prstGeom prst="roundRect">
            <a:avLst>
              <a:gd name="adj" fmla="val 24981"/>
            </a:avLst>
          </a:prstGeom>
          <a:solidFill>
            <a:srgbClr val="F5A623"/>
          </a:solidFill>
          <a:ln/>
        </p:spPr>
      </p:sp>
      <p:sp>
        <p:nvSpPr>
          <p:cNvPr id="112" name="te-phmm_111"/>
          <p:cNvSpPr/>
          <p:nvPr/>
        </p:nvSpPr>
        <p:spPr>
          <a:xfrm>
            <a:off x="2545050" y="4000500"/>
            <a:ext cx="121890" cy="228600"/>
          </a:xfrm>
          <a:prstGeom prst="roundRect">
            <a:avLst>
              <a:gd name="adj" fmla="val 24981"/>
            </a:avLst>
          </a:prstGeom>
          <a:solidFill>
            <a:srgbClr val="E5484D"/>
          </a:solidFill>
          <a:ln/>
        </p:spPr>
      </p:sp>
      <p:sp>
        <p:nvSpPr>
          <p:cNvPr id="113" name="te-phmm_112"/>
          <p:cNvSpPr/>
          <p:nvPr/>
        </p:nvSpPr>
        <p:spPr>
          <a:xfrm>
            <a:off x="2819370" y="4000500"/>
            <a:ext cx="121890" cy="228600"/>
          </a:xfrm>
          <a:prstGeom prst="roundRect">
            <a:avLst>
              <a:gd name="adj" fmla="val 24981"/>
            </a:avLst>
          </a:prstGeom>
          <a:solidFill>
            <a:srgbClr val="F5A623"/>
          </a:solidFill>
          <a:ln/>
        </p:spPr>
      </p:sp>
      <p:sp>
        <p:nvSpPr>
          <p:cNvPr id="114" name="te-phmm_113"/>
          <p:cNvSpPr/>
          <p:nvPr/>
        </p:nvSpPr>
        <p:spPr>
          <a:xfrm>
            <a:off x="3063240" y="4000500"/>
            <a:ext cx="121890" cy="228600"/>
          </a:xfrm>
          <a:prstGeom prst="roundRect">
            <a:avLst>
              <a:gd name="adj" fmla="val 24981"/>
            </a:avLst>
          </a:prstGeom>
          <a:solidFill>
            <a:srgbClr val="F5A623"/>
          </a:solidFill>
          <a:ln/>
        </p:spPr>
      </p:sp>
      <p:sp>
        <p:nvSpPr>
          <p:cNvPr id="115" name="te-phmm_114"/>
          <p:cNvSpPr/>
          <p:nvPr/>
        </p:nvSpPr>
        <p:spPr>
          <a:xfrm>
            <a:off x="3307110" y="4000500"/>
            <a:ext cx="121890" cy="228600"/>
          </a:xfrm>
          <a:prstGeom prst="roundRect">
            <a:avLst>
              <a:gd name="adj" fmla="val 24981"/>
            </a:avLst>
          </a:prstGeom>
          <a:solidFill>
            <a:srgbClr val="E5484D"/>
          </a:solidFill>
          <a:ln/>
        </p:spPr>
      </p:sp>
      <p:sp>
        <p:nvSpPr>
          <p:cNvPr id="116" name="te-phmm_115"/>
          <p:cNvSpPr/>
          <p:nvPr/>
        </p:nvSpPr>
        <p:spPr>
          <a:xfrm>
            <a:off x="3550890" y="4000500"/>
            <a:ext cx="121890" cy="228600"/>
          </a:xfrm>
          <a:prstGeom prst="roundRect">
            <a:avLst>
              <a:gd name="adj" fmla="val 24981"/>
            </a:avLst>
          </a:prstGeom>
          <a:solidFill>
            <a:srgbClr val="E5484D"/>
          </a:solidFill>
          <a:ln/>
        </p:spPr>
      </p:sp>
      <p:sp>
        <p:nvSpPr>
          <p:cNvPr id="117" name="te-phmm_116"/>
          <p:cNvSpPr/>
          <p:nvPr/>
        </p:nvSpPr>
        <p:spPr>
          <a:xfrm>
            <a:off x="3794760" y="4000500"/>
            <a:ext cx="121890" cy="228600"/>
          </a:xfrm>
          <a:prstGeom prst="roundRect">
            <a:avLst>
              <a:gd name="adj" fmla="val 24981"/>
            </a:avLst>
          </a:prstGeom>
          <a:solidFill>
            <a:srgbClr val="F5A623"/>
          </a:solidFill>
          <a:ln/>
        </p:spPr>
      </p:sp>
      <p:sp>
        <p:nvSpPr>
          <p:cNvPr id="118" name="te-phmm_117"/>
          <p:cNvSpPr/>
          <p:nvPr/>
        </p:nvSpPr>
        <p:spPr>
          <a:xfrm>
            <a:off x="4038630" y="4000500"/>
            <a:ext cx="121890" cy="228600"/>
          </a:xfrm>
          <a:prstGeom prst="roundRect">
            <a:avLst>
              <a:gd name="adj" fmla="val 24981"/>
            </a:avLst>
          </a:prstGeom>
          <a:solidFill>
            <a:srgbClr val="E5484D"/>
          </a:solidFill>
          <a:ln/>
        </p:spPr>
      </p:sp>
      <p:sp>
        <p:nvSpPr>
          <p:cNvPr id="119" name="te-phmm_118"/>
          <p:cNvSpPr/>
          <p:nvPr/>
        </p:nvSpPr>
        <p:spPr>
          <a:xfrm>
            <a:off x="4282410" y="4000500"/>
            <a:ext cx="121890" cy="228600"/>
          </a:xfrm>
          <a:prstGeom prst="roundRect">
            <a:avLst>
              <a:gd name="adj" fmla="val 24981"/>
            </a:avLst>
          </a:prstGeom>
          <a:solidFill>
            <a:srgbClr val="F5A623"/>
          </a:solidFill>
          <a:ln/>
        </p:spPr>
      </p:sp>
      <p:sp>
        <p:nvSpPr>
          <p:cNvPr id="120" name="te-phmm_119"/>
          <p:cNvSpPr txBox="1"/>
          <p:nvPr/>
        </p:nvSpPr>
        <p:spPr>
          <a:xfrm>
            <a:off x="1673992" y="4333890"/>
            <a:ext cx="25979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5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Substitution matrix: penalty set by</a:t>
            </a:r>
            <a:endParaRPr lang="en-US" sz="1145" dirty="0"/>
          </a:p>
        </p:txBody>
      </p:sp>
      <p:sp>
        <p:nvSpPr>
          <p:cNvPr id="121" name="te-phmm_120"/>
          <p:cNvSpPr txBox="1"/>
          <p:nvPr/>
        </p:nvSpPr>
        <p:spPr>
          <a:xfrm>
            <a:off x="1319479" y="4516770"/>
            <a:ext cx="330464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5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 change (transition &lt; transversion),</a:t>
            </a:r>
            <a:endParaRPr lang="en-US" sz="1145" dirty="0"/>
          </a:p>
        </p:txBody>
      </p:sp>
      <p:sp>
        <p:nvSpPr>
          <p:cNvPr id="122" name="te-phmm_121"/>
          <p:cNvSpPr txBox="1"/>
          <p:nvPr/>
        </p:nvSpPr>
        <p:spPr>
          <a:xfrm>
            <a:off x="1958188" y="4699650"/>
            <a:ext cx="20272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5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at every position</a:t>
            </a:r>
            <a:endParaRPr lang="en-US" sz="1145" dirty="0"/>
          </a:p>
        </p:txBody>
      </p:sp>
      <p:sp>
        <p:nvSpPr>
          <p:cNvPr id="123" name="te-phmm_122"/>
          <p:cNvSpPr/>
          <p:nvPr/>
        </p:nvSpPr>
        <p:spPr>
          <a:xfrm>
            <a:off x="5166360" y="3962370"/>
            <a:ext cx="335310" cy="1524030"/>
          </a:xfrm>
          <a:prstGeom prst="roundRect">
            <a:avLst>
              <a:gd name="adj" fmla="val 9081"/>
            </a:avLst>
          </a:prstGeom>
          <a:solidFill>
            <a:srgbClr val="19222D"/>
          </a:solidFill>
          <a:ln/>
        </p:spPr>
      </p:sp>
      <p:sp>
        <p:nvSpPr>
          <p:cNvPr id="124" name="te-phmm_123"/>
          <p:cNvSpPr/>
          <p:nvPr/>
        </p:nvSpPr>
        <p:spPr>
          <a:xfrm>
            <a:off x="5166360" y="4521159"/>
            <a:ext cx="335310" cy="965241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125" name="te-phmm_124"/>
          <p:cNvSpPr/>
          <p:nvPr/>
        </p:nvSpPr>
        <p:spPr>
          <a:xfrm>
            <a:off x="5166360" y="4521159"/>
            <a:ext cx="335310" cy="965241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26" name="te-phmm_125"/>
          <p:cNvSpPr/>
          <p:nvPr/>
        </p:nvSpPr>
        <p:spPr>
          <a:xfrm>
            <a:off x="5029200" y="4343400"/>
            <a:ext cx="609630" cy="0"/>
          </a:xfrm>
          <a:prstGeom prst="line">
            <a:avLst/>
          </a:prstGeom>
          <a:ln w="19050">
            <a:solidFill>
              <a:srgbClr val="FFFFFF"/>
            </a:solidFill>
            <a:custDash>
              <a:ds d="280000" sp="240000"/>
            </a:custDash>
          </a:ln>
        </p:spPr>
      </p:sp>
      <p:sp>
        <p:nvSpPr>
          <p:cNvPr id="127" name="te-phmm_126"/>
          <p:cNvSpPr txBox="1"/>
          <p:nvPr/>
        </p:nvSpPr>
        <p:spPr>
          <a:xfrm>
            <a:off x="3983035" y="4257721"/>
            <a:ext cx="9851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45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Cutoff (225)</a:t>
            </a:r>
            <a:endParaRPr lang="en-US" sz="1145" dirty="0"/>
          </a:p>
        </p:txBody>
      </p:sp>
      <p:sp>
        <p:nvSpPr>
          <p:cNvPr id="128" name="te-phmm_127"/>
          <p:cNvSpPr txBox="1"/>
          <p:nvPr/>
        </p:nvSpPr>
        <p:spPr>
          <a:xfrm>
            <a:off x="5577840" y="4406859"/>
            <a:ext cx="4754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2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</a:t>
            </a:r>
            <a:endParaRPr lang="en-US" sz="1526" dirty="0"/>
          </a:p>
        </p:txBody>
      </p:sp>
      <p:sp>
        <p:nvSpPr>
          <p:cNvPr id="129" name="te-phmm_128"/>
          <p:cNvSpPr txBox="1"/>
          <p:nvPr/>
        </p:nvSpPr>
        <p:spPr>
          <a:xfrm>
            <a:off x="2030425" y="5055900"/>
            <a:ext cx="1882658" cy="2513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4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Not detected</a:t>
            </a:r>
            <a:endParaRPr lang="en-US" sz="1654" dirty="0"/>
          </a:p>
        </p:txBody>
      </p:sp>
      <p:sp>
        <p:nvSpPr>
          <p:cNvPr id="130" name="te-phmm_129"/>
          <p:cNvSpPr/>
          <p:nvPr/>
        </p:nvSpPr>
        <p:spPr>
          <a:xfrm>
            <a:off x="2316450" y="5943600"/>
            <a:ext cx="396210" cy="533370"/>
          </a:xfrm>
          <a:prstGeom prst="roundRect">
            <a:avLst>
              <a:gd name="adj" fmla="val 7685"/>
            </a:avLst>
          </a:prstGeom>
          <a:solidFill>
            <a:srgbClr val="F9BE00"/>
          </a:solidFill>
          <a:ln/>
        </p:spPr>
      </p:sp>
      <p:sp>
        <p:nvSpPr>
          <p:cNvPr id="131" name="te-phmm_130"/>
          <p:cNvSpPr txBox="1"/>
          <p:nvPr/>
        </p:nvSpPr>
        <p:spPr>
          <a:xfrm>
            <a:off x="2354397" y="6558900"/>
            <a:ext cx="3204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5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</a:t>
            </a:r>
            <a:endParaRPr lang="en-US" sz="1145" dirty="0"/>
          </a:p>
        </p:txBody>
      </p:sp>
      <p:sp>
        <p:nvSpPr>
          <p:cNvPr id="132" name="te-phmm_131"/>
          <p:cNvSpPr/>
          <p:nvPr/>
        </p:nvSpPr>
        <p:spPr>
          <a:xfrm>
            <a:off x="3383280" y="6080760"/>
            <a:ext cx="396210" cy="396210"/>
          </a:xfrm>
          <a:prstGeom prst="roundRect">
            <a:avLst>
              <a:gd name="adj" fmla="val 7685"/>
            </a:avLst>
          </a:prstGeom>
          <a:solidFill>
            <a:srgbClr val="F9BE00"/>
          </a:solidFill>
          <a:ln/>
        </p:spPr>
      </p:sp>
      <p:sp>
        <p:nvSpPr>
          <p:cNvPr id="133" name="te-phmm_132"/>
          <p:cNvSpPr txBox="1"/>
          <p:nvPr/>
        </p:nvSpPr>
        <p:spPr>
          <a:xfrm>
            <a:off x="3467771" y="6558900"/>
            <a:ext cx="22722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5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145" dirty="0"/>
          </a:p>
        </p:txBody>
      </p:sp>
      <p:sp>
        <p:nvSpPr>
          <p:cNvPr id="134" name="te-phmm_133"/>
          <p:cNvSpPr/>
          <p:nvPr/>
        </p:nvSpPr>
        <p:spPr>
          <a:xfrm>
            <a:off x="4450110" y="6278910"/>
            <a:ext cx="396210" cy="198150"/>
          </a:xfrm>
          <a:prstGeom prst="roundRect">
            <a:avLst>
              <a:gd name="adj" fmla="val 15367"/>
            </a:avLst>
          </a:prstGeom>
          <a:solidFill>
            <a:srgbClr val="F9BE00"/>
          </a:solidFill>
          <a:ln/>
        </p:spPr>
      </p:sp>
      <p:sp>
        <p:nvSpPr>
          <p:cNvPr id="135" name="te-phmm_134"/>
          <p:cNvSpPr txBox="1"/>
          <p:nvPr/>
        </p:nvSpPr>
        <p:spPr>
          <a:xfrm>
            <a:off x="4347423" y="6558900"/>
            <a:ext cx="60149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5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MADE1</a:t>
            </a:r>
            <a:endParaRPr lang="en-US" sz="1145" dirty="0"/>
          </a:p>
        </p:txBody>
      </p:sp>
      <p:sp>
        <p:nvSpPr>
          <p:cNvPr id="136" name="te-phmm_135"/>
          <p:cNvSpPr/>
          <p:nvPr/>
        </p:nvSpPr>
        <p:spPr>
          <a:xfrm>
            <a:off x="2057400" y="6141750"/>
            <a:ext cx="3047970" cy="0"/>
          </a:xfrm>
          <a:prstGeom prst="line">
            <a:avLst/>
          </a:prstGeom>
          <a:ln w="19050">
            <a:solidFill>
              <a:srgbClr val="FFFFFF"/>
            </a:solidFill>
            <a:custDash>
              <a:ds d="280000" sp="240000"/>
            </a:custDash>
          </a:ln>
        </p:spPr>
      </p:sp>
      <p:sp>
        <p:nvSpPr>
          <p:cNvPr id="137" name="te-phmm_136"/>
          <p:cNvSpPr txBox="1"/>
          <p:nvPr/>
        </p:nvSpPr>
        <p:spPr>
          <a:xfrm>
            <a:off x="7787853" y="3000421"/>
            <a:ext cx="1645463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pHMM search</a:t>
            </a:r>
            <a:endParaRPr lang="en-US" sz="1654" dirty="0"/>
          </a:p>
        </p:txBody>
      </p:sp>
      <p:sp>
        <p:nvSpPr>
          <p:cNvPr id="138" name="te-phmm_137"/>
          <p:cNvSpPr/>
          <p:nvPr/>
        </p:nvSpPr>
        <p:spPr>
          <a:xfrm>
            <a:off x="6476970" y="4053810"/>
            <a:ext cx="304797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139" name="te-phmm_138"/>
          <p:cNvSpPr/>
          <p:nvPr/>
        </p:nvSpPr>
        <p:spPr>
          <a:xfrm>
            <a:off x="6614130" y="403863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40" name="te-phmm_139"/>
          <p:cNvSpPr/>
          <p:nvPr/>
        </p:nvSpPr>
        <p:spPr>
          <a:xfrm>
            <a:off x="6858000" y="403863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41" name="te-phmm_140"/>
          <p:cNvSpPr/>
          <p:nvPr/>
        </p:nvSpPr>
        <p:spPr>
          <a:xfrm>
            <a:off x="7101870" y="403863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42" name="te-phmm_141"/>
          <p:cNvSpPr/>
          <p:nvPr/>
        </p:nvSpPr>
        <p:spPr>
          <a:xfrm>
            <a:off x="7376190" y="403863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43" name="te-phmm_142"/>
          <p:cNvSpPr/>
          <p:nvPr/>
        </p:nvSpPr>
        <p:spPr>
          <a:xfrm>
            <a:off x="7619970" y="403863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44" name="te-phmm_143"/>
          <p:cNvSpPr/>
          <p:nvPr/>
        </p:nvSpPr>
        <p:spPr>
          <a:xfrm>
            <a:off x="7894290" y="403863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45" name="te-phmm_144"/>
          <p:cNvSpPr/>
          <p:nvPr/>
        </p:nvSpPr>
        <p:spPr>
          <a:xfrm>
            <a:off x="8138160" y="403863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46" name="te-phmm_145"/>
          <p:cNvSpPr/>
          <p:nvPr/>
        </p:nvSpPr>
        <p:spPr>
          <a:xfrm>
            <a:off x="8382030" y="403863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47" name="te-phmm_146"/>
          <p:cNvSpPr/>
          <p:nvPr/>
        </p:nvSpPr>
        <p:spPr>
          <a:xfrm>
            <a:off x="8625810" y="403863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48" name="te-phmm_147"/>
          <p:cNvSpPr/>
          <p:nvPr/>
        </p:nvSpPr>
        <p:spPr>
          <a:xfrm>
            <a:off x="8869680" y="403863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49" name="te-phmm_148"/>
          <p:cNvSpPr/>
          <p:nvPr/>
        </p:nvSpPr>
        <p:spPr>
          <a:xfrm>
            <a:off x="9113550" y="403863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50" name="te-phmm_149"/>
          <p:cNvSpPr/>
          <p:nvPr/>
        </p:nvSpPr>
        <p:spPr>
          <a:xfrm>
            <a:off x="9357330" y="4038630"/>
            <a:ext cx="30450" cy="15243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51" name="te-phmm_150"/>
          <p:cNvSpPr/>
          <p:nvPr/>
        </p:nvSpPr>
        <p:spPr>
          <a:xfrm>
            <a:off x="6629400" y="3451860"/>
            <a:ext cx="243870" cy="152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152" name="te-phmm_151"/>
          <p:cNvSpPr/>
          <p:nvPr/>
        </p:nvSpPr>
        <p:spPr>
          <a:xfrm>
            <a:off x="6873270" y="3451860"/>
            <a:ext cx="243870" cy="152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153" name="te-phmm_152"/>
          <p:cNvSpPr/>
          <p:nvPr/>
        </p:nvSpPr>
        <p:spPr>
          <a:xfrm>
            <a:off x="7117050" y="3451860"/>
            <a:ext cx="274320" cy="152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154" name="te-phmm_153"/>
          <p:cNvSpPr/>
          <p:nvPr/>
        </p:nvSpPr>
        <p:spPr>
          <a:xfrm>
            <a:off x="7391370" y="3451860"/>
            <a:ext cx="243870" cy="152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155" name="te-phmm_154"/>
          <p:cNvSpPr/>
          <p:nvPr/>
        </p:nvSpPr>
        <p:spPr>
          <a:xfrm>
            <a:off x="7635240" y="3451860"/>
            <a:ext cx="274320" cy="152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156" name="te-phmm_155"/>
          <p:cNvSpPr/>
          <p:nvPr/>
        </p:nvSpPr>
        <p:spPr>
          <a:xfrm>
            <a:off x="7909560" y="3451860"/>
            <a:ext cx="243870" cy="152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157" name="te-phmm_156"/>
          <p:cNvSpPr/>
          <p:nvPr/>
        </p:nvSpPr>
        <p:spPr>
          <a:xfrm>
            <a:off x="8153430" y="3451860"/>
            <a:ext cx="243870" cy="152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158" name="te-phmm_157"/>
          <p:cNvSpPr/>
          <p:nvPr/>
        </p:nvSpPr>
        <p:spPr>
          <a:xfrm>
            <a:off x="8397210" y="3451860"/>
            <a:ext cx="243870" cy="152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159" name="te-phmm_158"/>
          <p:cNvSpPr/>
          <p:nvPr/>
        </p:nvSpPr>
        <p:spPr>
          <a:xfrm>
            <a:off x="8641080" y="3451860"/>
            <a:ext cx="243870" cy="152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160" name="te-phmm_159"/>
          <p:cNvSpPr/>
          <p:nvPr/>
        </p:nvSpPr>
        <p:spPr>
          <a:xfrm>
            <a:off x="8884950" y="3451860"/>
            <a:ext cx="243870" cy="152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161" name="te-phmm_160"/>
          <p:cNvSpPr/>
          <p:nvPr/>
        </p:nvSpPr>
        <p:spPr>
          <a:xfrm>
            <a:off x="9128730" y="3451860"/>
            <a:ext cx="243870" cy="152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162" name="te-phmm_161"/>
          <p:cNvSpPr/>
          <p:nvPr/>
        </p:nvSpPr>
        <p:spPr>
          <a:xfrm>
            <a:off x="6560820" y="3390870"/>
            <a:ext cx="137160" cy="137160"/>
          </a:xfrm>
          <a:prstGeom prst="ellipse">
            <a:avLst/>
          </a:prstGeom>
          <a:solidFill>
            <a:srgbClr val="1C273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3" name="te-phmm_162"/>
          <p:cNvSpPr/>
          <p:nvPr/>
        </p:nvSpPr>
        <p:spPr>
          <a:xfrm>
            <a:off x="6804690" y="3390870"/>
            <a:ext cx="137160" cy="137160"/>
          </a:xfrm>
          <a:prstGeom prst="ellipse">
            <a:avLst/>
          </a:prstGeom>
          <a:solidFill>
            <a:srgbClr val="1C273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4" name="te-phmm_163"/>
          <p:cNvSpPr/>
          <p:nvPr/>
        </p:nvSpPr>
        <p:spPr>
          <a:xfrm>
            <a:off x="7048470" y="3390870"/>
            <a:ext cx="137160" cy="137160"/>
          </a:xfrm>
          <a:prstGeom prst="ellipse">
            <a:avLst/>
          </a:prstGeom>
          <a:solidFill>
            <a:srgbClr val="1C273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5" name="te-phmm_164"/>
          <p:cNvSpPr/>
          <p:nvPr/>
        </p:nvSpPr>
        <p:spPr>
          <a:xfrm>
            <a:off x="7322790" y="3390870"/>
            <a:ext cx="137160" cy="137160"/>
          </a:xfrm>
          <a:prstGeom prst="ellipse">
            <a:avLst/>
          </a:prstGeom>
          <a:solidFill>
            <a:srgbClr val="1C273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6" name="te-phmm_165"/>
          <p:cNvSpPr/>
          <p:nvPr/>
        </p:nvSpPr>
        <p:spPr>
          <a:xfrm>
            <a:off x="7566660" y="3390870"/>
            <a:ext cx="137160" cy="137160"/>
          </a:xfrm>
          <a:prstGeom prst="ellipse">
            <a:avLst/>
          </a:prstGeom>
          <a:solidFill>
            <a:srgbClr val="1C273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7" name="te-phmm_166"/>
          <p:cNvSpPr/>
          <p:nvPr/>
        </p:nvSpPr>
        <p:spPr>
          <a:xfrm>
            <a:off x="7840980" y="3390870"/>
            <a:ext cx="137160" cy="137160"/>
          </a:xfrm>
          <a:prstGeom prst="ellipse">
            <a:avLst/>
          </a:prstGeom>
          <a:solidFill>
            <a:srgbClr val="1C273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8" name="te-phmm_167"/>
          <p:cNvSpPr/>
          <p:nvPr/>
        </p:nvSpPr>
        <p:spPr>
          <a:xfrm>
            <a:off x="8084850" y="3390870"/>
            <a:ext cx="137160" cy="137160"/>
          </a:xfrm>
          <a:prstGeom prst="ellipse">
            <a:avLst/>
          </a:prstGeom>
          <a:solidFill>
            <a:srgbClr val="1C273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9" name="te-phmm_168"/>
          <p:cNvSpPr/>
          <p:nvPr/>
        </p:nvSpPr>
        <p:spPr>
          <a:xfrm>
            <a:off x="8328630" y="3390870"/>
            <a:ext cx="137160" cy="137160"/>
          </a:xfrm>
          <a:prstGeom prst="ellipse">
            <a:avLst/>
          </a:prstGeom>
          <a:solidFill>
            <a:srgbClr val="1C273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0" name="te-phmm_169"/>
          <p:cNvSpPr/>
          <p:nvPr/>
        </p:nvSpPr>
        <p:spPr>
          <a:xfrm>
            <a:off x="8572500" y="3390870"/>
            <a:ext cx="137160" cy="137160"/>
          </a:xfrm>
          <a:prstGeom prst="ellipse">
            <a:avLst/>
          </a:prstGeom>
          <a:solidFill>
            <a:srgbClr val="1C273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1" name="te-phmm_170"/>
          <p:cNvSpPr/>
          <p:nvPr/>
        </p:nvSpPr>
        <p:spPr>
          <a:xfrm>
            <a:off x="8816370" y="3390870"/>
            <a:ext cx="137160" cy="137160"/>
          </a:xfrm>
          <a:prstGeom prst="ellipse">
            <a:avLst/>
          </a:prstGeom>
          <a:solidFill>
            <a:srgbClr val="1C273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2" name="te-phmm_171"/>
          <p:cNvSpPr/>
          <p:nvPr/>
        </p:nvSpPr>
        <p:spPr>
          <a:xfrm>
            <a:off x="9060150" y="3390870"/>
            <a:ext cx="137160" cy="137160"/>
          </a:xfrm>
          <a:prstGeom prst="ellipse">
            <a:avLst/>
          </a:prstGeom>
          <a:solidFill>
            <a:srgbClr val="1C273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3" name="te-phmm_172"/>
          <p:cNvSpPr/>
          <p:nvPr/>
        </p:nvSpPr>
        <p:spPr>
          <a:xfrm>
            <a:off x="9304020" y="3390870"/>
            <a:ext cx="137160" cy="137160"/>
          </a:xfrm>
          <a:prstGeom prst="ellipse">
            <a:avLst/>
          </a:prstGeom>
          <a:solidFill>
            <a:srgbClr val="1C273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4" name="te-phmm_173"/>
          <p:cNvSpPr txBox="1"/>
          <p:nvPr/>
        </p:nvSpPr>
        <p:spPr>
          <a:xfrm>
            <a:off x="5809092" y="3373770"/>
            <a:ext cx="5764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45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pHMM</a:t>
            </a:r>
            <a:endParaRPr lang="en-US" sz="1145" dirty="0"/>
          </a:p>
        </p:txBody>
      </p:sp>
      <p:sp>
        <p:nvSpPr>
          <p:cNvPr id="175" name="te-phmm_174"/>
          <p:cNvSpPr/>
          <p:nvPr/>
        </p:nvSpPr>
        <p:spPr>
          <a:xfrm>
            <a:off x="6568410" y="4000500"/>
            <a:ext cx="121890" cy="228600"/>
          </a:xfrm>
          <a:prstGeom prst="roundRect">
            <a:avLst>
              <a:gd name="adj" fmla="val 24981"/>
            </a:avLst>
          </a:prstGeom>
          <a:solidFill>
            <a:srgbClr val="F5A623"/>
          </a:solidFill>
          <a:ln/>
        </p:spPr>
      </p:sp>
      <p:sp>
        <p:nvSpPr>
          <p:cNvPr id="176" name="te-phmm_175"/>
          <p:cNvSpPr/>
          <p:nvPr/>
        </p:nvSpPr>
        <p:spPr>
          <a:xfrm>
            <a:off x="6812280" y="4000500"/>
            <a:ext cx="121890" cy="228600"/>
          </a:xfrm>
          <a:prstGeom prst="roundRect">
            <a:avLst>
              <a:gd name="adj" fmla="val 24981"/>
            </a:avLst>
          </a:prstGeom>
          <a:solidFill>
            <a:srgbClr val="F5A623"/>
          </a:solidFill>
          <a:ln/>
        </p:spPr>
      </p:sp>
      <p:sp>
        <p:nvSpPr>
          <p:cNvPr id="177" name="te-phmm_176"/>
          <p:cNvSpPr/>
          <p:nvPr/>
        </p:nvSpPr>
        <p:spPr>
          <a:xfrm>
            <a:off x="7056150" y="4000500"/>
            <a:ext cx="121890" cy="228600"/>
          </a:xfrm>
          <a:prstGeom prst="roundRect">
            <a:avLst>
              <a:gd name="adj" fmla="val 24981"/>
            </a:avLst>
          </a:prstGeom>
          <a:solidFill>
            <a:srgbClr val="E5484D"/>
          </a:solidFill>
          <a:ln/>
        </p:spPr>
      </p:sp>
      <p:sp>
        <p:nvSpPr>
          <p:cNvPr id="178" name="te-phmm_177"/>
          <p:cNvSpPr/>
          <p:nvPr/>
        </p:nvSpPr>
        <p:spPr>
          <a:xfrm>
            <a:off x="7330470" y="4000500"/>
            <a:ext cx="121890" cy="228600"/>
          </a:xfrm>
          <a:prstGeom prst="roundRect">
            <a:avLst>
              <a:gd name="adj" fmla="val 24981"/>
            </a:avLst>
          </a:prstGeom>
          <a:solidFill>
            <a:srgbClr val="F5A623"/>
          </a:solidFill>
          <a:ln/>
        </p:spPr>
      </p:sp>
      <p:sp>
        <p:nvSpPr>
          <p:cNvPr id="179" name="te-phmm_178"/>
          <p:cNvSpPr/>
          <p:nvPr/>
        </p:nvSpPr>
        <p:spPr>
          <a:xfrm>
            <a:off x="7574250" y="4000500"/>
            <a:ext cx="121890" cy="228600"/>
          </a:xfrm>
          <a:prstGeom prst="roundRect">
            <a:avLst>
              <a:gd name="adj" fmla="val 24981"/>
            </a:avLst>
          </a:prstGeom>
          <a:solidFill>
            <a:srgbClr val="F5A623"/>
          </a:solidFill>
          <a:ln/>
        </p:spPr>
      </p:sp>
      <p:sp>
        <p:nvSpPr>
          <p:cNvPr id="180" name="te-phmm_179"/>
          <p:cNvSpPr/>
          <p:nvPr/>
        </p:nvSpPr>
        <p:spPr>
          <a:xfrm>
            <a:off x="7848570" y="4000500"/>
            <a:ext cx="121890" cy="228600"/>
          </a:xfrm>
          <a:prstGeom prst="roundRect">
            <a:avLst>
              <a:gd name="adj" fmla="val 24981"/>
            </a:avLst>
          </a:prstGeom>
          <a:solidFill>
            <a:srgbClr val="E5484D"/>
          </a:solidFill>
          <a:ln/>
        </p:spPr>
      </p:sp>
      <p:sp>
        <p:nvSpPr>
          <p:cNvPr id="181" name="te-phmm_180"/>
          <p:cNvSpPr/>
          <p:nvPr/>
        </p:nvSpPr>
        <p:spPr>
          <a:xfrm>
            <a:off x="8092440" y="4000500"/>
            <a:ext cx="121890" cy="228600"/>
          </a:xfrm>
          <a:prstGeom prst="roundRect">
            <a:avLst>
              <a:gd name="adj" fmla="val 24981"/>
            </a:avLst>
          </a:prstGeom>
          <a:solidFill>
            <a:srgbClr val="F5A623"/>
          </a:solidFill>
          <a:ln/>
        </p:spPr>
      </p:sp>
      <p:sp>
        <p:nvSpPr>
          <p:cNvPr id="182" name="te-phmm_181"/>
          <p:cNvSpPr/>
          <p:nvPr/>
        </p:nvSpPr>
        <p:spPr>
          <a:xfrm>
            <a:off x="8336310" y="4000500"/>
            <a:ext cx="121890" cy="228600"/>
          </a:xfrm>
          <a:prstGeom prst="roundRect">
            <a:avLst>
              <a:gd name="adj" fmla="val 24981"/>
            </a:avLst>
          </a:prstGeom>
          <a:solidFill>
            <a:srgbClr val="E5484D"/>
          </a:solidFill>
          <a:ln/>
        </p:spPr>
      </p:sp>
      <p:sp>
        <p:nvSpPr>
          <p:cNvPr id="183" name="te-phmm_182"/>
          <p:cNvSpPr/>
          <p:nvPr/>
        </p:nvSpPr>
        <p:spPr>
          <a:xfrm>
            <a:off x="8580090" y="4000500"/>
            <a:ext cx="121890" cy="228600"/>
          </a:xfrm>
          <a:prstGeom prst="roundRect">
            <a:avLst>
              <a:gd name="adj" fmla="val 24981"/>
            </a:avLst>
          </a:prstGeom>
          <a:solidFill>
            <a:srgbClr val="F5A623"/>
          </a:solidFill>
          <a:ln/>
        </p:spPr>
      </p:sp>
      <p:sp>
        <p:nvSpPr>
          <p:cNvPr id="184" name="te-phmm_183"/>
          <p:cNvSpPr/>
          <p:nvPr/>
        </p:nvSpPr>
        <p:spPr>
          <a:xfrm>
            <a:off x="8823960" y="4000500"/>
            <a:ext cx="121890" cy="228600"/>
          </a:xfrm>
          <a:prstGeom prst="roundRect">
            <a:avLst>
              <a:gd name="adj" fmla="val 24981"/>
            </a:avLst>
          </a:prstGeom>
          <a:solidFill>
            <a:srgbClr val="F5A623"/>
          </a:solidFill>
          <a:ln/>
        </p:spPr>
      </p:sp>
      <p:sp>
        <p:nvSpPr>
          <p:cNvPr id="185" name="te-phmm_184"/>
          <p:cNvSpPr/>
          <p:nvPr/>
        </p:nvSpPr>
        <p:spPr>
          <a:xfrm>
            <a:off x="9067830" y="4000500"/>
            <a:ext cx="121890" cy="228600"/>
          </a:xfrm>
          <a:prstGeom prst="roundRect">
            <a:avLst>
              <a:gd name="adj" fmla="val 24981"/>
            </a:avLst>
          </a:prstGeom>
          <a:solidFill>
            <a:srgbClr val="E5484D"/>
          </a:solidFill>
          <a:ln/>
        </p:spPr>
      </p:sp>
      <p:sp>
        <p:nvSpPr>
          <p:cNvPr id="186" name="te-phmm_185"/>
          <p:cNvSpPr/>
          <p:nvPr/>
        </p:nvSpPr>
        <p:spPr>
          <a:xfrm>
            <a:off x="9311610" y="4000500"/>
            <a:ext cx="121890" cy="228600"/>
          </a:xfrm>
          <a:prstGeom prst="roundRect">
            <a:avLst>
              <a:gd name="adj" fmla="val 24981"/>
            </a:avLst>
          </a:prstGeom>
          <a:solidFill>
            <a:srgbClr val="F5A623"/>
          </a:solidFill>
          <a:ln/>
        </p:spPr>
      </p:sp>
      <p:sp>
        <p:nvSpPr>
          <p:cNvPr id="187" name="te-phmm_186"/>
          <p:cNvSpPr txBox="1"/>
          <p:nvPr/>
        </p:nvSpPr>
        <p:spPr>
          <a:xfrm>
            <a:off x="6504219" y="4333890"/>
            <a:ext cx="29957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5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Position-specific scores: penalty set by</a:t>
            </a:r>
            <a:endParaRPr lang="en-US" sz="1145" dirty="0"/>
          </a:p>
        </p:txBody>
      </p:sp>
      <p:sp>
        <p:nvSpPr>
          <p:cNvPr id="188" name="te-phmm_187"/>
          <p:cNvSpPr txBox="1"/>
          <p:nvPr/>
        </p:nvSpPr>
        <p:spPr>
          <a:xfrm>
            <a:off x="6321613" y="4516770"/>
            <a:ext cx="33609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5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conserved each position is in the family</a:t>
            </a:r>
            <a:endParaRPr lang="en-US" sz="1145" dirty="0"/>
          </a:p>
        </p:txBody>
      </p:sp>
      <p:sp>
        <p:nvSpPr>
          <p:cNvPr id="189" name="te-phmm_188"/>
          <p:cNvSpPr txBox="1"/>
          <p:nvPr/>
        </p:nvSpPr>
        <p:spPr>
          <a:xfrm>
            <a:off x="6688745" y="4699650"/>
            <a:ext cx="26244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5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(variable: small · conserved: large)</a:t>
            </a:r>
            <a:endParaRPr lang="en-US" sz="1145" dirty="0"/>
          </a:p>
        </p:txBody>
      </p:sp>
      <p:sp>
        <p:nvSpPr>
          <p:cNvPr id="190" name="te-phmm_189"/>
          <p:cNvSpPr/>
          <p:nvPr/>
        </p:nvSpPr>
        <p:spPr>
          <a:xfrm>
            <a:off x="10195560" y="3962370"/>
            <a:ext cx="335310" cy="1524030"/>
          </a:xfrm>
          <a:prstGeom prst="roundRect">
            <a:avLst>
              <a:gd name="adj" fmla="val 9081"/>
            </a:avLst>
          </a:prstGeom>
          <a:solidFill>
            <a:srgbClr val="19222D"/>
          </a:solidFill>
          <a:ln/>
        </p:spPr>
      </p:sp>
      <p:sp>
        <p:nvSpPr>
          <p:cNvPr id="191" name="te-phmm_190"/>
          <p:cNvSpPr/>
          <p:nvPr/>
        </p:nvSpPr>
        <p:spPr>
          <a:xfrm>
            <a:off x="10195560" y="4343400"/>
            <a:ext cx="335310" cy="114300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192" name="te-phmm_191"/>
          <p:cNvSpPr/>
          <p:nvPr/>
        </p:nvSpPr>
        <p:spPr>
          <a:xfrm>
            <a:off x="10195560" y="4343400"/>
            <a:ext cx="335310" cy="114300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93" name="te-phmm_192"/>
          <p:cNvSpPr/>
          <p:nvPr/>
        </p:nvSpPr>
        <p:spPr>
          <a:xfrm>
            <a:off x="10058400" y="4648170"/>
            <a:ext cx="609630" cy="0"/>
          </a:xfrm>
          <a:prstGeom prst="line">
            <a:avLst/>
          </a:prstGeom>
          <a:ln w="19050">
            <a:solidFill>
              <a:srgbClr val="FFFFFF"/>
            </a:solidFill>
            <a:custDash>
              <a:ds d="280000" sp="240000"/>
            </a:custDash>
          </a:ln>
        </p:spPr>
      </p:sp>
      <p:sp>
        <p:nvSpPr>
          <p:cNvPr id="194" name="te-phmm_193"/>
          <p:cNvSpPr txBox="1"/>
          <p:nvPr/>
        </p:nvSpPr>
        <p:spPr>
          <a:xfrm>
            <a:off x="10728930" y="4562490"/>
            <a:ext cx="16269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45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cutoff: 22 bits</a:t>
            </a:r>
            <a:endParaRPr lang="en-US" sz="1145" dirty="0"/>
          </a:p>
        </p:txBody>
      </p:sp>
      <p:sp>
        <p:nvSpPr>
          <p:cNvPr id="195" name="te-phmm_194"/>
          <p:cNvSpPr txBox="1"/>
          <p:nvPr/>
        </p:nvSpPr>
        <p:spPr>
          <a:xfrm>
            <a:off x="10607040" y="4229100"/>
            <a:ext cx="8144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2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bits</a:t>
            </a:r>
            <a:endParaRPr lang="en-US" sz="1526" dirty="0"/>
          </a:p>
        </p:txBody>
      </p:sp>
      <p:sp>
        <p:nvSpPr>
          <p:cNvPr id="196" name="te-phmm_195"/>
          <p:cNvSpPr txBox="1"/>
          <p:nvPr/>
        </p:nvSpPr>
        <p:spPr>
          <a:xfrm>
            <a:off x="7272680" y="5055900"/>
            <a:ext cx="1456639" cy="2513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4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Detected</a:t>
            </a:r>
            <a:endParaRPr lang="en-US" sz="1654" dirty="0"/>
          </a:p>
        </p:txBody>
      </p:sp>
      <p:sp>
        <p:nvSpPr>
          <p:cNvPr id="197" name="te-phmm_196"/>
          <p:cNvSpPr/>
          <p:nvPr/>
        </p:nvSpPr>
        <p:spPr>
          <a:xfrm>
            <a:off x="7345650" y="5943600"/>
            <a:ext cx="396210" cy="533370"/>
          </a:xfrm>
          <a:prstGeom prst="roundRect">
            <a:avLst>
              <a:gd name="adj" fmla="val 7685"/>
            </a:avLst>
          </a:prstGeom>
          <a:solidFill>
            <a:srgbClr val="F9BE00"/>
          </a:solidFill>
          <a:ln/>
        </p:spPr>
      </p:sp>
      <p:sp>
        <p:nvSpPr>
          <p:cNvPr id="198" name="te-phmm_197"/>
          <p:cNvSpPr txBox="1"/>
          <p:nvPr/>
        </p:nvSpPr>
        <p:spPr>
          <a:xfrm>
            <a:off x="7383597" y="6558900"/>
            <a:ext cx="3204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5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</a:t>
            </a:r>
            <a:endParaRPr lang="en-US" sz="1145" dirty="0"/>
          </a:p>
        </p:txBody>
      </p:sp>
      <p:sp>
        <p:nvSpPr>
          <p:cNvPr id="199" name="te-phmm_198"/>
          <p:cNvSpPr/>
          <p:nvPr/>
        </p:nvSpPr>
        <p:spPr>
          <a:xfrm>
            <a:off x="8412480" y="6080760"/>
            <a:ext cx="396210" cy="396210"/>
          </a:xfrm>
          <a:prstGeom prst="roundRect">
            <a:avLst>
              <a:gd name="adj" fmla="val 7685"/>
            </a:avLst>
          </a:prstGeom>
          <a:solidFill>
            <a:srgbClr val="F9BE00"/>
          </a:solidFill>
          <a:ln/>
        </p:spPr>
      </p:sp>
      <p:sp>
        <p:nvSpPr>
          <p:cNvPr id="200" name="te-phmm_199"/>
          <p:cNvSpPr txBox="1"/>
          <p:nvPr/>
        </p:nvSpPr>
        <p:spPr>
          <a:xfrm>
            <a:off x="8496971" y="6558900"/>
            <a:ext cx="22722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5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145" dirty="0"/>
          </a:p>
        </p:txBody>
      </p:sp>
      <p:sp>
        <p:nvSpPr>
          <p:cNvPr id="201" name="te-phmm_200"/>
          <p:cNvSpPr/>
          <p:nvPr/>
        </p:nvSpPr>
        <p:spPr>
          <a:xfrm>
            <a:off x="9479310" y="6278910"/>
            <a:ext cx="396210" cy="198150"/>
          </a:xfrm>
          <a:prstGeom prst="roundRect">
            <a:avLst>
              <a:gd name="adj" fmla="val 15367"/>
            </a:avLst>
          </a:prstGeom>
          <a:solidFill>
            <a:srgbClr val="F9BE00"/>
          </a:solidFill>
          <a:ln/>
        </p:spPr>
      </p:sp>
      <p:sp>
        <p:nvSpPr>
          <p:cNvPr id="202" name="te-phmm_201"/>
          <p:cNvSpPr txBox="1"/>
          <p:nvPr/>
        </p:nvSpPr>
        <p:spPr>
          <a:xfrm>
            <a:off x="9376623" y="6558900"/>
            <a:ext cx="60149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5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MADE1</a:t>
            </a:r>
            <a:endParaRPr lang="en-US" sz="1145" dirty="0"/>
          </a:p>
        </p:txBody>
      </p:sp>
      <p:sp>
        <p:nvSpPr>
          <p:cNvPr id="203" name="te-phmm_202"/>
          <p:cNvSpPr/>
          <p:nvPr/>
        </p:nvSpPr>
        <p:spPr>
          <a:xfrm>
            <a:off x="7239030" y="6050310"/>
            <a:ext cx="609630" cy="0"/>
          </a:xfrm>
          <a:prstGeom prst="line">
            <a:avLst/>
          </a:prstGeom>
          <a:ln w="19050">
            <a:solidFill>
              <a:srgbClr val="FFFFFF"/>
            </a:solidFill>
            <a:custDash>
              <a:ds d="280000" sp="240000"/>
            </a:custDash>
          </a:ln>
        </p:spPr>
      </p:sp>
      <p:sp>
        <p:nvSpPr>
          <p:cNvPr id="204" name="te-phmm_203"/>
          <p:cNvSpPr/>
          <p:nvPr/>
        </p:nvSpPr>
        <p:spPr>
          <a:xfrm>
            <a:off x="8305770" y="6172200"/>
            <a:ext cx="609630" cy="0"/>
          </a:xfrm>
          <a:prstGeom prst="line">
            <a:avLst/>
          </a:prstGeom>
          <a:ln w="19050">
            <a:solidFill>
              <a:srgbClr val="FFFFFF"/>
            </a:solidFill>
            <a:custDash>
              <a:ds d="280000" sp="240000"/>
            </a:custDash>
          </a:ln>
        </p:spPr>
      </p:sp>
      <p:sp>
        <p:nvSpPr>
          <p:cNvPr id="205" name="te-phmm_204"/>
          <p:cNvSpPr/>
          <p:nvPr/>
        </p:nvSpPr>
        <p:spPr>
          <a:xfrm>
            <a:off x="9372600" y="6339810"/>
            <a:ext cx="609630" cy="0"/>
          </a:xfrm>
          <a:prstGeom prst="line">
            <a:avLst/>
          </a:prstGeom>
          <a:ln w="19050">
            <a:solidFill>
              <a:srgbClr val="FFFFFF"/>
            </a:solidFill>
            <a:custDash>
              <a:ds d="280000" sp="240000"/>
            </a:custDash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6250 0.00000 E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5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6250 0.00000 E" pathEditMode="relative" rAng="0" ptsTypes="AA">
                                      <p:cBhvr>
                                        <p:cTn id="76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6250 0.00000 E" pathEditMode="relative" rAng="0" ptsTypes="AA">
                                      <p:cBhvr>
                                        <p:cTn id="78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6250 0.00000 E" pathEditMode="relative" rAng="0" ptsTypes="AA">
                                      <p:cBhvr>
                                        <p:cTn id="80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1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6250 0.00000 E" pathEditMode="relative" rAng="0" ptsTypes="AA">
                                      <p:cBhvr>
                                        <p:cTn id="82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0" presetClass="path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08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9" presetID="0" presetClass="path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10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1" presetID="0" presetClass="path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12" dur="4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3" presetID="0" presetClass="path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14" dur="4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5" presetID="0" presetClass="path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16" dur="4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7" presetID="0" presetClass="path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18" dur="4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9" presetID="0" presetClass="path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20" dur="4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1" presetID="0" presetClass="path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22" dur="4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3" presetID="0" presetClass="path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24" dur="4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5" presetID="0" presetClass="path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26" dur="4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7" presetID="0" presetClass="path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28" dur="4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9" presetID="0" presetClass="path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30" dur="4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1" presetID="0" presetClass="path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32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3" presetID="0" presetClass="path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34" dur="4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5" presetID="0" presetClass="path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36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7" presetID="0" presetClass="path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38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9" presetID="0" presetClass="path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40" dur="4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1" presetID="0" presetClass="path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42" dur="4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3" presetID="0" presetClass="path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44" dur="4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5" presetID="0" presetClass="path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46" dur="4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7" presetID="0" presetClass="path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48" dur="4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9" presetID="0" presetClass="path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50" dur="4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1" presetID="0" presetClass="path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52" dur="4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3" presetID="0" presetClass="path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54" dur="4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5" presetID="0" presetClass="path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56" dur="4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7" presetID="0" presetClass="path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58" dur="4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9" presetID="0" presetClass="path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60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1" presetID="0" presetClass="path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62" dur="4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3" presetID="0" presetClass="path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64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5" presetID="0" presetClass="path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66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7" presetID="0" presetClass="path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68" dur="4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9" presetID="0" presetClass="path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70" dur="4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1" presetID="0" presetClass="path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72" dur="4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3" presetID="0" presetClass="path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74" dur="4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5" presetID="0" presetClass="path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76" dur="4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7" presetID="0" presetClass="path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78" dur="4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9" presetID="0" presetClass="path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80" dur="4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1" presetID="0" presetClass="path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82" dur="4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3" presetID="0" presetClass="path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84" dur="4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5" presetID="0" presetClass="path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86" dur="4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7" presetID="0" presetClass="path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88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9" presetID="0" presetClass="path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0 0 L 0.02750 0.00000 E" pathEditMode="relative" rAng="0" ptsTypes="AA">
                                      <p:cBhvr>
                                        <p:cTn id="390" dur="4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1" presetID="10" presetClass="entr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10" presetClass="entr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6" dur="3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7" presetID="10" presetClass="entr" presetSubtype="0" fill="hold" grpId="0" nodeType="withEffect">
                                  <p:stCondLst>
                                    <p:cond delay="301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10" presetClass="entr" presetSubtype="0" fill="hold" grpId="0" nodeType="withEffect">
                                  <p:stCondLst>
                                    <p:cond delay="306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2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3" presetID="10" presetClass="entr" presetSubtype="0" fill="hold" grpId="0" nodeType="withEffect">
                                  <p:stCondLst>
                                    <p:cond delay="316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10" presetClass="entr" presetSubtype="0" fill="hold" grpId="0" nodeType="withEffect">
                                  <p:stCondLst>
                                    <p:cond delay="356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8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9" presetID="10" presetClass="entr" presetSubtype="0" fill="hold" grpId="0" nodeType="withEffect">
                                  <p:stCondLst>
                                    <p:cond delay="396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4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>
                      <p:stCondLst>
                        <p:cond delay="indefinite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4" dur="3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5" presetID="10" presetClass="entr" presetSubtype="0" fill="hold" grpId="0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7" dur="3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8" presetID="10" presetClass="entr" presetSubtype="0" fill="hold" grpId="0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0" dur="3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1" presetID="10" presetClass="entr" presetSubtype="0" fill="hold" grpId="0" nodeType="withEffect">
                                  <p:stCondLst>
                                    <p:cond delay="192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3" dur="3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4" presetID="10" presetClass="entr" presetSubtype="0" fill="hold" grpId="0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6" dur="3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7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9" dur="3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0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2" dur="3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3" presetID="10" presetClass="entr" presetSubtype="0" fill="hold" grpId="0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5" dur="3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6" presetID="10" presetClass="entr" presetSubtype="0" fill="hold" grpId="0" nodeType="withEffect">
                                  <p:stCondLst>
                                    <p:cond delay="262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8" dur="3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9" presetID="10" presetClass="entr" presetSubtype="0" fill="hold" grpId="0" nodeType="withEffect">
                                  <p:stCondLst>
                                    <p:cond delay="276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1" dur="3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2" presetID="10" presetClass="entr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4" dur="3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5" presetID="10" presetClass="entr" presetSubtype="0" fill="hold" grpId="0" nodeType="withEffect">
                                  <p:stCondLst>
                                    <p:cond delay="304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7" dur="3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8" fill="hold">
                      <p:stCondLst>
                        <p:cond delay="indefinite"/>
                      </p:stCondLst>
                      <p:childTnLst>
                        <p:par>
                          <p:cTn id="589" fill="hold">
                            <p:stCondLst>
                              <p:cond delay="0"/>
                            </p:stCondLst>
                            <p:childTnLst>
                              <p:par>
                                <p:cTn id="59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8" dur="7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9" presetID="0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0 0.04444 E" pathEditMode="relative" rAng="0" ptsTypes="AA">
                                      <p:cBhvr>
                                        <p:cTn id="690" dur="7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3" dur="7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4" presetID="0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0 0.04444 E" pathEditMode="relative" rAng="0" ptsTypes="AA">
                                      <p:cBhvr>
                                        <p:cTn id="695" dur="7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6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2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8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3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4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9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6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2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8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0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3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4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6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9" dur="2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0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2" dur="7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3" presetID="0" presetClass="pat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0000 0.04444 E" pathEditMode="relative" rAng="0" ptsTypes="AA">
                                      <p:cBhvr>
                                        <p:cTn id="754" dur="7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5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7" dur="7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8" presetID="0" presetClass="pat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0000 0.04444 E" pathEditMode="relative" rAng="0" ptsTypes="AA">
                                      <p:cBhvr>
                                        <p:cTn id="759" dur="7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0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2" dur="7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3" presetID="0" presetClass="pat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0000 0.04444 E" pathEditMode="relative" rAng="0" ptsTypes="AA">
                                      <p:cBhvr>
                                        <p:cTn id="764" dur="7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7" dur="7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8" presetID="0" presetClass="pat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0000 0.04444 E" pathEditMode="relative" rAng="0" ptsTypes="AA">
                                      <p:cBhvr>
                                        <p:cTn id="769" dur="7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0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2" dur="7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3" presetID="0" presetClass="pat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0000 0.04444 E" pathEditMode="relative" rAng="0" ptsTypes="AA">
                                      <p:cBhvr>
                                        <p:cTn id="774" dur="7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7" dur="7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8" presetID="0" presetClass="pat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0000 0.04444 E" pathEditMode="relative" rAng="0" ptsTypes="AA">
                                      <p:cBhvr>
                                        <p:cTn id="779" dur="7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0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2" dur="7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3" presetID="0" presetClass="pat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0000 0.04444 E" pathEditMode="relative" rAng="0" ptsTypes="AA">
                                      <p:cBhvr>
                                        <p:cTn id="784" dur="7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7" dur="7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8" presetID="0" presetClass="pat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0000 0.04444 E" pathEditMode="relative" rAng="0" ptsTypes="AA">
                                      <p:cBhvr>
                                        <p:cTn id="789" dur="7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0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2" dur="7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3" presetID="0" presetClass="pat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0000 0.04444 E" pathEditMode="relative" rAng="0" ptsTypes="AA">
                                      <p:cBhvr>
                                        <p:cTn id="794" dur="7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7" dur="7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8" presetID="0" presetClass="pat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0000 0.04444 E" pathEditMode="relative" rAng="0" ptsTypes="AA">
                                      <p:cBhvr>
                                        <p:cTn id="799" dur="7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0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2" dur="7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3" presetID="0" presetClass="pat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0000 0.04444 E" pathEditMode="relative" rAng="0" ptsTypes="AA">
                                      <p:cBhvr>
                                        <p:cTn id="804" dur="7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7" dur="7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8" presetID="0" presetClass="pat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0000 0.04444 E" pathEditMode="relative" rAng="0" ptsTypes="AA">
                                      <p:cBhvr>
                                        <p:cTn id="809" dur="7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10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2" dur="7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3" presetID="0" presetClass="pat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0000 0.04444 E" pathEditMode="relative" rAng="0" ptsTypes="AA">
                                      <p:cBhvr>
                                        <p:cTn id="814" dur="7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1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7" dur="7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8" presetID="0" presetClass="pat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0000 0.04444 E" pathEditMode="relative" rAng="0" ptsTypes="AA">
                                      <p:cBhvr>
                                        <p:cTn id="819" dur="7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0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2" dur="7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3" presetID="0" presetClass="pat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0000 0.04444 E" pathEditMode="relative" rAng="0" ptsTypes="AA">
                                      <p:cBhvr>
                                        <p:cTn id="824" dur="7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7" dur="7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8" presetID="0" presetClass="pat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0000 0.04444 E" pathEditMode="relative" rAng="0" ptsTypes="AA">
                                      <p:cBhvr>
                                        <p:cTn id="829" dur="7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30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2" dur="7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3" presetID="0" presetClass="pat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0000 0.04444 E" pathEditMode="relative" rAng="0" ptsTypes="AA">
                                      <p:cBhvr>
                                        <p:cTn id="834" dur="7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7" dur="7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8" presetID="0" presetClass="pat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0000 0.04444 E" pathEditMode="relative" rAng="0" ptsTypes="AA">
                                      <p:cBhvr>
                                        <p:cTn id="839" dur="7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0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2" dur="7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3" presetID="0" presetClass="pat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0000 0.04444 E" pathEditMode="relative" rAng="0" ptsTypes="AA">
                                      <p:cBhvr>
                                        <p:cTn id="844" dur="7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7" dur="7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8" presetID="0" presetClass="pat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0000 0.04444 E" pathEditMode="relative" rAng="0" ptsTypes="AA">
                                      <p:cBhvr>
                                        <p:cTn id="849" dur="7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50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2" dur="7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3" presetID="0" presetClass="pat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0000 0.04444 E" pathEditMode="relative" rAng="0" ptsTypes="AA">
                                      <p:cBhvr>
                                        <p:cTn id="854" dur="7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5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7" dur="7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8" presetID="0" presetClass="pat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0000 0.04444 E" pathEditMode="relative" rAng="0" ptsTypes="AA">
                                      <p:cBhvr>
                                        <p:cTn id="859" dur="7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60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2" dur="7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3" presetID="0" presetClass="pat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0000 0.04444 E" pathEditMode="relative" rAng="0" ptsTypes="AA">
                                      <p:cBhvr>
                                        <p:cTn id="864" dur="7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6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7" dur="7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8" presetID="0" presetClass="pat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0000 0.04444 E" pathEditMode="relative" rAng="0" ptsTypes="AA">
                                      <p:cBhvr>
                                        <p:cTn id="869" dur="7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70" presetID="10" presetClass="entr" presetSubtype="0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2" dur="2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3" presetID="10" presetClass="entr" presetSubtype="0" fill="hold" grpId="0" nodeType="withEffect">
                                  <p:stCondLst>
                                    <p:cond delay="2020"/>
                                  </p:stCondLst>
                                  <p:childTnLs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5" dur="2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6" presetID="10" presetClass="entr" presetSubtype="0" fill="hold" grpId="0" nodeType="withEffect">
                                  <p:stCondLst>
                                    <p:cond delay="2130"/>
                                  </p:stCondLst>
                                  <p:childTnLst>
                                    <p:set>
                                      <p:cBhvr>
                                        <p:cTn id="8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8" dur="2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9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1" dur="2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2" presetID="10" presetClass="entr" presetSubtype="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8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4" dur="2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5" presetID="10" presetClass="entr" presetSubtype="0" fill="hold" grpId="0" nodeType="withEffect">
                                  <p:stCondLst>
                                    <p:cond delay="2460"/>
                                  </p:stCondLst>
                                  <p:childTnLs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7" dur="2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8" presetID="10" presetClass="entr" presetSubtype="0" fill="hold" grpId="0" nodeType="withEffect">
                                  <p:stCondLst>
                                    <p:cond delay="2570"/>
                                  </p:stCondLst>
                                  <p:childTnLst>
                                    <p:set>
                                      <p:cBhvr>
                                        <p:cTn id="8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0" dur="2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8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3" dur="2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4" presetID="10" presetClass="entr" presetSubtype="0" fill="hold" grpId="0" nodeType="withEffect">
                                  <p:stCondLst>
                                    <p:cond delay="2680"/>
                                  </p:stCondLst>
                                  <p:childTnLst>
                                    <p:set>
                                      <p:cBhvr>
                                        <p:cTn id="8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6" dur="2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7" presetID="10" presetClass="entr" presetSubtype="0" fill="hold" grpId="0" nodeType="withEffect">
                                  <p:stCondLst>
                                    <p:cond delay="2710"/>
                                  </p:stCondLst>
                                  <p:childTnLst>
                                    <p:set>
                                      <p:cBhvr>
                                        <p:cTn id="8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9" dur="2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0" presetID="10" presetClass="entr" presetSubtype="0" fill="hold" grpId="0" nodeType="withEffect">
                                  <p:stCondLst>
                                    <p:cond delay="2790"/>
                                  </p:stCondLst>
                                  <p:childTnLst>
                                    <p:set>
                                      <p:cBhvr>
                                        <p:cTn id="9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2" dur="2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3" presetID="10" presetClass="entr" presetSubtype="0" fill="hold" grpId="0" nodeType="withEffect">
                                  <p:stCondLst>
                                    <p:cond delay="2820"/>
                                  </p:stCondLst>
                                  <p:childTnLst>
                                    <p:set>
                                      <p:cBhvr>
                                        <p:cTn id="9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5" dur="2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6" presetID="10" presetClass="entr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9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8" dur="2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9" presetID="10" presetClass="entr" presetSubtype="0" fill="hold" grpId="0" nodeType="withEffect">
                                  <p:stCondLst>
                                    <p:cond delay="2930"/>
                                  </p:stCondLst>
                                  <p:childTnLst>
                                    <p:set>
                                      <p:cBhvr>
                                        <p:cTn id="9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1" dur="2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2" presetID="10" presetClass="entr" presetSubtype="0" fill="hold" grpId="0" nodeType="withEffect">
                                  <p:stCondLst>
                                    <p:cond delay="3010"/>
                                  </p:stCondLst>
                                  <p:childTnLst>
                                    <p:set>
                                      <p:cBhvr>
                                        <p:cTn id="9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4" dur="2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5" presetID="10" presetClass="entr" presetSubtype="0" fill="hold" grpId="0" nodeType="withEffect">
                                  <p:stCondLst>
                                    <p:cond delay="3040"/>
                                  </p:stCondLst>
                                  <p:childTnLst>
                                    <p:set>
                                      <p:cBhvr>
                                        <p:cTn id="9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7" dur="2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8" presetID="10" presetClass="entr" presetSubtype="0" fill="hold" grpId="0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9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0" dur="2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1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9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3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4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9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6" dur="4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7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9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9" dur="4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0" presetID="10" presetClass="entr" presetSubtype="0" fill="hold" grpId="0" nodeType="withEffect">
                                  <p:stCondLst>
                                    <p:cond delay="3260"/>
                                  </p:stCondLst>
                                  <p:childTnLst>
                                    <p:set>
                                      <p:cBhvr>
                                        <p:cTn id="9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2" dur="2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3" presetID="10" presetClass="entr" presetSubtype="0" fill="hold" grpId="0" nodeType="withEffect">
                                  <p:stCondLst>
                                    <p:cond delay="3370"/>
                                  </p:stCondLst>
                                  <p:childTnLst>
                                    <p:set>
                                      <p:cBhvr>
                                        <p:cTn id="9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5" dur="2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6" presetID="10" presetClass="entr" presetSubtype="0" fill="hold" grpId="0" nodeType="withEffect">
                                  <p:stCondLst>
                                    <p:cond delay="3480"/>
                                  </p:stCondLst>
                                  <p:childTnLst>
                                    <p:set>
                                      <p:cBhvr>
                                        <p:cTn id="9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8" dur="2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9" presetID="22" presetClass="entr" presetSubtype="4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9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1" dur="22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2" presetID="10" presetClass="entr" presetSubtype="0" fill="hold" grpId="0" nodeType="withEffect">
                                  <p:stCondLst>
                                    <p:cond delay="3590"/>
                                  </p:stCondLst>
                                  <p:childTnLst>
                                    <p:set>
                                      <p:cBhvr>
                                        <p:cTn id="9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4" dur="2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5" presetID="10" presetClass="entr" presetSubtype="0" fill="hold" grpId="0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9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7" dur="2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8" presetID="10" presetClass="entr" presetSubtype="0" fill="hold" grpId="0" nodeType="withEffect">
                                  <p:stCondLst>
                                    <p:cond delay="3810"/>
                                  </p:stCondLst>
                                  <p:childTnLst>
                                    <p:set>
                                      <p:cBhvr>
                                        <p:cTn id="9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0" dur="2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1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3" dur="4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4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6" dur="4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7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9" dur="4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0" presetID="22" presetClass="entr" presetSubtype="4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9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2" dur="22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3" presetID="10" presetClass="entr" presetSubtype="0" fill="hold" grpId="0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9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5" dur="3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6" presetID="10" presetClass="entr" presetSubtype="0" fill="hold" grpId="0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9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9" presetID="10" presetClass="entr" presetSubtype="0" fill="hold" grpId="0" nodeType="withEffect">
                                  <p:stCondLst>
                                    <p:cond delay="6200"/>
                                  </p:stCondLst>
                                  <p:childTnLst>
                                    <p:set>
                                      <p:cBhvr>
                                        <p:cTn id="9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2" presetID="10" presetClass="entr" presetSubtype="0" fill="hold" grpId="0" nodeType="withEffect">
                                  <p:stCondLst>
                                    <p:cond delay="6400"/>
                                  </p:stCondLst>
                                  <p:childTnLst>
                                    <p:set>
                                      <p:cBhvr>
                                        <p:cTn id="9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4" dur="3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5" presetID="10" presetClass="entr" presetSubtype="0" fill="hold" grpId="0" nodeType="withEffect">
                                  <p:stCondLst>
                                    <p:cond delay="6700"/>
                                  </p:stCondLst>
                                  <p:childTnLst>
                                    <p:set>
                                      <p:cBhvr>
                                        <p:cTn id="9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8" presetID="10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9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0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1" fill="hold">
                      <p:stCondLst>
                        <p:cond delay="indefinite"/>
                      </p:stCondLst>
                      <p:childTnLst>
                        <p:par>
                          <p:cTn id="982" fill="hold">
                            <p:stCondLst>
                              <p:cond delay="0"/>
                            </p:stCondLst>
                            <p:childTnLst>
                              <p:par>
                                <p:cTn id="983" presetID="10" presetClass="entr" presetSubtype="0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5" dur="6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8" dur="6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1" dur="6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4" dur="6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7" dur="6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0" dur="6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3" dur="6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6" dur="6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9" dur="6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2" dur="6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5" dur="6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8" dur="6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1" dur="6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4" dur="6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7" dur="6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0" dur="6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 animBg="1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 animBg="1"/>
      <p:bldP spid="47" grpId="0"/>
      <p:bldP spid="48" grpId="0" animBg="1"/>
      <p:bldP spid="49" grpId="0"/>
      <p:bldP spid="50" grpId="0" animBg="1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 animBg="1"/>
      <p:bldP spid="65" grpId="0"/>
      <p:bldP spid="66" grpId="0" animBg="1"/>
      <p:bldP spid="67" grpId="0"/>
      <p:bldP spid="68" grpId="0"/>
      <p:bldP spid="69" grpId="0" animBg="1"/>
      <p:bldP spid="70" grpId="0"/>
      <p:bldP spid="71" grpId="0"/>
      <p:bldP spid="72" grpId="0" animBg="1"/>
      <p:bldP spid="73" grpId="0" animBg="1"/>
      <p:bldP spid="74" grpId="0" animBg="1"/>
      <p:bldP spid="75" grpId="0"/>
      <p:bldP spid="76" grpId="0"/>
      <p:bldP spid="77" grpId="0" animBg="1"/>
      <p:bldP spid="78" grpId="0" animBg="1"/>
      <p:bldP spid="79" grpId="0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/>
      <p:bldP spid="121" grpId="0"/>
      <p:bldP spid="122" grpId="0"/>
      <p:bldP spid="123" grpId="0" animBg="1"/>
      <p:bldP spid="124" grpId="0" animBg="1"/>
      <p:bldP spid="125" grpId="0" animBg="1"/>
      <p:bldP spid="126" grpId="0" animBg="1"/>
      <p:bldP spid="127" grpId="0"/>
      <p:bldP spid="128" grpId="0"/>
      <p:bldP spid="129" grpId="0"/>
      <p:bldP spid="130" grpId="0" animBg="1"/>
      <p:bldP spid="131" grpId="0"/>
      <p:bldP spid="132" grpId="0" animBg="1"/>
      <p:bldP spid="133" grpId="0"/>
      <p:bldP spid="134" grpId="0" animBg="1"/>
      <p:bldP spid="135" grpId="0"/>
      <p:bldP spid="136" grpId="0" animBg="1"/>
      <p:bldP spid="137" grpId="0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6" grpId="0" animBg="1"/>
      <p:bldP spid="167" grpId="0" animBg="1"/>
      <p:bldP spid="168" grpId="0" animBg="1"/>
      <p:bldP spid="169" grpId="0" animBg="1"/>
      <p:bldP spid="170" grpId="0" animBg="1"/>
      <p:bldP spid="171" grpId="0" animBg="1"/>
      <p:bldP spid="172" grpId="0" animBg="1"/>
      <p:bldP spid="173" grpId="0" animBg="1"/>
      <p:bldP spid="174" grpId="0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7" grpId="0"/>
      <p:bldP spid="188" grpId="0"/>
      <p:bldP spid="189" grpId="0"/>
      <p:bldP spid="190" grpId="0" animBg="1"/>
      <p:bldP spid="191" grpId="0" animBg="1"/>
      <p:bldP spid="192" grpId="0" animBg="1"/>
      <p:bldP spid="193" grpId="0" animBg="1"/>
      <p:bldP spid="194" grpId="0"/>
      <p:bldP spid="195" grpId="0"/>
      <p:bldP spid="196" grpId="0"/>
      <p:bldP spid="197" grpId="0" animBg="1"/>
      <p:bldP spid="198" grpId="0"/>
      <p:bldP spid="199" grpId="0" animBg="1"/>
      <p:bldP spid="200" grpId="0"/>
      <p:bldP spid="201" grpId="0" animBg="1"/>
      <p:bldP spid="202" grpId="0"/>
      <p:bldP spid="203" grpId="0" animBg="1"/>
      <p:bldP spid="204" grpId="0" animBg="1"/>
      <p:bldP spid="20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-engines_1"/>
          <p:cNvSpPr txBox="1"/>
          <p:nvPr/>
        </p:nvSpPr>
        <p:spPr>
          <a:xfrm>
            <a:off x="548640" y="396210"/>
            <a:ext cx="11140410" cy="464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two search methods</a:t>
            </a:r>
            <a:endParaRPr lang="en-US" sz="2880" dirty="0"/>
          </a:p>
        </p:txBody>
      </p:sp>
      <p:sp>
        <p:nvSpPr>
          <p:cNvPr id="3" name="te-engines_2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search methods’ ability to detect diverged copies were compared</a:t>
            </a:r>
            <a:endParaRPr lang="en-US" sz="2544" dirty="0"/>
          </a:p>
        </p:txBody>
      </p:sp>
      <p:sp>
        <p:nvSpPr>
          <p:cNvPr id="4" name="te-engines_3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Divergence is how different a copy is from its family’s consensus sequence</a:t>
            </a:r>
            <a:endParaRPr lang="en-US" sz="2544" dirty="0"/>
          </a:p>
        </p:txBody>
      </p:sp>
      <p:sp>
        <p:nvSpPr>
          <p:cNvPr id="5" name="te-engines_4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RepeatMasker can use different detection engines</a:t>
            </a:r>
            <a:endParaRPr lang="en-US" sz="2544" dirty="0"/>
          </a:p>
        </p:txBody>
      </p:sp>
      <p:sp>
        <p:nvSpPr>
          <p:cNvPr id="6" name="te-engines_5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1,143 family library used for both</a:t>
            </a:r>
            <a:endParaRPr lang="en-US" sz="2544" dirty="0"/>
          </a:p>
        </p:txBody>
      </p:sp>
      <p:sp>
        <p:nvSpPr>
          <p:cNvPr id="7" name="te-engines_6"/>
          <p:cNvSpPr txBox="1"/>
          <p:nvPr/>
        </p:nvSpPr>
        <p:spPr>
          <a:xfrm>
            <a:off x="900958" y="3467130"/>
            <a:ext cx="216228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526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sequence</a:t>
            </a:r>
            <a:endParaRPr lang="en-US" sz="1526" dirty="0"/>
          </a:p>
        </p:txBody>
      </p:sp>
      <p:sp>
        <p:nvSpPr>
          <p:cNvPr id="8" name="te-engines_7"/>
          <p:cNvSpPr txBox="1"/>
          <p:nvPr/>
        </p:nvSpPr>
        <p:spPr>
          <a:xfrm>
            <a:off x="1330635" y="3924330"/>
            <a:ext cx="17326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526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in genome</a:t>
            </a:r>
            <a:endParaRPr lang="en-US" sz="1526" dirty="0"/>
          </a:p>
        </p:txBody>
      </p:sp>
      <p:sp>
        <p:nvSpPr>
          <p:cNvPr id="9" name="te-engines_8"/>
          <p:cNvSpPr/>
          <p:nvPr/>
        </p:nvSpPr>
        <p:spPr>
          <a:xfrm>
            <a:off x="3200400" y="3520440"/>
            <a:ext cx="579117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10" name="te-engines_9"/>
          <p:cNvSpPr/>
          <p:nvPr/>
        </p:nvSpPr>
        <p:spPr>
          <a:xfrm>
            <a:off x="3200400" y="3977640"/>
            <a:ext cx="579117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11" name="te-engines_10"/>
          <p:cNvSpPr/>
          <p:nvPr/>
        </p:nvSpPr>
        <p:spPr>
          <a:xfrm>
            <a:off x="4255800" y="3947190"/>
            <a:ext cx="60990" cy="182880"/>
          </a:xfrm>
          <a:prstGeom prst="roundRect">
            <a:avLst>
              <a:gd name="adj" fmla="val 25038"/>
            </a:avLst>
          </a:prstGeom>
          <a:solidFill>
            <a:srgbClr val="FFFFFF"/>
          </a:solidFill>
          <a:ln/>
        </p:spPr>
      </p:sp>
      <p:sp>
        <p:nvSpPr>
          <p:cNvPr id="12" name="te-engines_11"/>
          <p:cNvSpPr/>
          <p:nvPr/>
        </p:nvSpPr>
        <p:spPr>
          <a:xfrm>
            <a:off x="5558820" y="3947190"/>
            <a:ext cx="60990" cy="182880"/>
          </a:xfrm>
          <a:prstGeom prst="roundRect">
            <a:avLst>
              <a:gd name="adj" fmla="val 25038"/>
            </a:avLst>
          </a:prstGeom>
          <a:solidFill>
            <a:srgbClr val="FFFFFF"/>
          </a:solidFill>
          <a:ln/>
        </p:spPr>
      </p:sp>
      <p:sp>
        <p:nvSpPr>
          <p:cNvPr id="13" name="te-engines_12"/>
          <p:cNvSpPr/>
          <p:nvPr/>
        </p:nvSpPr>
        <p:spPr>
          <a:xfrm>
            <a:off x="6717000" y="3947190"/>
            <a:ext cx="60990" cy="182880"/>
          </a:xfrm>
          <a:prstGeom prst="roundRect">
            <a:avLst>
              <a:gd name="adj" fmla="val 25038"/>
            </a:avLst>
          </a:prstGeom>
          <a:solidFill>
            <a:srgbClr val="FFFFFF"/>
          </a:solidFill>
          <a:ln/>
        </p:spPr>
      </p:sp>
      <p:sp>
        <p:nvSpPr>
          <p:cNvPr id="14" name="te-engines_13"/>
          <p:cNvSpPr/>
          <p:nvPr/>
        </p:nvSpPr>
        <p:spPr>
          <a:xfrm>
            <a:off x="8020020" y="3947190"/>
            <a:ext cx="60990" cy="182880"/>
          </a:xfrm>
          <a:prstGeom prst="roundRect">
            <a:avLst>
              <a:gd name="adj" fmla="val 25038"/>
            </a:avLst>
          </a:prstGeom>
          <a:solidFill>
            <a:srgbClr val="FFFFFF"/>
          </a:solidFill>
          <a:ln/>
        </p:spPr>
      </p:sp>
      <p:sp>
        <p:nvSpPr>
          <p:cNvPr id="15" name="te-engines_14"/>
          <p:cNvSpPr/>
          <p:nvPr/>
        </p:nvSpPr>
        <p:spPr>
          <a:xfrm>
            <a:off x="3192810" y="3322290"/>
            <a:ext cx="15270" cy="9753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-engines_15"/>
          <p:cNvSpPr txBox="1"/>
          <p:nvPr/>
        </p:nvSpPr>
        <p:spPr>
          <a:xfrm>
            <a:off x="3601730" y="4472970"/>
            <a:ext cx="270250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Kimura divergence matrix</a:t>
            </a:r>
            <a:endParaRPr lang="en-US" sz="1526" dirty="0"/>
          </a:p>
        </p:txBody>
      </p:sp>
      <p:sp>
        <p:nvSpPr>
          <p:cNvPr id="17" name="te-engines_16"/>
          <p:cNvSpPr txBox="1"/>
          <p:nvPr/>
        </p:nvSpPr>
        <p:spPr>
          <a:xfrm>
            <a:off x="4351995" y="4964460"/>
            <a:ext cx="200071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72" dirty="0"/>
          </a:p>
        </p:txBody>
      </p:sp>
      <p:sp>
        <p:nvSpPr>
          <p:cNvPr id="18" name="te-engines_17"/>
          <p:cNvSpPr txBox="1"/>
          <p:nvPr/>
        </p:nvSpPr>
        <p:spPr>
          <a:xfrm>
            <a:off x="4047226" y="5253960"/>
            <a:ext cx="200071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72" dirty="0"/>
          </a:p>
        </p:txBody>
      </p:sp>
      <p:sp>
        <p:nvSpPr>
          <p:cNvPr id="19" name="te-engines_18"/>
          <p:cNvSpPr txBox="1"/>
          <p:nvPr/>
        </p:nvSpPr>
        <p:spPr>
          <a:xfrm>
            <a:off x="4687580" y="4964460"/>
            <a:ext cx="195682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72" dirty="0"/>
          </a:p>
        </p:txBody>
      </p:sp>
      <p:sp>
        <p:nvSpPr>
          <p:cNvPr id="20" name="te-engines_19"/>
          <p:cNvSpPr txBox="1"/>
          <p:nvPr/>
        </p:nvSpPr>
        <p:spPr>
          <a:xfrm>
            <a:off x="4047500" y="5589270"/>
            <a:ext cx="195682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72" dirty="0"/>
          </a:p>
        </p:txBody>
      </p:sp>
      <p:sp>
        <p:nvSpPr>
          <p:cNvPr id="21" name="te-engines_20"/>
          <p:cNvSpPr txBox="1"/>
          <p:nvPr/>
        </p:nvSpPr>
        <p:spPr>
          <a:xfrm>
            <a:off x="5022799" y="4964460"/>
            <a:ext cx="195682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272" dirty="0"/>
          </a:p>
        </p:txBody>
      </p:sp>
      <p:sp>
        <p:nvSpPr>
          <p:cNvPr id="22" name="te-engines_21"/>
          <p:cNvSpPr txBox="1"/>
          <p:nvPr/>
        </p:nvSpPr>
        <p:spPr>
          <a:xfrm>
            <a:off x="4047500" y="5924580"/>
            <a:ext cx="195682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272" dirty="0"/>
          </a:p>
        </p:txBody>
      </p:sp>
      <p:sp>
        <p:nvSpPr>
          <p:cNvPr id="23" name="te-engines_22"/>
          <p:cNvSpPr txBox="1"/>
          <p:nvPr/>
        </p:nvSpPr>
        <p:spPr>
          <a:xfrm>
            <a:off x="5358110" y="4964460"/>
            <a:ext cx="195682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272" dirty="0"/>
          </a:p>
        </p:txBody>
      </p:sp>
      <p:sp>
        <p:nvSpPr>
          <p:cNvPr id="24" name="te-engines_23"/>
          <p:cNvSpPr txBox="1"/>
          <p:nvPr/>
        </p:nvSpPr>
        <p:spPr>
          <a:xfrm>
            <a:off x="4047500" y="6259800"/>
            <a:ext cx="195682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272" dirty="0"/>
          </a:p>
        </p:txBody>
      </p:sp>
      <p:sp>
        <p:nvSpPr>
          <p:cNvPr id="25" name="te-engines_24"/>
          <p:cNvSpPr/>
          <p:nvPr/>
        </p:nvSpPr>
        <p:spPr>
          <a:xfrm>
            <a:off x="4297680" y="519681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2A3441"/>
          </a:solidFill>
          <a:ln/>
        </p:spPr>
      </p:sp>
      <p:sp>
        <p:nvSpPr>
          <p:cNvPr id="26" name="te-engines_25"/>
          <p:cNvSpPr txBox="1"/>
          <p:nvPr/>
        </p:nvSpPr>
        <p:spPr>
          <a:xfrm>
            <a:off x="4391315" y="5273070"/>
            <a:ext cx="117592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18" dirty="0"/>
          </a:p>
        </p:txBody>
      </p:sp>
      <p:sp>
        <p:nvSpPr>
          <p:cNvPr id="27" name="te-engines_26"/>
          <p:cNvSpPr/>
          <p:nvPr/>
        </p:nvSpPr>
        <p:spPr>
          <a:xfrm>
            <a:off x="4632990" y="519681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5C6773"/>
          </a:solidFill>
          <a:ln/>
        </p:spPr>
      </p:sp>
      <p:sp>
        <p:nvSpPr>
          <p:cNvPr id="28" name="te-engines_27"/>
          <p:cNvSpPr txBox="1"/>
          <p:nvPr/>
        </p:nvSpPr>
        <p:spPr>
          <a:xfrm>
            <a:off x="4666458" y="5273070"/>
            <a:ext cx="237835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</a:t>
            </a:r>
            <a:endParaRPr lang="en-US" sz="1018" dirty="0"/>
          </a:p>
        </p:txBody>
      </p:sp>
      <p:sp>
        <p:nvSpPr>
          <p:cNvPr id="29" name="te-engines_28"/>
          <p:cNvSpPr/>
          <p:nvPr/>
        </p:nvSpPr>
        <p:spPr>
          <a:xfrm>
            <a:off x="4968210" y="519681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187FC3"/>
          </a:solidFill>
          <a:ln/>
        </p:spPr>
      </p:sp>
      <p:sp>
        <p:nvSpPr>
          <p:cNvPr id="30" name="te-engines_29"/>
          <p:cNvSpPr txBox="1"/>
          <p:nvPr/>
        </p:nvSpPr>
        <p:spPr>
          <a:xfrm>
            <a:off x="5005060" y="5273070"/>
            <a:ext cx="231069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</a:t>
            </a:r>
            <a:endParaRPr lang="en-US" sz="1018" dirty="0"/>
          </a:p>
        </p:txBody>
      </p:sp>
      <p:sp>
        <p:nvSpPr>
          <p:cNvPr id="31" name="te-engines_30"/>
          <p:cNvSpPr/>
          <p:nvPr/>
        </p:nvSpPr>
        <p:spPr>
          <a:xfrm>
            <a:off x="5303520" y="519681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5C6773"/>
          </a:solidFill>
          <a:ln/>
        </p:spPr>
      </p:sp>
      <p:sp>
        <p:nvSpPr>
          <p:cNvPr id="32" name="te-engines_31"/>
          <p:cNvSpPr txBox="1"/>
          <p:nvPr/>
        </p:nvSpPr>
        <p:spPr>
          <a:xfrm>
            <a:off x="5336987" y="5273070"/>
            <a:ext cx="237835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</a:t>
            </a:r>
            <a:endParaRPr lang="en-US" sz="1018" dirty="0"/>
          </a:p>
        </p:txBody>
      </p:sp>
      <p:sp>
        <p:nvSpPr>
          <p:cNvPr id="33" name="te-engines_32"/>
          <p:cNvSpPr/>
          <p:nvPr/>
        </p:nvSpPr>
        <p:spPr>
          <a:xfrm>
            <a:off x="4297680" y="553212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5C6773"/>
          </a:solidFill>
          <a:ln/>
        </p:spPr>
      </p:sp>
      <p:sp>
        <p:nvSpPr>
          <p:cNvPr id="34" name="te-engines_33"/>
          <p:cNvSpPr txBox="1"/>
          <p:nvPr/>
        </p:nvSpPr>
        <p:spPr>
          <a:xfrm>
            <a:off x="4331147" y="5608290"/>
            <a:ext cx="237835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</a:t>
            </a:r>
            <a:endParaRPr lang="en-US" sz="1018" dirty="0"/>
          </a:p>
        </p:txBody>
      </p:sp>
      <p:sp>
        <p:nvSpPr>
          <p:cNvPr id="35" name="te-engines_34"/>
          <p:cNvSpPr/>
          <p:nvPr/>
        </p:nvSpPr>
        <p:spPr>
          <a:xfrm>
            <a:off x="4632990" y="553212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2A3441"/>
          </a:solidFill>
          <a:ln/>
        </p:spPr>
      </p:sp>
      <p:sp>
        <p:nvSpPr>
          <p:cNvPr id="36" name="te-engines_35"/>
          <p:cNvSpPr txBox="1"/>
          <p:nvPr/>
        </p:nvSpPr>
        <p:spPr>
          <a:xfrm>
            <a:off x="4726625" y="5608290"/>
            <a:ext cx="117592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18" dirty="0"/>
          </a:p>
        </p:txBody>
      </p:sp>
      <p:sp>
        <p:nvSpPr>
          <p:cNvPr id="37" name="te-engines_36"/>
          <p:cNvSpPr/>
          <p:nvPr/>
        </p:nvSpPr>
        <p:spPr>
          <a:xfrm>
            <a:off x="4968210" y="553212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5C6773"/>
          </a:solidFill>
          <a:ln/>
        </p:spPr>
      </p:sp>
      <p:sp>
        <p:nvSpPr>
          <p:cNvPr id="38" name="te-engines_37"/>
          <p:cNvSpPr txBox="1"/>
          <p:nvPr/>
        </p:nvSpPr>
        <p:spPr>
          <a:xfrm>
            <a:off x="5001677" y="5608290"/>
            <a:ext cx="237835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</a:t>
            </a:r>
            <a:endParaRPr lang="en-US" sz="1018" dirty="0"/>
          </a:p>
        </p:txBody>
      </p:sp>
      <p:sp>
        <p:nvSpPr>
          <p:cNvPr id="39" name="te-engines_38"/>
          <p:cNvSpPr/>
          <p:nvPr/>
        </p:nvSpPr>
        <p:spPr>
          <a:xfrm>
            <a:off x="5303520" y="553212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187FC3"/>
          </a:solidFill>
          <a:ln/>
        </p:spPr>
      </p:sp>
      <p:sp>
        <p:nvSpPr>
          <p:cNvPr id="40" name="te-engines_39"/>
          <p:cNvSpPr txBox="1"/>
          <p:nvPr/>
        </p:nvSpPr>
        <p:spPr>
          <a:xfrm>
            <a:off x="5340370" y="5608290"/>
            <a:ext cx="231069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</a:t>
            </a:r>
            <a:endParaRPr lang="en-US" sz="1018" dirty="0"/>
          </a:p>
        </p:txBody>
      </p:sp>
      <p:sp>
        <p:nvSpPr>
          <p:cNvPr id="41" name="te-engines_40"/>
          <p:cNvSpPr/>
          <p:nvPr/>
        </p:nvSpPr>
        <p:spPr>
          <a:xfrm>
            <a:off x="4297680" y="586743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187FC3"/>
          </a:solidFill>
          <a:ln/>
        </p:spPr>
      </p:sp>
      <p:sp>
        <p:nvSpPr>
          <p:cNvPr id="42" name="te-engines_41"/>
          <p:cNvSpPr txBox="1"/>
          <p:nvPr/>
        </p:nvSpPr>
        <p:spPr>
          <a:xfrm>
            <a:off x="4334530" y="5943600"/>
            <a:ext cx="231069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</a:t>
            </a:r>
            <a:endParaRPr lang="en-US" sz="1018" dirty="0"/>
          </a:p>
        </p:txBody>
      </p:sp>
      <p:sp>
        <p:nvSpPr>
          <p:cNvPr id="43" name="te-engines_42"/>
          <p:cNvSpPr/>
          <p:nvPr/>
        </p:nvSpPr>
        <p:spPr>
          <a:xfrm>
            <a:off x="4632990" y="586743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5C6773"/>
          </a:solidFill>
          <a:ln/>
        </p:spPr>
      </p:sp>
      <p:sp>
        <p:nvSpPr>
          <p:cNvPr id="44" name="te-engines_43"/>
          <p:cNvSpPr txBox="1"/>
          <p:nvPr/>
        </p:nvSpPr>
        <p:spPr>
          <a:xfrm>
            <a:off x="4666458" y="5943600"/>
            <a:ext cx="237835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</a:t>
            </a:r>
            <a:endParaRPr lang="en-US" sz="1018" dirty="0"/>
          </a:p>
        </p:txBody>
      </p:sp>
      <p:sp>
        <p:nvSpPr>
          <p:cNvPr id="45" name="te-engines_44"/>
          <p:cNvSpPr/>
          <p:nvPr/>
        </p:nvSpPr>
        <p:spPr>
          <a:xfrm>
            <a:off x="4968210" y="586743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2A3441"/>
          </a:solidFill>
          <a:ln/>
        </p:spPr>
      </p:sp>
      <p:sp>
        <p:nvSpPr>
          <p:cNvPr id="46" name="te-engines_45"/>
          <p:cNvSpPr txBox="1"/>
          <p:nvPr/>
        </p:nvSpPr>
        <p:spPr>
          <a:xfrm>
            <a:off x="5061844" y="5943600"/>
            <a:ext cx="117592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18" dirty="0"/>
          </a:p>
        </p:txBody>
      </p:sp>
      <p:sp>
        <p:nvSpPr>
          <p:cNvPr id="47" name="te-engines_46"/>
          <p:cNvSpPr/>
          <p:nvPr/>
        </p:nvSpPr>
        <p:spPr>
          <a:xfrm>
            <a:off x="5303520" y="586743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5C6773"/>
          </a:solidFill>
          <a:ln/>
        </p:spPr>
      </p:sp>
      <p:sp>
        <p:nvSpPr>
          <p:cNvPr id="48" name="te-engines_47"/>
          <p:cNvSpPr txBox="1"/>
          <p:nvPr/>
        </p:nvSpPr>
        <p:spPr>
          <a:xfrm>
            <a:off x="5336987" y="5943600"/>
            <a:ext cx="237835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</a:t>
            </a:r>
            <a:endParaRPr lang="en-US" sz="1018" dirty="0"/>
          </a:p>
        </p:txBody>
      </p:sp>
      <p:sp>
        <p:nvSpPr>
          <p:cNvPr id="49" name="te-engines_48"/>
          <p:cNvSpPr/>
          <p:nvPr/>
        </p:nvSpPr>
        <p:spPr>
          <a:xfrm>
            <a:off x="4297680" y="620265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5C6773"/>
          </a:solidFill>
          <a:ln/>
        </p:spPr>
      </p:sp>
      <p:sp>
        <p:nvSpPr>
          <p:cNvPr id="50" name="te-engines_49"/>
          <p:cNvSpPr txBox="1"/>
          <p:nvPr/>
        </p:nvSpPr>
        <p:spPr>
          <a:xfrm>
            <a:off x="4331147" y="6278910"/>
            <a:ext cx="237835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</a:t>
            </a:r>
            <a:endParaRPr lang="en-US" sz="1018" dirty="0"/>
          </a:p>
        </p:txBody>
      </p:sp>
      <p:sp>
        <p:nvSpPr>
          <p:cNvPr id="51" name="te-engines_50"/>
          <p:cNvSpPr/>
          <p:nvPr/>
        </p:nvSpPr>
        <p:spPr>
          <a:xfrm>
            <a:off x="4632990" y="620265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187FC3"/>
          </a:solidFill>
          <a:ln/>
        </p:spPr>
      </p:sp>
      <p:sp>
        <p:nvSpPr>
          <p:cNvPr id="52" name="te-engines_51"/>
          <p:cNvSpPr txBox="1"/>
          <p:nvPr/>
        </p:nvSpPr>
        <p:spPr>
          <a:xfrm>
            <a:off x="4669841" y="6278910"/>
            <a:ext cx="231069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</a:t>
            </a:r>
            <a:endParaRPr lang="en-US" sz="1018" dirty="0"/>
          </a:p>
        </p:txBody>
      </p:sp>
      <p:sp>
        <p:nvSpPr>
          <p:cNvPr id="53" name="te-engines_52"/>
          <p:cNvSpPr/>
          <p:nvPr/>
        </p:nvSpPr>
        <p:spPr>
          <a:xfrm>
            <a:off x="4968210" y="620265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5C6773"/>
          </a:solidFill>
          <a:ln/>
        </p:spPr>
      </p:sp>
      <p:sp>
        <p:nvSpPr>
          <p:cNvPr id="54" name="te-engines_53"/>
          <p:cNvSpPr txBox="1"/>
          <p:nvPr/>
        </p:nvSpPr>
        <p:spPr>
          <a:xfrm>
            <a:off x="5001677" y="6278910"/>
            <a:ext cx="237835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</a:t>
            </a:r>
            <a:endParaRPr lang="en-US" sz="1018" dirty="0"/>
          </a:p>
        </p:txBody>
      </p:sp>
      <p:sp>
        <p:nvSpPr>
          <p:cNvPr id="55" name="te-engines_54"/>
          <p:cNvSpPr/>
          <p:nvPr/>
        </p:nvSpPr>
        <p:spPr>
          <a:xfrm>
            <a:off x="5303520" y="6202650"/>
            <a:ext cx="304770" cy="304770"/>
          </a:xfrm>
          <a:prstGeom prst="roundRect">
            <a:avLst>
              <a:gd name="adj" fmla="val 15001"/>
            </a:avLst>
          </a:prstGeom>
          <a:solidFill>
            <a:srgbClr val="2A3441"/>
          </a:solidFill>
          <a:ln/>
        </p:spPr>
      </p:sp>
      <p:sp>
        <p:nvSpPr>
          <p:cNvPr id="56" name="te-engines_55"/>
          <p:cNvSpPr txBox="1"/>
          <p:nvPr/>
        </p:nvSpPr>
        <p:spPr>
          <a:xfrm>
            <a:off x="5397155" y="6278910"/>
            <a:ext cx="117592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18" dirty="0"/>
          </a:p>
        </p:txBody>
      </p:sp>
      <p:sp>
        <p:nvSpPr>
          <p:cNvPr id="57" name="te-engines_56"/>
          <p:cNvSpPr txBox="1"/>
          <p:nvPr/>
        </p:nvSpPr>
        <p:spPr>
          <a:xfrm>
            <a:off x="7452360" y="5210160"/>
            <a:ext cx="1584381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Transitions: 0</a:t>
            </a:r>
            <a:endParaRPr lang="en-US" sz="1654" dirty="0"/>
          </a:p>
        </p:txBody>
      </p:sp>
      <p:sp>
        <p:nvSpPr>
          <p:cNvPr id="58" name="te-engines_57"/>
          <p:cNvSpPr txBox="1"/>
          <p:nvPr/>
        </p:nvSpPr>
        <p:spPr>
          <a:xfrm>
            <a:off x="7452360" y="5210160"/>
            <a:ext cx="1532352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Transitions: 1</a:t>
            </a:r>
            <a:endParaRPr lang="en-US" sz="1654" dirty="0"/>
          </a:p>
        </p:txBody>
      </p:sp>
      <p:sp>
        <p:nvSpPr>
          <p:cNvPr id="59" name="te-engines_58"/>
          <p:cNvSpPr txBox="1"/>
          <p:nvPr/>
        </p:nvSpPr>
        <p:spPr>
          <a:xfrm>
            <a:off x="7452360" y="5210160"/>
            <a:ext cx="1577797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Transitions: 2</a:t>
            </a:r>
            <a:endParaRPr lang="en-US" sz="1654" dirty="0"/>
          </a:p>
        </p:txBody>
      </p:sp>
      <p:sp>
        <p:nvSpPr>
          <p:cNvPr id="60" name="te-engines_59"/>
          <p:cNvSpPr txBox="1"/>
          <p:nvPr/>
        </p:nvSpPr>
        <p:spPr>
          <a:xfrm>
            <a:off x="7452360" y="5210160"/>
            <a:ext cx="1580266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Transitions: 3</a:t>
            </a:r>
            <a:endParaRPr lang="en-US" sz="1654" dirty="0"/>
          </a:p>
        </p:txBody>
      </p:sp>
      <p:sp>
        <p:nvSpPr>
          <p:cNvPr id="61" name="te-engines_60"/>
          <p:cNvSpPr txBox="1"/>
          <p:nvPr/>
        </p:nvSpPr>
        <p:spPr>
          <a:xfrm>
            <a:off x="7452360" y="5591190"/>
            <a:ext cx="1917771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Transversions: 0</a:t>
            </a:r>
            <a:endParaRPr lang="en-US" sz="1654" dirty="0"/>
          </a:p>
        </p:txBody>
      </p:sp>
      <p:sp>
        <p:nvSpPr>
          <p:cNvPr id="62" name="te-engines_61"/>
          <p:cNvSpPr txBox="1"/>
          <p:nvPr/>
        </p:nvSpPr>
        <p:spPr>
          <a:xfrm>
            <a:off x="7452360" y="5591190"/>
            <a:ext cx="1865742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Transversions: 1</a:t>
            </a:r>
            <a:endParaRPr lang="en-US" sz="1654" dirty="0"/>
          </a:p>
        </p:txBody>
      </p:sp>
      <p:sp>
        <p:nvSpPr>
          <p:cNvPr id="63" name="te-engines_62"/>
          <p:cNvSpPr txBox="1"/>
          <p:nvPr/>
        </p:nvSpPr>
        <p:spPr>
          <a:xfrm>
            <a:off x="7452360" y="6096030"/>
            <a:ext cx="3385475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44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Divergence: 10.5%</a:t>
            </a:r>
            <a:endParaRPr lang="en-US" sz="2544" dirty="0"/>
          </a:p>
        </p:txBody>
      </p:sp>
      <p:sp>
        <p:nvSpPr>
          <p:cNvPr id="64" name="te-engines_63"/>
          <p:cNvSpPr/>
          <p:nvPr/>
        </p:nvSpPr>
        <p:spPr>
          <a:xfrm>
            <a:off x="5676870" y="2552730"/>
            <a:ext cx="838230" cy="838230"/>
          </a:xfrm>
          <a:prstGeom prst="roundRect">
            <a:avLst>
              <a:gd name="adj" fmla="val 14541"/>
            </a:avLst>
          </a:prstGeom>
          <a:solidFill>
            <a:srgbClr val="3A4452"/>
          </a:solidFill>
          <a:ln w="1143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65" name="te-engines_64"/>
          <p:cNvSpPr txBox="1"/>
          <p:nvPr/>
        </p:nvSpPr>
        <p:spPr>
          <a:xfrm>
            <a:off x="5770961" y="2644170"/>
            <a:ext cx="65004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Dfam</a:t>
            </a:r>
            <a:endParaRPr lang="en-US" sz="1526" dirty="0"/>
          </a:p>
        </p:txBody>
      </p:sp>
      <p:sp>
        <p:nvSpPr>
          <p:cNvPr id="66" name="te-engines_65"/>
          <p:cNvSpPr txBox="1"/>
          <p:nvPr/>
        </p:nvSpPr>
        <p:spPr>
          <a:xfrm>
            <a:off x="5737037" y="2990820"/>
            <a:ext cx="717987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81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1,143</a:t>
            </a:r>
            <a:endParaRPr lang="en-US" sz="1781" dirty="0"/>
          </a:p>
        </p:txBody>
      </p:sp>
      <p:sp>
        <p:nvSpPr>
          <p:cNvPr id="67" name="te-engines_66"/>
          <p:cNvSpPr/>
          <p:nvPr/>
        </p:nvSpPr>
        <p:spPr>
          <a:xfrm>
            <a:off x="5676870" y="2552730"/>
            <a:ext cx="838230" cy="838230"/>
          </a:xfrm>
          <a:prstGeom prst="roundRect">
            <a:avLst>
              <a:gd name="adj" fmla="val 14541"/>
            </a:avLst>
          </a:prstGeom>
          <a:solidFill>
            <a:srgbClr val="3A4452"/>
          </a:solidFill>
          <a:ln w="1143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68" name="te-engines_67"/>
          <p:cNvSpPr txBox="1"/>
          <p:nvPr/>
        </p:nvSpPr>
        <p:spPr>
          <a:xfrm>
            <a:off x="5770778" y="2644170"/>
            <a:ext cx="6504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Dfam</a:t>
            </a:r>
            <a:endParaRPr lang="en-US" sz="1526" dirty="0"/>
          </a:p>
        </p:txBody>
      </p:sp>
      <p:sp>
        <p:nvSpPr>
          <p:cNvPr id="69" name="te-engines_68"/>
          <p:cNvSpPr txBox="1"/>
          <p:nvPr/>
        </p:nvSpPr>
        <p:spPr>
          <a:xfrm>
            <a:off x="5736763" y="2990820"/>
            <a:ext cx="718444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81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1,143</a:t>
            </a:r>
            <a:endParaRPr lang="en-US" sz="1781" dirty="0"/>
          </a:p>
        </p:txBody>
      </p:sp>
      <p:sp>
        <p:nvSpPr>
          <p:cNvPr id="70" name="te-engines_69"/>
          <p:cNvSpPr/>
          <p:nvPr/>
        </p:nvSpPr>
        <p:spPr>
          <a:xfrm>
            <a:off x="5676870" y="2552730"/>
            <a:ext cx="838230" cy="838230"/>
          </a:xfrm>
          <a:prstGeom prst="roundRect">
            <a:avLst>
              <a:gd name="adj" fmla="val 14541"/>
            </a:avLst>
          </a:prstGeom>
          <a:solidFill>
            <a:srgbClr val="3A4452"/>
          </a:solidFill>
          <a:ln w="1143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71" name="te-engines_70"/>
          <p:cNvSpPr txBox="1"/>
          <p:nvPr/>
        </p:nvSpPr>
        <p:spPr>
          <a:xfrm>
            <a:off x="5770778" y="2644170"/>
            <a:ext cx="6504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Dfam</a:t>
            </a:r>
            <a:endParaRPr lang="en-US" sz="1526" dirty="0"/>
          </a:p>
        </p:txBody>
      </p:sp>
      <p:sp>
        <p:nvSpPr>
          <p:cNvPr id="72" name="te-engines_71"/>
          <p:cNvSpPr txBox="1"/>
          <p:nvPr/>
        </p:nvSpPr>
        <p:spPr>
          <a:xfrm>
            <a:off x="5736763" y="2990820"/>
            <a:ext cx="718444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81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1,143</a:t>
            </a:r>
            <a:endParaRPr lang="en-US" sz="1781" dirty="0"/>
          </a:p>
        </p:txBody>
      </p:sp>
      <p:sp>
        <p:nvSpPr>
          <p:cNvPr id="73" name="te-engines_72"/>
          <p:cNvSpPr/>
          <p:nvPr/>
        </p:nvSpPr>
        <p:spPr>
          <a:xfrm>
            <a:off x="1524030" y="4815870"/>
            <a:ext cx="914400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74" name="te-engines_73"/>
          <p:cNvSpPr txBox="1"/>
          <p:nvPr/>
        </p:nvSpPr>
        <p:spPr>
          <a:xfrm>
            <a:off x="440101" y="4762470"/>
            <a:ext cx="9467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526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Genome</a:t>
            </a:r>
            <a:endParaRPr lang="en-US" sz="1526" dirty="0"/>
          </a:p>
        </p:txBody>
      </p:sp>
      <p:sp>
        <p:nvSpPr>
          <p:cNvPr id="75" name="te-engines_74"/>
          <p:cNvSpPr/>
          <p:nvPr/>
        </p:nvSpPr>
        <p:spPr>
          <a:xfrm>
            <a:off x="4114800" y="3276570"/>
            <a:ext cx="3962370" cy="1981230"/>
          </a:xfrm>
          <a:prstGeom prst="roundRect">
            <a:avLst>
              <a:gd name="adj" fmla="val 7694"/>
            </a:avLst>
          </a:prstGeom>
          <a:solidFill>
            <a:srgbClr val="1D3461"/>
          </a:solidFill>
          <a:ln w="22860">
            <a:solidFill>
              <a:srgbClr val="FFFFFF"/>
            </a:solidFill>
            <a:prstDash val="solid"/>
          </a:ln>
        </p:spPr>
      </p:sp>
      <p:sp>
        <p:nvSpPr>
          <p:cNvPr id="76" name="te-engines_75"/>
          <p:cNvSpPr txBox="1"/>
          <p:nvPr/>
        </p:nvSpPr>
        <p:spPr>
          <a:xfrm>
            <a:off x="4924684" y="3455700"/>
            <a:ext cx="234488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RepeatMasker</a:t>
            </a:r>
            <a:endParaRPr lang="en-US" sz="2290" dirty="0"/>
          </a:p>
        </p:txBody>
      </p:sp>
      <p:sp>
        <p:nvSpPr>
          <p:cNvPr id="77" name="te-engines_76"/>
          <p:cNvSpPr/>
          <p:nvPr/>
        </p:nvSpPr>
        <p:spPr>
          <a:xfrm>
            <a:off x="4953030" y="3962370"/>
            <a:ext cx="2286000" cy="975390"/>
          </a:xfrm>
          <a:prstGeom prst="roundRect">
            <a:avLst>
              <a:gd name="adj" fmla="val 10940"/>
            </a:avLst>
          </a:prstGeom>
          <a:solidFill>
            <a:srgbClr val="000000">
              <a:alpha val="18000"/>
            </a:srgbClr>
          </a:solidFill>
          <a:ln w="15240">
            <a:solidFill>
              <a:srgbClr val="C3CAD3"/>
            </a:solidFill>
            <a:custDash>
              <a:ds d="450000" sp="350000"/>
            </a:custDash>
          </a:ln>
        </p:spPr>
      </p:sp>
      <p:sp>
        <p:nvSpPr>
          <p:cNvPr id="78" name="te-engines_77"/>
          <p:cNvSpPr/>
          <p:nvPr/>
        </p:nvSpPr>
        <p:spPr>
          <a:xfrm>
            <a:off x="5029200" y="4030950"/>
            <a:ext cx="2133570" cy="838230"/>
          </a:xfrm>
          <a:prstGeom prst="roundRect">
            <a:avLst>
              <a:gd name="adj" fmla="val 10909"/>
            </a:avLst>
          </a:prstGeom>
          <a:solidFill>
            <a:srgbClr val="2A3441"/>
          </a:solidFill>
          <a:ln w="15240">
            <a:solidFill>
              <a:srgbClr val="8A94A3"/>
            </a:solidFill>
            <a:prstDash val="solid"/>
          </a:ln>
        </p:spPr>
      </p:sp>
      <p:sp>
        <p:nvSpPr>
          <p:cNvPr id="79" name="te-engines_78"/>
          <p:cNvSpPr/>
          <p:nvPr/>
        </p:nvSpPr>
        <p:spPr>
          <a:xfrm>
            <a:off x="5219670" y="4244370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80" h="411480">
                <a:moveTo>
                  <a:pt x="411480" y="205740"/>
                </a:moveTo>
                <a:lnTo>
                  <a:pt x="407640" y="246156"/>
                </a:lnTo>
                <a:lnTo>
                  <a:pt x="346740" y="264444"/>
                </a:lnTo>
                <a:lnTo>
                  <a:pt x="332202" y="290322"/>
                </a:lnTo>
                <a:lnTo>
                  <a:pt x="351312" y="351312"/>
                </a:lnTo>
                <a:lnTo>
                  <a:pt x="320040" y="376458"/>
                </a:lnTo>
                <a:lnTo>
                  <a:pt x="264444" y="346740"/>
                </a:lnTo>
                <a:lnTo>
                  <a:pt x="235458" y="355062"/>
                </a:lnTo>
                <a:lnTo>
                  <a:pt x="205740" y="411480"/>
                </a:lnTo>
                <a:lnTo>
                  <a:pt x="165324" y="407640"/>
                </a:lnTo>
                <a:lnTo>
                  <a:pt x="147036" y="346740"/>
                </a:lnTo>
                <a:lnTo>
                  <a:pt x="121158" y="332202"/>
                </a:lnTo>
                <a:lnTo>
                  <a:pt x="60168" y="351312"/>
                </a:lnTo>
                <a:lnTo>
                  <a:pt x="35022" y="320040"/>
                </a:lnTo>
                <a:lnTo>
                  <a:pt x="64740" y="264444"/>
                </a:lnTo>
                <a:lnTo>
                  <a:pt x="56418" y="235458"/>
                </a:lnTo>
                <a:lnTo>
                  <a:pt x="0" y="205740"/>
                </a:lnTo>
                <a:lnTo>
                  <a:pt x="3840" y="165324"/>
                </a:lnTo>
                <a:lnTo>
                  <a:pt x="64740" y="147036"/>
                </a:lnTo>
                <a:lnTo>
                  <a:pt x="79278" y="121158"/>
                </a:lnTo>
                <a:lnTo>
                  <a:pt x="60168" y="60168"/>
                </a:lnTo>
                <a:lnTo>
                  <a:pt x="91440" y="35022"/>
                </a:lnTo>
                <a:lnTo>
                  <a:pt x="147036" y="64740"/>
                </a:lnTo>
                <a:lnTo>
                  <a:pt x="176022" y="56418"/>
                </a:lnTo>
                <a:lnTo>
                  <a:pt x="205740" y="0"/>
                </a:lnTo>
                <a:lnTo>
                  <a:pt x="246156" y="3840"/>
                </a:lnTo>
                <a:lnTo>
                  <a:pt x="264444" y="64740"/>
                </a:lnTo>
                <a:lnTo>
                  <a:pt x="290322" y="79278"/>
                </a:lnTo>
                <a:lnTo>
                  <a:pt x="351312" y="60168"/>
                </a:lnTo>
                <a:lnTo>
                  <a:pt x="376458" y="91440"/>
                </a:lnTo>
                <a:lnTo>
                  <a:pt x="346740" y="147036"/>
                </a:lnTo>
                <a:lnTo>
                  <a:pt x="355062" y="176022"/>
                </a:lnTo>
                <a:close/>
              </a:path>
            </a:pathLst>
          </a:custGeom>
          <a:solidFill>
            <a:srgbClr val="C3CAD3"/>
          </a:solidFill>
          <a:ln/>
        </p:spPr>
      </p:sp>
      <p:sp>
        <p:nvSpPr>
          <p:cNvPr id="80" name="te-engines_79"/>
          <p:cNvSpPr/>
          <p:nvPr/>
        </p:nvSpPr>
        <p:spPr>
          <a:xfrm>
            <a:off x="5364510" y="4389120"/>
            <a:ext cx="121890" cy="121890"/>
          </a:xfrm>
          <a:prstGeom prst="ellipse">
            <a:avLst/>
          </a:prstGeom>
          <a:solidFill>
            <a:srgbClr val="2A3441"/>
          </a:solidFill>
          <a:ln/>
        </p:spPr>
      </p:sp>
      <p:sp>
        <p:nvSpPr>
          <p:cNvPr id="81" name="te-engines_80"/>
          <p:cNvSpPr txBox="1"/>
          <p:nvPr/>
        </p:nvSpPr>
        <p:spPr>
          <a:xfrm>
            <a:off x="5767852" y="4183380"/>
            <a:ext cx="1265987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RMBlast</a:t>
            </a:r>
            <a:endParaRPr lang="en-US" sz="2035" dirty="0"/>
          </a:p>
        </p:txBody>
      </p:sp>
      <p:sp>
        <p:nvSpPr>
          <p:cNvPr id="82" name="te-engines_81"/>
          <p:cNvSpPr txBox="1"/>
          <p:nvPr/>
        </p:nvSpPr>
        <p:spPr>
          <a:xfrm>
            <a:off x="5785409" y="4512930"/>
            <a:ext cx="1230874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dirty="0">
                <a:solidFill>
                  <a:srgbClr val="C3CA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(consensus)</a:t>
            </a:r>
            <a:endParaRPr lang="en-US" sz="1399" dirty="0"/>
          </a:p>
        </p:txBody>
      </p:sp>
      <p:sp>
        <p:nvSpPr>
          <p:cNvPr id="83" name="te-engines_82"/>
          <p:cNvSpPr/>
          <p:nvPr/>
        </p:nvSpPr>
        <p:spPr>
          <a:xfrm>
            <a:off x="4114800" y="3276570"/>
            <a:ext cx="3962370" cy="1981230"/>
          </a:xfrm>
          <a:prstGeom prst="roundRect">
            <a:avLst>
              <a:gd name="adj" fmla="val 7694"/>
            </a:avLst>
          </a:prstGeom>
          <a:solidFill>
            <a:srgbClr val="1D3461"/>
          </a:solidFill>
          <a:ln w="22860">
            <a:solidFill>
              <a:srgbClr val="FFFFFF"/>
            </a:solidFill>
            <a:prstDash val="solid"/>
          </a:ln>
        </p:spPr>
      </p:sp>
      <p:sp>
        <p:nvSpPr>
          <p:cNvPr id="84" name="te-engines_83"/>
          <p:cNvSpPr txBox="1"/>
          <p:nvPr/>
        </p:nvSpPr>
        <p:spPr>
          <a:xfrm>
            <a:off x="4924776" y="3455700"/>
            <a:ext cx="234241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RepeatMasker</a:t>
            </a:r>
            <a:endParaRPr lang="en-US" sz="2290" dirty="0"/>
          </a:p>
        </p:txBody>
      </p:sp>
      <p:sp>
        <p:nvSpPr>
          <p:cNvPr id="85" name="te-engines_84"/>
          <p:cNvSpPr/>
          <p:nvPr/>
        </p:nvSpPr>
        <p:spPr>
          <a:xfrm>
            <a:off x="4953030" y="3962370"/>
            <a:ext cx="2286000" cy="975390"/>
          </a:xfrm>
          <a:prstGeom prst="roundRect">
            <a:avLst>
              <a:gd name="adj" fmla="val 10940"/>
            </a:avLst>
          </a:prstGeom>
          <a:solidFill>
            <a:srgbClr val="000000">
              <a:alpha val="18000"/>
            </a:srgbClr>
          </a:solidFill>
          <a:ln w="15240">
            <a:solidFill>
              <a:srgbClr val="C3CAD3"/>
            </a:solidFill>
            <a:custDash>
              <a:ds d="450000" sp="350000"/>
            </a:custDash>
          </a:ln>
        </p:spPr>
      </p:sp>
      <p:sp>
        <p:nvSpPr>
          <p:cNvPr id="86" name="te-engines_85"/>
          <p:cNvSpPr/>
          <p:nvPr/>
        </p:nvSpPr>
        <p:spPr>
          <a:xfrm>
            <a:off x="5029200" y="4030950"/>
            <a:ext cx="2133570" cy="838230"/>
          </a:xfrm>
          <a:prstGeom prst="roundRect">
            <a:avLst>
              <a:gd name="adj" fmla="val 10909"/>
            </a:avLst>
          </a:prstGeom>
          <a:solidFill>
            <a:srgbClr val="2A3441"/>
          </a:solidFill>
          <a:ln w="15240">
            <a:solidFill>
              <a:srgbClr val="8A94A3"/>
            </a:solidFill>
            <a:prstDash val="solid"/>
          </a:ln>
        </p:spPr>
      </p:sp>
      <p:sp>
        <p:nvSpPr>
          <p:cNvPr id="87" name="te-engines_86"/>
          <p:cNvSpPr/>
          <p:nvPr/>
        </p:nvSpPr>
        <p:spPr>
          <a:xfrm>
            <a:off x="5219670" y="4244370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80" h="411480">
                <a:moveTo>
                  <a:pt x="411480" y="205740"/>
                </a:moveTo>
                <a:lnTo>
                  <a:pt x="407640" y="246156"/>
                </a:lnTo>
                <a:lnTo>
                  <a:pt x="346740" y="264444"/>
                </a:lnTo>
                <a:lnTo>
                  <a:pt x="332202" y="290322"/>
                </a:lnTo>
                <a:lnTo>
                  <a:pt x="351312" y="351312"/>
                </a:lnTo>
                <a:lnTo>
                  <a:pt x="320040" y="376458"/>
                </a:lnTo>
                <a:lnTo>
                  <a:pt x="264444" y="346740"/>
                </a:lnTo>
                <a:lnTo>
                  <a:pt x="235458" y="355062"/>
                </a:lnTo>
                <a:lnTo>
                  <a:pt x="205740" y="411480"/>
                </a:lnTo>
                <a:lnTo>
                  <a:pt x="165324" y="407640"/>
                </a:lnTo>
                <a:lnTo>
                  <a:pt x="147036" y="346740"/>
                </a:lnTo>
                <a:lnTo>
                  <a:pt x="121158" y="332202"/>
                </a:lnTo>
                <a:lnTo>
                  <a:pt x="60168" y="351312"/>
                </a:lnTo>
                <a:lnTo>
                  <a:pt x="35022" y="320040"/>
                </a:lnTo>
                <a:lnTo>
                  <a:pt x="64740" y="264444"/>
                </a:lnTo>
                <a:lnTo>
                  <a:pt x="56418" y="235458"/>
                </a:lnTo>
                <a:lnTo>
                  <a:pt x="0" y="205740"/>
                </a:lnTo>
                <a:lnTo>
                  <a:pt x="3840" y="165324"/>
                </a:lnTo>
                <a:lnTo>
                  <a:pt x="64740" y="147036"/>
                </a:lnTo>
                <a:lnTo>
                  <a:pt x="79278" y="121158"/>
                </a:lnTo>
                <a:lnTo>
                  <a:pt x="60168" y="60168"/>
                </a:lnTo>
                <a:lnTo>
                  <a:pt x="91440" y="35022"/>
                </a:lnTo>
                <a:lnTo>
                  <a:pt x="147036" y="64740"/>
                </a:lnTo>
                <a:lnTo>
                  <a:pt x="176022" y="56418"/>
                </a:lnTo>
                <a:lnTo>
                  <a:pt x="205740" y="0"/>
                </a:lnTo>
                <a:lnTo>
                  <a:pt x="246156" y="3840"/>
                </a:lnTo>
                <a:lnTo>
                  <a:pt x="264444" y="64740"/>
                </a:lnTo>
                <a:lnTo>
                  <a:pt x="290322" y="79278"/>
                </a:lnTo>
                <a:lnTo>
                  <a:pt x="351312" y="60168"/>
                </a:lnTo>
                <a:lnTo>
                  <a:pt x="376458" y="91440"/>
                </a:lnTo>
                <a:lnTo>
                  <a:pt x="346740" y="147036"/>
                </a:lnTo>
                <a:lnTo>
                  <a:pt x="355062" y="176022"/>
                </a:lnTo>
                <a:close/>
              </a:path>
            </a:pathLst>
          </a:custGeom>
          <a:solidFill>
            <a:srgbClr val="C3CAD3"/>
          </a:solidFill>
          <a:ln/>
        </p:spPr>
      </p:sp>
      <p:sp>
        <p:nvSpPr>
          <p:cNvPr id="88" name="te-engines_87"/>
          <p:cNvSpPr/>
          <p:nvPr/>
        </p:nvSpPr>
        <p:spPr>
          <a:xfrm>
            <a:off x="5364510" y="4389120"/>
            <a:ext cx="121890" cy="121890"/>
          </a:xfrm>
          <a:prstGeom prst="ellipse">
            <a:avLst/>
          </a:prstGeom>
          <a:solidFill>
            <a:srgbClr val="2A3441"/>
          </a:solidFill>
          <a:ln/>
        </p:spPr>
      </p:sp>
      <p:sp>
        <p:nvSpPr>
          <p:cNvPr id="89" name="te-engines_88"/>
          <p:cNvSpPr txBox="1"/>
          <p:nvPr/>
        </p:nvSpPr>
        <p:spPr>
          <a:xfrm>
            <a:off x="5768218" y="4183380"/>
            <a:ext cx="1265164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RMBlast</a:t>
            </a:r>
            <a:endParaRPr lang="en-US" sz="2035" dirty="0"/>
          </a:p>
        </p:txBody>
      </p:sp>
      <p:sp>
        <p:nvSpPr>
          <p:cNvPr id="90" name="te-engines_89"/>
          <p:cNvSpPr txBox="1"/>
          <p:nvPr/>
        </p:nvSpPr>
        <p:spPr>
          <a:xfrm>
            <a:off x="5785317" y="4512930"/>
            <a:ext cx="1231057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dirty="0">
                <a:solidFill>
                  <a:srgbClr val="C3CA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(consensus)</a:t>
            </a:r>
            <a:endParaRPr lang="en-US" sz="1399" dirty="0"/>
          </a:p>
        </p:txBody>
      </p:sp>
      <p:sp>
        <p:nvSpPr>
          <p:cNvPr id="91" name="te-engines_90"/>
          <p:cNvSpPr/>
          <p:nvPr/>
        </p:nvSpPr>
        <p:spPr>
          <a:xfrm>
            <a:off x="1828800" y="4030950"/>
            <a:ext cx="2133570" cy="838230"/>
          </a:xfrm>
          <a:prstGeom prst="roundRect">
            <a:avLst>
              <a:gd name="adj" fmla="val 10909"/>
            </a:avLst>
          </a:prstGeom>
          <a:solidFill>
            <a:srgbClr val="2A3441"/>
          </a:solidFill>
          <a:ln w="15240">
            <a:solidFill>
              <a:srgbClr val="8A94A3"/>
            </a:solidFill>
            <a:prstDash val="solid"/>
          </a:ln>
        </p:spPr>
      </p:sp>
      <p:sp>
        <p:nvSpPr>
          <p:cNvPr id="92" name="te-engines_91"/>
          <p:cNvSpPr/>
          <p:nvPr/>
        </p:nvSpPr>
        <p:spPr>
          <a:xfrm>
            <a:off x="2019270" y="4244370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80" h="411480">
                <a:moveTo>
                  <a:pt x="411480" y="205740"/>
                </a:moveTo>
                <a:lnTo>
                  <a:pt x="407640" y="246156"/>
                </a:lnTo>
                <a:lnTo>
                  <a:pt x="346740" y="264444"/>
                </a:lnTo>
                <a:lnTo>
                  <a:pt x="332202" y="290322"/>
                </a:lnTo>
                <a:lnTo>
                  <a:pt x="351312" y="351312"/>
                </a:lnTo>
                <a:lnTo>
                  <a:pt x="320040" y="376458"/>
                </a:lnTo>
                <a:lnTo>
                  <a:pt x="264444" y="346740"/>
                </a:lnTo>
                <a:lnTo>
                  <a:pt x="235458" y="355062"/>
                </a:lnTo>
                <a:lnTo>
                  <a:pt x="205740" y="411480"/>
                </a:lnTo>
                <a:lnTo>
                  <a:pt x="165324" y="407640"/>
                </a:lnTo>
                <a:lnTo>
                  <a:pt x="147036" y="346740"/>
                </a:lnTo>
                <a:lnTo>
                  <a:pt x="121158" y="332202"/>
                </a:lnTo>
                <a:lnTo>
                  <a:pt x="60168" y="351312"/>
                </a:lnTo>
                <a:lnTo>
                  <a:pt x="35022" y="320040"/>
                </a:lnTo>
                <a:lnTo>
                  <a:pt x="64740" y="264444"/>
                </a:lnTo>
                <a:lnTo>
                  <a:pt x="56418" y="235458"/>
                </a:lnTo>
                <a:lnTo>
                  <a:pt x="0" y="205740"/>
                </a:lnTo>
                <a:lnTo>
                  <a:pt x="3840" y="165324"/>
                </a:lnTo>
                <a:lnTo>
                  <a:pt x="64740" y="147036"/>
                </a:lnTo>
                <a:lnTo>
                  <a:pt x="79278" y="121158"/>
                </a:lnTo>
                <a:lnTo>
                  <a:pt x="60168" y="60168"/>
                </a:lnTo>
                <a:lnTo>
                  <a:pt x="91440" y="35022"/>
                </a:lnTo>
                <a:lnTo>
                  <a:pt x="147036" y="64740"/>
                </a:lnTo>
                <a:lnTo>
                  <a:pt x="176022" y="56418"/>
                </a:lnTo>
                <a:lnTo>
                  <a:pt x="205740" y="0"/>
                </a:lnTo>
                <a:lnTo>
                  <a:pt x="246156" y="3840"/>
                </a:lnTo>
                <a:lnTo>
                  <a:pt x="264444" y="64740"/>
                </a:lnTo>
                <a:lnTo>
                  <a:pt x="290322" y="79278"/>
                </a:lnTo>
                <a:lnTo>
                  <a:pt x="351312" y="60168"/>
                </a:lnTo>
                <a:lnTo>
                  <a:pt x="376458" y="91440"/>
                </a:lnTo>
                <a:lnTo>
                  <a:pt x="346740" y="147036"/>
                </a:lnTo>
                <a:lnTo>
                  <a:pt x="355062" y="176022"/>
                </a:lnTo>
                <a:close/>
              </a:path>
            </a:pathLst>
          </a:custGeom>
          <a:solidFill>
            <a:srgbClr val="C3CAD3"/>
          </a:solidFill>
          <a:ln/>
        </p:spPr>
      </p:sp>
      <p:sp>
        <p:nvSpPr>
          <p:cNvPr id="93" name="te-engines_92"/>
          <p:cNvSpPr/>
          <p:nvPr/>
        </p:nvSpPr>
        <p:spPr>
          <a:xfrm>
            <a:off x="2164110" y="4389120"/>
            <a:ext cx="121890" cy="121890"/>
          </a:xfrm>
          <a:prstGeom prst="ellipse">
            <a:avLst/>
          </a:prstGeom>
          <a:solidFill>
            <a:srgbClr val="2A3441"/>
          </a:solidFill>
          <a:ln/>
        </p:spPr>
      </p:sp>
      <p:sp>
        <p:nvSpPr>
          <p:cNvPr id="94" name="te-engines_93"/>
          <p:cNvSpPr txBox="1"/>
          <p:nvPr/>
        </p:nvSpPr>
        <p:spPr>
          <a:xfrm>
            <a:off x="2589124" y="4183380"/>
            <a:ext cx="1222553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HMMER</a:t>
            </a:r>
            <a:endParaRPr lang="en-US" sz="2035" dirty="0"/>
          </a:p>
        </p:txBody>
      </p:sp>
      <p:sp>
        <p:nvSpPr>
          <p:cNvPr id="95" name="te-engines_94"/>
          <p:cNvSpPr txBox="1"/>
          <p:nvPr/>
        </p:nvSpPr>
        <p:spPr>
          <a:xfrm>
            <a:off x="2774564" y="4512930"/>
            <a:ext cx="851672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dirty="0">
                <a:solidFill>
                  <a:srgbClr val="C3CA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(pHMM)</a:t>
            </a:r>
            <a:endParaRPr lang="en-US" sz="1399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0" presetClass="pat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47500 0.00000 E" pathEditMode="relative" rAng="0" ptsTypes="AA">
                                      <p:cBhvr>
                                        <p:cTn id="156" dur="4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167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0" nodeType="withEffect">
                                  <p:stCondLst>
                                    <p:cond delay="1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6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5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167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6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xit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6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5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6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354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0" nodeType="withEffect">
                                  <p:stCondLst>
                                    <p:cond delay="35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6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5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354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6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453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xit" presetSubtype="0" fill="hold" grpId="0" nodeType="withEffect">
                                  <p:stCondLst>
                                    <p:cond delay="45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6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5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453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xit" presetSubtype="0" fill="hold" grpId="0" nodeType="withEffect">
                                  <p:stCondLst>
                                    <p:cond delay="5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5" dur="6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8" dur="6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1" dur="6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4" dur="6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7" dur="6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0" dur="6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3" dur="6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6" dur="6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7" presetID="0" presetClass="path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 L 0.26250 0.00000 E" pathEditMode="relative" rAng="0" ptsTypes="AA">
                                      <p:cBhvr>
                                        <p:cTn id="388" dur="9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9" presetID="0" presetClass="path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 L 0.26250 0.00000 E" pathEditMode="relative" rAng="0" ptsTypes="AA">
                                      <p:cBhvr>
                                        <p:cTn id="390" dur="9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1" presetID="0" presetClass="path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 L 0.26250 0.00000 E" pathEditMode="relative" rAng="0" ptsTypes="AA">
                                      <p:cBhvr>
                                        <p:cTn id="392" dur="9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3" presetID="0" presetClass="path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 L 0.26250 0.00000 E" pathEditMode="relative" rAng="0" ptsTypes="AA">
                                      <p:cBhvr>
                                        <p:cTn id="394" dur="9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5" presetID="0" presetClass="path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 L 0.26250 0.00000 E" pathEditMode="relative" rAng="0" ptsTypes="AA">
                                      <p:cBhvr>
                                        <p:cTn id="396" dur="9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7" presetID="10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10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0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10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0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2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4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5" presetID="0" presetClass="path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0 0 L 0.26250 0.00000 E" pathEditMode="relative" rAng="0" ptsTypes="AA">
                                      <p:cBhvr>
                                        <p:cTn id="416" dur="9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7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9"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0" presetID="0" presetClass="path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0 0 L 0.26250 0.00000 E" pathEditMode="relative" rAng="0" ptsTypes="AA">
                                      <p:cBhvr>
                                        <p:cTn id="421" dur="9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2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4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0" presetClass="path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0 0 L 0.26250 0.00000 E" pathEditMode="relative" rAng="0" ptsTypes="AA">
                                      <p:cBhvr>
                                        <p:cTn id="426" dur="9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7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presetID="0" presetClass="path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0 0 L 0.26250 0.00000 E" pathEditMode="relative" rAng="0" ptsTypes="AA">
                                      <p:cBhvr>
                                        <p:cTn id="431" dur="9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2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4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5" presetID="0" presetClass="path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0 0 L 0.26250 0.00000 E" pathEditMode="relative" rAng="0" ptsTypes="AA">
                                      <p:cBhvr>
                                        <p:cTn id="436" dur="9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7" fill="hold">
                      <p:stCondLst>
                        <p:cond delay="indefinite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id="43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7" dur="6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6" presetClass="emp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449" dur="900" fill="hold"/>
                                        <p:tgtEl>
                                          <p:spTgt spid="75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450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-0.20625 0.00000 E" pathEditMode="relative" rAng="0" ptsTypes="AA">
                                      <p:cBhvr>
                                        <p:cTn id="451" dur="9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2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0 0.00000 E" pathEditMode="relative" rAng="0" ptsTypes="AA">
                                      <p:cBhvr>
                                        <p:cTn id="453" dur="9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6" dur="6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7" presetID="6" presetClass="emp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458" dur="900" fill="hold"/>
                                        <p:tgtEl>
                                          <p:spTgt spid="76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459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-0.20625 0.00000 E" pathEditMode="relative" rAng="0" ptsTypes="AA">
                                      <p:cBhvr>
                                        <p:cTn id="460" dur="9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1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-0.00002 0.01867 E" pathEditMode="relative" rAng="0" ptsTypes="AA">
                                      <p:cBhvr>
                                        <p:cTn id="462" dur="9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5" dur="6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presetID="6" presetClass="emp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467" dur="900" fill="hold"/>
                                        <p:tgtEl>
                                          <p:spTgt spid="77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468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-0.20625 0.00000 E" pathEditMode="relative" rAng="0" ptsTypes="AA">
                                      <p:cBhvr>
                                        <p:cTn id="469" dur="9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0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0 -0.00533 E" pathEditMode="relative" rAng="0" ptsTypes="AA">
                                      <p:cBhvr>
                                        <p:cTn id="471" dur="9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4" dur="6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5" presetID="6" presetClass="emp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476" dur="900" fill="hold"/>
                                        <p:tgtEl>
                                          <p:spTgt spid="78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477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-0.20625 0.00000 E" pathEditMode="relative" rAng="0" ptsTypes="AA">
                                      <p:cBhvr>
                                        <p:cTn id="478" dur="9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9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0 -0.00533 E" pathEditMode="relative" rAng="0" ptsTypes="AA">
                                      <p:cBhvr>
                                        <p:cTn id="480" dur="9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6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6" presetClass="emp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485" dur="900" fill="hold"/>
                                        <p:tgtEl>
                                          <p:spTgt spid="79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486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-0.20625 0.00000 E" pathEditMode="relative" rAng="0" ptsTypes="AA">
                                      <p:cBhvr>
                                        <p:cTn id="487" dur="9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8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1100 -0.00533 E" pathEditMode="relative" rAng="0" ptsTypes="AA">
                                      <p:cBhvr>
                                        <p:cTn id="489" dur="9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2" dur="6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3" presetID="6" presetClass="emp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494" dur="900" fill="hold"/>
                                        <p:tgtEl>
                                          <p:spTgt spid="80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495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-0.20625 0.00000 E" pathEditMode="relative" rAng="0" ptsTypes="AA">
                                      <p:cBhvr>
                                        <p:cTn id="496" dur="9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7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1100 -0.00533 E" pathEditMode="relative" rAng="0" ptsTypes="AA">
                                      <p:cBhvr>
                                        <p:cTn id="498" dur="9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1" dur="6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2" presetID="6" presetClass="emp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503" dur="900" fill="hold"/>
                                        <p:tgtEl>
                                          <p:spTgt spid="81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504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-0.20625 0.00000 E" pathEditMode="relative" rAng="0" ptsTypes="AA">
                                      <p:cBhvr>
                                        <p:cTn id="505" dur="9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6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-0.00500 -0.00200 E" pathEditMode="relative" rAng="0" ptsTypes="AA">
                                      <p:cBhvr>
                                        <p:cTn id="507" dur="9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0" dur="6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1" presetID="6" presetClass="emp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512" dur="900" fill="hold"/>
                                        <p:tgtEl>
                                          <p:spTgt spid="82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513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-0.20625 0.00000 E" pathEditMode="relative" rAng="0" ptsTypes="AA">
                                      <p:cBhvr>
                                        <p:cTn id="514" dur="9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5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-0.00500 -0.01022 E" pathEditMode="relative" rAng="0" ptsTypes="AA">
                                      <p:cBhvr>
                                        <p:cTn id="516" dur="9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7" presetID="6" presetClass="emp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518" dur="900" fill="hold"/>
                                        <p:tgtEl>
                                          <p:spTgt spid="8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519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20625 0.00000 E" pathEditMode="relative" rAng="0" ptsTypes="AA">
                                      <p:cBhvr>
                                        <p:cTn id="520" dur="9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1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0 0.00000 E" pathEditMode="relative" rAng="0" ptsTypes="AA">
                                      <p:cBhvr>
                                        <p:cTn id="522" dur="9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3" presetID="6" presetClass="emp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524" dur="900" fill="hold"/>
                                        <p:tgtEl>
                                          <p:spTgt spid="84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525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20625 0.00000 E" pathEditMode="relative" rAng="0" ptsTypes="AA">
                                      <p:cBhvr>
                                        <p:cTn id="526" dur="9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7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0 0.01867 E" pathEditMode="relative" rAng="0" ptsTypes="AA">
                                      <p:cBhvr>
                                        <p:cTn id="528" dur="9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9" presetID="6" presetClass="emp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530" dur="900" fill="hold"/>
                                        <p:tgtEl>
                                          <p:spTgt spid="85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531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20625 0.00000 E" pathEditMode="relative" rAng="0" ptsTypes="AA">
                                      <p:cBhvr>
                                        <p:cTn id="532" dur="9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3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0 -0.00533 E" pathEditMode="relative" rAng="0" ptsTypes="AA">
                                      <p:cBhvr>
                                        <p:cTn id="534" dur="9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5" presetID="6" presetClass="emp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536" dur="900" fill="hold"/>
                                        <p:tgtEl>
                                          <p:spTgt spid="86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537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20625 0.00000 E" pathEditMode="relative" rAng="0" ptsTypes="AA">
                                      <p:cBhvr>
                                        <p:cTn id="538" dur="9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9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0 -0.00533 E" pathEditMode="relative" rAng="0" ptsTypes="AA">
                                      <p:cBhvr>
                                        <p:cTn id="540" dur="9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1" presetID="6" presetClass="emp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542" dur="900" fill="hold"/>
                                        <p:tgtEl>
                                          <p:spTgt spid="87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543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20625 0.00000 E" pathEditMode="relative" rAng="0" ptsTypes="AA">
                                      <p:cBhvr>
                                        <p:cTn id="544" dur="9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5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1100 -0.00533 E" pathEditMode="relative" rAng="0" ptsTypes="AA">
                                      <p:cBhvr>
                                        <p:cTn id="546" dur="9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7" presetID="6" presetClass="emp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548" dur="900" fill="hold"/>
                                        <p:tgtEl>
                                          <p:spTgt spid="88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549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20625 0.00000 E" pathEditMode="relative" rAng="0" ptsTypes="AA">
                                      <p:cBhvr>
                                        <p:cTn id="550" dur="9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1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1100 -0.00533 E" pathEditMode="relative" rAng="0" ptsTypes="AA">
                                      <p:cBhvr>
                                        <p:cTn id="552" dur="9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3" presetID="6" presetClass="emp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554" dur="900" fill="hold"/>
                                        <p:tgtEl>
                                          <p:spTgt spid="89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555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20625 0.00000 E" pathEditMode="relative" rAng="0" ptsTypes="AA">
                                      <p:cBhvr>
                                        <p:cTn id="556" dur="9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7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-0.00500 -0.00200 E" pathEditMode="relative" rAng="0" ptsTypes="AA">
                                      <p:cBhvr>
                                        <p:cTn id="558" dur="9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9" presetID="6" presetClass="emp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560" dur="900" fill="hold"/>
                                        <p:tgtEl>
                                          <p:spTgt spid="90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561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20625 0.00000 E" pathEditMode="relative" rAng="0" ptsTypes="AA">
                                      <p:cBhvr>
                                        <p:cTn id="562" dur="9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3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-0.00500 -0.01022 E" pathEditMode="relative" rAng="0" ptsTypes="AA">
                                      <p:cBhvr>
                                        <p:cTn id="564" dur="9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5" presetID="6" presetClass="emp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566" dur="900" fill="hold"/>
                                        <p:tgtEl>
                                          <p:spTgt spid="91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567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20625 0.00000 E" pathEditMode="relative" rAng="0" ptsTypes="AA">
                                      <p:cBhvr>
                                        <p:cTn id="568" dur="9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9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0 -0.00533 E" pathEditMode="relative" rAng="0" ptsTypes="AA">
                                      <p:cBhvr>
                                        <p:cTn id="570" dur="9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1" presetID="6" presetClass="emp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572" dur="900" fill="hold"/>
                                        <p:tgtEl>
                                          <p:spTgt spid="92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573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20625 0.00000 E" pathEditMode="relative" rAng="0" ptsTypes="AA">
                                      <p:cBhvr>
                                        <p:cTn id="574" dur="9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5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1100 -0.00533 E" pathEditMode="relative" rAng="0" ptsTypes="AA">
                                      <p:cBhvr>
                                        <p:cTn id="576" dur="9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7" presetID="6" presetClass="emp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578" dur="900" fill="hold"/>
                                        <p:tgtEl>
                                          <p:spTgt spid="9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579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20625 0.00000 E" pathEditMode="relative" rAng="0" ptsTypes="AA">
                                      <p:cBhvr>
                                        <p:cTn id="580" dur="9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1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1100 -0.00533 E" pathEditMode="relative" rAng="0" ptsTypes="AA">
                                      <p:cBhvr>
                                        <p:cTn id="582" dur="9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3" presetID="6" presetClass="emp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584" dur="900" fill="hold"/>
                                        <p:tgtEl>
                                          <p:spTgt spid="94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585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20625 0.00000 E" pathEditMode="relative" rAng="0" ptsTypes="AA">
                                      <p:cBhvr>
                                        <p:cTn id="586" dur="9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7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-0.00500 -0.00200 E" pathEditMode="relative" rAng="0" ptsTypes="AA">
                                      <p:cBhvr>
                                        <p:cTn id="588" dur="9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9" presetID="6" presetClass="emp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590" dur="900" fill="hold"/>
                                        <p:tgtEl>
                                          <p:spTgt spid="95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591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20625 0.00000 E" pathEditMode="relative" rAng="0" ptsTypes="AA">
                                      <p:cBhvr>
                                        <p:cTn id="592" dur="9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3" presetID="0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-0.00500 -0.01022 E" pathEditMode="relative" rAng="0" ptsTypes="AA">
                                      <p:cBhvr>
                                        <p:cTn id="594" dur="9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6" dur="6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7" presetID="6" presetClass="emph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608" dur="900" fill="hold"/>
                                        <p:tgtEl>
                                          <p:spTgt spid="67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609" presetID="0" presetClass="path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 L -0.20625 0.18889 E" pathEditMode="relative" rAng="0" ptsTypes="AA">
                                      <p:cBhvr>
                                        <p:cTn id="610" dur="9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1" presetID="0" presetClass="path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 L 0.00000 0.00000 E" pathEditMode="relative" rAng="0" ptsTypes="AA">
                                      <p:cBhvr>
                                        <p:cTn id="612" dur="9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3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5" dur="6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6" presetID="6" presetClass="emph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617" dur="900" fill="hold"/>
                                        <p:tgtEl>
                                          <p:spTgt spid="68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618" presetID="0" presetClass="path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 L -0.20625 0.18889 E" pathEditMode="relative" rAng="0" ptsTypes="AA">
                                      <p:cBhvr>
                                        <p:cTn id="619" dur="9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20" presetID="0" presetClass="path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 L -0.00000 0.02022 E" pathEditMode="relative" rAng="0" ptsTypes="AA">
                                      <p:cBhvr>
                                        <p:cTn id="621" dur="9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22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4" dur="6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5" presetID="6" presetClass="emph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626" dur="900" fill="hold"/>
                                        <p:tgtEl>
                                          <p:spTgt spid="69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627" presetID="0" presetClass="path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 L -0.20625 0.18889 E" pathEditMode="relative" rAng="0" ptsTypes="AA">
                                      <p:cBhvr>
                                        <p:cTn id="628" dur="9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29" presetID="0" presetClass="path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 L -0.00000 -0.01444 E" pathEditMode="relative" rAng="0" ptsTypes="AA">
                                      <p:cBhvr>
                                        <p:cTn id="630" dur="9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3" dur="6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4" presetID="6" presetClass="emph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635" dur="900" fill="hold"/>
                                        <p:tgtEl>
                                          <p:spTgt spid="70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636" presetID="0" presetClass="path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 L 0.20625 0.18889 E" pathEditMode="relative" rAng="0" ptsTypes="AA">
                                      <p:cBhvr>
                                        <p:cTn id="637" dur="9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8" presetID="0" presetClass="path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 L 0.00000 0.00000 E" pathEditMode="relative" rAng="0" ptsTypes="AA">
                                      <p:cBhvr>
                                        <p:cTn id="639" dur="9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40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2" dur="6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3" presetID="6" presetClass="emph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644" dur="900" fill="hold"/>
                                        <p:tgtEl>
                                          <p:spTgt spid="71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645" presetID="0" presetClass="path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 L 0.20625 0.18889 E" pathEditMode="relative" rAng="0" ptsTypes="AA">
                                      <p:cBhvr>
                                        <p:cTn id="646" dur="9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47" presetID="0" presetClass="path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 L -0.00000 0.02022 E" pathEditMode="relative" rAng="0" ptsTypes="AA">
                                      <p:cBhvr>
                                        <p:cTn id="648" dur="9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49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1" dur="6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2" presetID="6" presetClass="emph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653" dur="900" fill="hold"/>
                                        <p:tgtEl>
                                          <p:spTgt spid="72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654" presetID="0" presetClass="path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 L 0.20625 0.18889 E" pathEditMode="relative" rAng="0" ptsTypes="AA">
                                      <p:cBhvr>
                                        <p:cTn id="655" dur="9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6" presetID="0" presetClass="path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 L -0.00000 -0.01444 E" pathEditMode="relative" rAng="0" ptsTypes="AA">
                                      <p:cBhvr>
                                        <p:cTn id="657" dur="9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8" presetID="10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9" dur="2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1" presetID="10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2" dur="2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4" presetID="10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5" dur="2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10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8" dur="2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0" presetID="10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1" dur="2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3" presetID="10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4" dur="2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6" fill="hold">
                      <p:stCondLst>
                        <p:cond delay="indefinite"/>
                      </p:stCondLst>
                      <p:childTnLst>
                        <p:par>
                          <p:cTn id="677" fill="hold">
                            <p:stCondLst>
                              <p:cond delay="0"/>
                            </p:stCondLst>
                            <p:childTnLst>
                              <p:par>
                                <p:cTn id="67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9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2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5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3" presetID="6" presetClass="emp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694" dur="900" fill="hold"/>
                                        <p:tgtEl>
                                          <p:spTgt spid="75"/>
                                        </p:tgtEl>
                                      </p:cBhvr>
                                      <p:by x="56250" y="56250"/>
                                    </p:animScale>
                                  </p:childTnLst>
                                </p:cTn>
                              </p:par>
                              <p:par>
                                <p:cTn id="695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16875 -0.01667 E" pathEditMode="relative" rAng="0" ptsTypes="AA">
                                      <p:cBhvr>
                                        <p:cTn id="696" dur="9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7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0 0.00000 E" pathEditMode="relative" rAng="0" ptsTypes="AA">
                                      <p:cBhvr>
                                        <p:cTn id="698" dur="9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9" presetID="6" presetClass="emp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700" dur="900" fill="hold"/>
                                        <p:tgtEl>
                                          <p:spTgt spid="76"/>
                                        </p:tgtEl>
                                      </p:cBhvr>
                                      <p:by x="56250" y="56250"/>
                                    </p:animScale>
                                  </p:childTnLst>
                                </p:cTn>
                              </p:par>
                              <p:par>
                                <p:cTn id="701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16875 -0.01667 E" pathEditMode="relative" rAng="0" ptsTypes="AA">
                                      <p:cBhvr>
                                        <p:cTn id="702" dur="9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3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00003 0.03267 E" pathEditMode="relative" rAng="0" ptsTypes="AA">
                                      <p:cBhvr>
                                        <p:cTn id="704" dur="9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5" presetID="6" presetClass="emp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706" dur="900" fill="hold"/>
                                        <p:tgtEl>
                                          <p:spTgt spid="77"/>
                                        </p:tgtEl>
                                      </p:cBhvr>
                                      <p:by x="56250" y="56250"/>
                                    </p:animScale>
                                  </p:childTnLst>
                                </p:cTn>
                              </p:par>
                              <p:par>
                                <p:cTn id="707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16875 -0.01667 E" pathEditMode="relative" rAng="0" ptsTypes="AA">
                                      <p:cBhvr>
                                        <p:cTn id="708" dur="9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9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0 -0.00933 E" pathEditMode="relative" rAng="0" ptsTypes="AA">
                                      <p:cBhvr>
                                        <p:cTn id="710" dur="9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11" presetID="6" presetClass="emp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712" dur="900" fill="hold"/>
                                        <p:tgtEl>
                                          <p:spTgt spid="78"/>
                                        </p:tgtEl>
                                      </p:cBhvr>
                                      <p:by x="56250" y="56250"/>
                                    </p:animScale>
                                  </p:childTnLst>
                                </p:cTn>
                              </p:par>
                              <p:par>
                                <p:cTn id="713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16875 -0.01667 E" pathEditMode="relative" rAng="0" ptsTypes="AA">
                                      <p:cBhvr>
                                        <p:cTn id="714" dur="9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15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0 -0.00933 E" pathEditMode="relative" rAng="0" ptsTypes="AA">
                                      <p:cBhvr>
                                        <p:cTn id="716" dur="9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17" presetID="6" presetClass="emp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718" dur="900" fill="hold"/>
                                        <p:tgtEl>
                                          <p:spTgt spid="79"/>
                                        </p:tgtEl>
                                      </p:cBhvr>
                                      <p:by x="56250" y="56250"/>
                                    </p:animScale>
                                  </p:childTnLst>
                                </p:cTn>
                              </p:par>
                              <p:par>
                                <p:cTn id="719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16875 -0.01667 E" pathEditMode="relative" rAng="0" ptsTypes="AA">
                                      <p:cBhvr>
                                        <p:cTn id="720" dur="9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1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1925 -0.00933 E" pathEditMode="relative" rAng="0" ptsTypes="AA">
                                      <p:cBhvr>
                                        <p:cTn id="722" dur="9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3" presetID="6" presetClass="emp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724" dur="900" fill="hold"/>
                                        <p:tgtEl>
                                          <p:spTgt spid="80"/>
                                        </p:tgtEl>
                                      </p:cBhvr>
                                      <p:by x="56250" y="56250"/>
                                    </p:animScale>
                                  </p:childTnLst>
                                </p:cTn>
                              </p:par>
                              <p:par>
                                <p:cTn id="725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16875 -0.01667 E" pathEditMode="relative" rAng="0" ptsTypes="AA">
                                      <p:cBhvr>
                                        <p:cTn id="726" dur="9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7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1925 -0.00933 E" pathEditMode="relative" rAng="0" ptsTypes="AA">
                                      <p:cBhvr>
                                        <p:cTn id="728" dur="9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9" presetID="6" presetClass="emp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730" dur="900" fill="hold"/>
                                        <p:tgtEl>
                                          <p:spTgt spid="81"/>
                                        </p:tgtEl>
                                      </p:cBhvr>
                                      <p:by x="56250" y="56250"/>
                                    </p:animScale>
                                  </p:childTnLst>
                                </p:cTn>
                              </p:par>
                              <p:par>
                                <p:cTn id="731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16875 -0.01667 E" pathEditMode="relative" rAng="0" ptsTypes="AA">
                                      <p:cBhvr>
                                        <p:cTn id="732" dur="9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3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00875 -0.00350 E" pathEditMode="relative" rAng="0" ptsTypes="AA">
                                      <p:cBhvr>
                                        <p:cTn id="734" dur="9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5" presetID="6" presetClass="emp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736" dur="900" fill="hold"/>
                                        <p:tgtEl>
                                          <p:spTgt spid="82"/>
                                        </p:tgtEl>
                                      </p:cBhvr>
                                      <p:by x="56250" y="56250"/>
                                    </p:animScale>
                                  </p:childTnLst>
                                </p:cTn>
                              </p:par>
                              <p:par>
                                <p:cTn id="737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16875 -0.01667 E" pathEditMode="relative" rAng="0" ptsTypes="AA">
                                      <p:cBhvr>
                                        <p:cTn id="738" dur="9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9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00875 -0.01789 E" pathEditMode="relative" rAng="0" ptsTypes="AA">
                                      <p:cBhvr>
                                        <p:cTn id="740" dur="9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1" presetID="6" presetClass="emp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742" dur="900" fill="hold"/>
                                        <p:tgtEl>
                                          <p:spTgt spid="83"/>
                                        </p:tgtEl>
                                      </p:cBhvr>
                                      <p:by x="56250" y="56250"/>
                                    </p:animScale>
                                  </p:childTnLst>
                                </p:cTn>
                              </p:par>
                              <p:par>
                                <p:cTn id="743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58125 0.19444 E" pathEditMode="relative" rAng="0" ptsTypes="AA">
                                      <p:cBhvr>
                                        <p:cTn id="744" dur="9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5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0 0.00000 E" pathEditMode="relative" rAng="0" ptsTypes="AA">
                                      <p:cBhvr>
                                        <p:cTn id="746" dur="9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7" presetID="6" presetClass="emp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748" dur="900" fill="hold"/>
                                        <p:tgtEl>
                                          <p:spTgt spid="84"/>
                                        </p:tgtEl>
                                      </p:cBhvr>
                                      <p:by x="56250" y="56250"/>
                                    </p:animScale>
                                  </p:childTnLst>
                                </p:cTn>
                              </p:par>
                              <p:par>
                                <p:cTn id="749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58125 0.19444 E" pathEditMode="relative" rAng="0" ptsTypes="AA">
                                      <p:cBhvr>
                                        <p:cTn id="750" dur="9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51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0 0.03267 E" pathEditMode="relative" rAng="0" ptsTypes="AA">
                                      <p:cBhvr>
                                        <p:cTn id="752" dur="9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53" presetID="6" presetClass="emp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754" dur="900" fill="hold"/>
                                        <p:tgtEl>
                                          <p:spTgt spid="85"/>
                                        </p:tgtEl>
                                      </p:cBhvr>
                                      <p:by x="56250" y="56250"/>
                                    </p:animScale>
                                  </p:childTnLst>
                                </p:cTn>
                              </p:par>
                              <p:par>
                                <p:cTn id="755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58125 0.19444 E" pathEditMode="relative" rAng="0" ptsTypes="AA">
                                      <p:cBhvr>
                                        <p:cTn id="756" dur="9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57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0 -0.00933 E" pathEditMode="relative" rAng="0" ptsTypes="AA">
                                      <p:cBhvr>
                                        <p:cTn id="758" dur="9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59" presetID="6" presetClass="emp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760" dur="900" fill="hold"/>
                                        <p:tgtEl>
                                          <p:spTgt spid="86"/>
                                        </p:tgtEl>
                                      </p:cBhvr>
                                      <p:by x="56250" y="56250"/>
                                    </p:animScale>
                                  </p:childTnLst>
                                </p:cTn>
                              </p:par>
                              <p:par>
                                <p:cTn id="761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58125 0.19444 E" pathEditMode="relative" rAng="0" ptsTypes="AA">
                                      <p:cBhvr>
                                        <p:cTn id="762" dur="9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3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0 -0.00933 E" pathEditMode="relative" rAng="0" ptsTypes="AA">
                                      <p:cBhvr>
                                        <p:cTn id="764" dur="9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5" presetID="6" presetClass="emp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766" dur="900" fill="hold"/>
                                        <p:tgtEl>
                                          <p:spTgt spid="87"/>
                                        </p:tgtEl>
                                      </p:cBhvr>
                                      <p:by x="56250" y="56250"/>
                                    </p:animScale>
                                  </p:childTnLst>
                                </p:cTn>
                              </p:par>
                              <p:par>
                                <p:cTn id="767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58125 0.19444 E" pathEditMode="relative" rAng="0" ptsTypes="AA">
                                      <p:cBhvr>
                                        <p:cTn id="768" dur="9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9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1925 -0.00933 E" pathEditMode="relative" rAng="0" ptsTypes="AA">
                                      <p:cBhvr>
                                        <p:cTn id="770" dur="9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1" presetID="6" presetClass="emp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772" dur="900" fill="hold"/>
                                        <p:tgtEl>
                                          <p:spTgt spid="88"/>
                                        </p:tgtEl>
                                      </p:cBhvr>
                                      <p:by x="56250" y="56250"/>
                                    </p:animScale>
                                  </p:childTnLst>
                                </p:cTn>
                              </p:par>
                              <p:par>
                                <p:cTn id="773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58125 0.19444 E" pathEditMode="relative" rAng="0" ptsTypes="AA">
                                      <p:cBhvr>
                                        <p:cTn id="774" dur="9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5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1925 -0.00933 E" pathEditMode="relative" rAng="0" ptsTypes="AA">
                                      <p:cBhvr>
                                        <p:cTn id="776" dur="9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7" presetID="6" presetClass="emp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778" dur="900" fill="hold"/>
                                        <p:tgtEl>
                                          <p:spTgt spid="89"/>
                                        </p:tgtEl>
                                      </p:cBhvr>
                                      <p:by x="56250" y="56250"/>
                                    </p:animScale>
                                  </p:childTnLst>
                                </p:cTn>
                              </p:par>
                              <p:par>
                                <p:cTn id="779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58125 0.19444 E" pathEditMode="relative" rAng="0" ptsTypes="AA">
                                      <p:cBhvr>
                                        <p:cTn id="780" dur="9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1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00875 -0.00350 E" pathEditMode="relative" rAng="0" ptsTypes="AA">
                                      <p:cBhvr>
                                        <p:cTn id="782" dur="9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3" presetID="6" presetClass="emp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784" dur="900" fill="hold"/>
                                        <p:tgtEl>
                                          <p:spTgt spid="90"/>
                                        </p:tgtEl>
                                      </p:cBhvr>
                                      <p:by x="56250" y="56250"/>
                                    </p:animScale>
                                  </p:childTnLst>
                                </p:cTn>
                              </p:par>
                              <p:par>
                                <p:cTn id="785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58125 0.19444 E" pathEditMode="relative" rAng="0" ptsTypes="AA">
                                      <p:cBhvr>
                                        <p:cTn id="786" dur="9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7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00875 -0.01789 E" pathEditMode="relative" rAng="0" ptsTypes="AA">
                                      <p:cBhvr>
                                        <p:cTn id="788" dur="9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9" presetID="6" presetClass="emp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790" dur="900" fill="hold"/>
                                        <p:tgtEl>
                                          <p:spTgt spid="91"/>
                                        </p:tgtEl>
                                      </p:cBhvr>
                                      <p:by x="56250" y="56250"/>
                                    </p:animScale>
                                  </p:childTnLst>
                                </p:cTn>
                              </p:par>
                              <p:par>
                                <p:cTn id="791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58125 0.19444 E" pathEditMode="relative" rAng="0" ptsTypes="AA">
                                      <p:cBhvr>
                                        <p:cTn id="792" dur="9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3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0 -0.00933 E" pathEditMode="relative" rAng="0" ptsTypes="AA">
                                      <p:cBhvr>
                                        <p:cTn id="794" dur="9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5" presetID="6" presetClass="emp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796" dur="900" fill="hold"/>
                                        <p:tgtEl>
                                          <p:spTgt spid="92"/>
                                        </p:tgtEl>
                                      </p:cBhvr>
                                      <p:by x="56250" y="56250"/>
                                    </p:animScale>
                                  </p:childTnLst>
                                </p:cTn>
                              </p:par>
                              <p:par>
                                <p:cTn id="797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58125 0.19444 E" pathEditMode="relative" rAng="0" ptsTypes="AA">
                                      <p:cBhvr>
                                        <p:cTn id="798" dur="9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9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1925 -0.00933 E" pathEditMode="relative" rAng="0" ptsTypes="AA">
                                      <p:cBhvr>
                                        <p:cTn id="800" dur="9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1" presetID="6" presetClass="emp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802" dur="900" fill="hold"/>
                                        <p:tgtEl>
                                          <p:spTgt spid="93"/>
                                        </p:tgtEl>
                                      </p:cBhvr>
                                      <p:by x="56250" y="56250"/>
                                    </p:animScale>
                                  </p:childTnLst>
                                </p:cTn>
                              </p:par>
                              <p:par>
                                <p:cTn id="803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58125 0.19444 E" pathEditMode="relative" rAng="0" ptsTypes="AA">
                                      <p:cBhvr>
                                        <p:cTn id="804" dur="9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5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1925 -0.00933 E" pathEditMode="relative" rAng="0" ptsTypes="AA">
                                      <p:cBhvr>
                                        <p:cTn id="806" dur="9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7" presetID="6" presetClass="emp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808" dur="900" fill="hold"/>
                                        <p:tgtEl>
                                          <p:spTgt spid="94"/>
                                        </p:tgtEl>
                                      </p:cBhvr>
                                      <p:by x="56250" y="56250"/>
                                    </p:animScale>
                                  </p:childTnLst>
                                </p:cTn>
                              </p:par>
                              <p:par>
                                <p:cTn id="809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58125 0.19444 E" pathEditMode="relative" rAng="0" ptsTypes="AA">
                                      <p:cBhvr>
                                        <p:cTn id="810" dur="9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11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00875 -0.00350 E" pathEditMode="relative" rAng="0" ptsTypes="AA">
                                      <p:cBhvr>
                                        <p:cTn id="812" dur="9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13" presetID="6" presetClass="emp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814" dur="900" fill="hold"/>
                                        <p:tgtEl>
                                          <p:spTgt spid="95"/>
                                        </p:tgtEl>
                                      </p:cBhvr>
                                      <p:by x="56250" y="56250"/>
                                    </p:animScale>
                                  </p:childTnLst>
                                </p:cTn>
                              </p:par>
                              <p:par>
                                <p:cTn id="815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58125 0.19444 E" pathEditMode="relative" rAng="0" ptsTypes="AA">
                                      <p:cBhvr>
                                        <p:cTn id="816" dur="9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17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00875 -0.01789 E" pathEditMode="relative" rAng="0" ptsTypes="AA">
                                      <p:cBhvr>
                                        <p:cTn id="818" dur="9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19" presetID="0" presetClass="path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75000 0.00000 E" pathEditMode="relative" rAng="0" ptsTypes="AA">
                                      <p:cBhvr>
                                        <p:cTn id="820" dur="42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1" presetID="0" presetClass="path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75000 0.00000 E" pathEditMode="relative" rAng="0" ptsTypes="AA">
                                      <p:cBhvr>
                                        <p:cTn id="822" dur="42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3" presetID="0" presetClass="path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75000 0.00000 E" pathEditMode="relative" rAng="0" ptsTypes="AA">
                                      <p:cBhvr>
                                        <p:cTn id="824" dur="42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5" presetID="0" presetClass="path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75000 0.00000 E" pathEditMode="relative" rAng="0" ptsTypes="AA">
                                      <p:cBhvr>
                                        <p:cTn id="826" dur="42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7" presetID="0" presetClass="path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75000 0.00000 E" pathEditMode="relative" rAng="0" ptsTypes="AA">
                                      <p:cBhvr>
                                        <p:cTn id="828" dur="42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9" presetID="0" presetClass="path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75000 0.00000 E" pathEditMode="relative" rAng="0" ptsTypes="AA">
                                      <p:cBhvr>
                                        <p:cTn id="830" dur="42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31" presetID="0" presetClass="path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75000 0.00000 E" pathEditMode="relative" rAng="0" ptsTypes="AA">
                                      <p:cBhvr>
                                        <p:cTn id="832" dur="42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33" presetID="0" presetClass="path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75000 0.00000 E" pathEditMode="relative" rAng="0" ptsTypes="AA">
                                      <p:cBhvr>
                                        <p:cTn id="834" dur="42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35" presetID="0" presetClass="path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75000 0.00000 E" pathEditMode="relative" rAng="0" ptsTypes="AA">
                                      <p:cBhvr>
                                        <p:cTn id="836" dur="42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37" presetID="0" presetClass="path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75000 0.00000 E" pathEditMode="relative" rAng="0" ptsTypes="AA">
                                      <p:cBhvr>
                                        <p:cTn id="838" dur="42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39" presetID="0" presetClass="path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75000 0.00000 E" pathEditMode="relative" rAng="0" ptsTypes="AA">
                                      <p:cBhvr>
                                        <p:cTn id="840" dur="42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1" presetID="0" presetClass="path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75000 0.00000 E" pathEditMode="relative" rAng="0" ptsTypes="AA">
                                      <p:cBhvr>
                                        <p:cTn id="842" dur="42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3" presetID="0" presetClass="path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75000 0.00000 E" pathEditMode="relative" rAng="0" ptsTypes="AA">
                                      <p:cBhvr>
                                        <p:cTn id="844" dur="42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5" presetID="0" presetClass="path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75000 0.00000 E" pathEditMode="relative" rAng="0" ptsTypes="AA">
                                      <p:cBhvr>
                                        <p:cTn id="846" dur="42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7" presetID="0" presetClass="path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75000 0.00000 E" pathEditMode="relative" rAng="0" ptsTypes="AA">
                                      <p:cBhvr>
                                        <p:cTn id="848" dur="42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9" presetID="0" presetClass="path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75000 0.00000 E" pathEditMode="relative" rAng="0" ptsTypes="AA">
                                      <p:cBhvr>
                                        <p:cTn id="850" dur="42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51" presetID="0" presetClass="path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75000 0.00000 E" pathEditMode="relative" rAng="0" ptsTypes="AA">
                                      <p:cBhvr>
                                        <p:cTn id="852" dur="42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53" presetID="0" presetClass="path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75000 0.00000 E" pathEditMode="relative" rAng="0" ptsTypes="AA">
                                      <p:cBhvr>
                                        <p:cTn id="854" dur="42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55" presetID="0" presetClass="path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75000 0.00000 E" pathEditMode="relative" rAng="0" ptsTypes="AA">
                                      <p:cBhvr>
                                        <p:cTn id="856" dur="42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57" presetID="0" presetClass="path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75000 0.00000 E" pathEditMode="relative" rAng="0" ptsTypes="AA">
                                      <p:cBhvr>
                                        <p:cTn id="858" dur="42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59" presetID="0" presetClass="path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75000 0.00000 E" pathEditMode="relative" rAng="0" ptsTypes="AA">
                                      <p:cBhvr>
                                        <p:cTn id="860" dur="42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/>
      <p:bldP spid="33" grpId="0" animBg="1"/>
      <p:bldP spid="34" grpId="0"/>
      <p:bldP spid="35" grpId="0" animBg="1"/>
      <p:bldP spid="36" grpId="0"/>
      <p:bldP spid="37" grpId="0" animBg="1"/>
      <p:bldP spid="38" grpId="0"/>
      <p:bldP spid="39" grpId="0" animBg="1"/>
      <p:bldP spid="40" grpId="0"/>
      <p:bldP spid="41" grpId="0" animBg="1"/>
      <p:bldP spid="42" grpId="0"/>
      <p:bldP spid="43" grpId="0" animBg="1"/>
      <p:bldP spid="44" grpId="0"/>
      <p:bldP spid="45" grpId="0" animBg="1"/>
      <p:bldP spid="46" grpId="0"/>
      <p:bldP spid="47" grpId="0" animBg="1"/>
      <p:bldP spid="48" grpId="0"/>
      <p:bldP spid="49" grpId="0" animBg="1"/>
      <p:bldP spid="50" grpId="0"/>
      <p:bldP spid="51" grpId="0" animBg="1"/>
      <p:bldP spid="52" grpId="0"/>
      <p:bldP spid="53" grpId="0" animBg="1"/>
      <p:bldP spid="54" grpId="0"/>
      <p:bldP spid="55" grpId="0" animBg="1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 animBg="1"/>
      <p:bldP spid="65" grpId="0"/>
      <p:bldP spid="66" grpId="0"/>
      <p:bldP spid="67" grpId="0" animBg="1"/>
      <p:bldP spid="68" grpId="0"/>
      <p:bldP spid="69" grpId="0"/>
      <p:bldP spid="70" grpId="0" animBg="1"/>
      <p:bldP spid="71" grpId="0"/>
      <p:bldP spid="72" grpId="0"/>
      <p:bldP spid="73" grpId="0" animBg="1"/>
      <p:bldP spid="74" grpId="0"/>
      <p:bldP spid="75" grpId="0" animBg="1"/>
      <p:bldP spid="76" grpId="0"/>
      <p:bldP spid="77" grpId="0" animBg="1"/>
      <p:bldP spid="78" grpId="0" animBg="1"/>
      <p:bldP spid="79" grpId="0" animBg="1"/>
      <p:bldP spid="80" grpId="0" animBg="1"/>
      <p:bldP spid="81" grpId="0"/>
      <p:bldP spid="82" grpId="0"/>
      <p:bldP spid="83" grpId="0" animBg="1"/>
      <p:bldP spid="84" grpId="0"/>
      <p:bldP spid="85" grpId="0" animBg="1"/>
      <p:bldP spid="86" grpId="0" animBg="1"/>
      <p:bldP spid="87" grpId="0" animBg="1"/>
      <p:bldP spid="88" grpId="0" animBg="1"/>
      <p:bldP spid="89" grpId="0"/>
      <p:bldP spid="90" grpId="0"/>
      <p:bldP spid="91" grpId="0" animBg="1"/>
      <p:bldP spid="92" grpId="0" animBg="1"/>
      <p:bldP spid="93" grpId="0" animBg="1"/>
      <p:bldP spid="94" grpId="0"/>
      <p:bldP spid="9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-overlap_1"/>
          <p:cNvSpPr txBox="1"/>
          <p:nvPr/>
        </p:nvSpPr>
        <p:spPr>
          <a:xfrm>
            <a:off x="548640" y="396210"/>
            <a:ext cx="11140410" cy="464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search results</a:t>
            </a:r>
            <a:endParaRPr lang="en-US" sz="2880" dirty="0"/>
          </a:p>
        </p:txBody>
      </p:sp>
      <p:sp>
        <p:nvSpPr>
          <p:cNvPr id="3" name="te-overlap_2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HMMER (pHMM) found 5,935,649 loci, RMBlast (consensus) found 3,837,511</a:t>
            </a:r>
            <a:endParaRPr lang="en-US" sz="2544" dirty="0"/>
          </a:p>
        </p:txBody>
      </p:sp>
      <p:sp>
        <p:nvSpPr>
          <p:cNvPr id="4" name="te-overlap_3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99.56% of loci detected by RMBlast were also detected by HMMER</a:t>
            </a:r>
            <a:endParaRPr lang="en-US" sz="2544" dirty="0"/>
          </a:p>
        </p:txBody>
      </p:sp>
      <p:sp>
        <p:nvSpPr>
          <p:cNvPr id="5" name="te-overlap_4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0.44% of loci were exclusive to RMBlast</a:t>
            </a:r>
            <a:endParaRPr lang="en-US" sz="2544" dirty="0"/>
          </a:p>
        </p:txBody>
      </p:sp>
      <p:sp>
        <p:nvSpPr>
          <p:cNvPr id="6" name="te-overlap_5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19.47% of loci were only detected by HMMER</a:t>
            </a:r>
            <a:endParaRPr lang="en-US" sz="2544" dirty="0"/>
          </a:p>
        </p:txBody>
      </p:sp>
      <p:sp>
        <p:nvSpPr>
          <p:cNvPr id="7" name="te-overlap_6"/>
          <p:cNvSpPr txBox="1"/>
          <p:nvPr/>
        </p:nvSpPr>
        <p:spPr>
          <a:xfrm>
            <a:off x="176571" y="4463461"/>
            <a:ext cx="1941728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4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HMMER (pHMM)</a:t>
            </a:r>
            <a:endParaRPr lang="en-US" sz="1654" dirty="0"/>
          </a:p>
        </p:txBody>
      </p:sp>
      <p:sp>
        <p:nvSpPr>
          <p:cNvPr id="8" name="te-overlap_7"/>
          <p:cNvSpPr txBox="1"/>
          <p:nvPr/>
        </p:nvSpPr>
        <p:spPr>
          <a:xfrm>
            <a:off x="448788" y="4714921"/>
            <a:ext cx="1669603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16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5,935,649</a:t>
            </a:r>
            <a:endParaRPr lang="en-US" sz="2162" dirty="0"/>
          </a:p>
        </p:txBody>
      </p:sp>
      <p:sp>
        <p:nvSpPr>
          <p:cNvPr id="9" name="te-overlap_8"/>
          <p:cNvSpPr txBox="1"/>
          <p:nvPr/>
        </p:nvSpPr>
        <p:spPr>
          <a:xfrm>
            <a:off x="9882652" y="4463461"/>
            <a:ext cx="2428738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RMBlast (consensus)</a:t>
            </a:r>
            <a:endParaRPr lang="en-US" sz="1654" dirty="0"/>
          </a:p>
        </p:txBody>
      </p:sp>
      <p:sp>
        <p:nvSpPr>
          <p:cNvPr id="10" name="te-overlap_9"/>
          <p:cNvSpPr txBox="1"/>
          <p:nvPr/>
        </p:nvSpPr>
        <p:spPr>
          <a:xfrm>
            <a:off x="9882652" y="4714921"/>
            <a:ext cx="1487637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3,837,511</a:t>
            </a:r>
            <a:endParaRPr lang="en-US" sz="2162" dirty="0"/>
          </a:p>
        </p:txBody>
      </p:sp>
      <p:sp>
        <p:nvSpPr>
          <p:cNvPr id="11" name="te-overlap_10"/>
          <p:cNvSpPr txBox="1"/>
          <p:nvPr/>
        </p:nvSpPr>
        <p:spPr>
          <a:xfrm>
            <a:off x="5787878" y="4600621"/>
            <a:ext cx="1544970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RMBlast only</a:t>
            </a:r>
            <a:endParaRPr lang="en-US" sz="1654" dirty="0"/>
          </a:p>
        </p:txBody>
      </p:sp>
      <p:sp>
        <p:nvSpPr>
          <p:cNvPr id="12" name="te-overlap_11"/>
          <p:cNvSpPr txBox="1"/>
          <p:nvPr/>
        </p:nvSpPr>
        <p:spPr>
          <a:xfrm>
            <a:off x="6186830" y="4882530"/>
            <a:ext cx="114364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16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0.44%</a:t>
            </a:r>
            <a:endParaRPr lang="en-US" sz="2162" dirty="0"/>
          </a:p>
        </p:txBody>
      </p:sp>
      <p:sp>
        <p:nvSpPr>
          <p:cNvPr id="13" name="te-overlap_12"/>
          <p:cNvSpPr txBox="1"/>
          <p:nvPr/>
        </p:nvSpPr>
        <p:spPr>
          <a:xfrm>
            <a:off x="2203978" y="4463461"/>
            <a:ext cx="1516990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4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HMMER only</a:t>
            </a:r>
            <a:endParaRPr lang="en-US" sz="1654" dirty="0"/>
          </a:p>
        </p:txBody>
      </p:sp>
      <p:sp>
        <p:nvSpPr>
          <p:cNvPr id="14" name="te-overlap_13"/>
          <p:cNvSpPr txBox="1"/>
          <p:nvPr/>
        </p:nvSpPr>
        <p:spPr>
          <a:xfrm>
            <a:off x="2482962" y="4714921"/>
            <a:ext cx="1235629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162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19.47%</a:t>
            </a:r>
            <a:endParaRPr lang="en-US" sz="2162" dirty="0"/>
          </a:p>
        </p:txBody>
      </p:sp>
      <p:sp>
        <p:nvSpPr>
          <p:cNvPr id="15" name="te-overlap_14"/>
          <p:cNvSpPr/>
          <p:nvPr/>
        </p:nvSpPr>
        <p:spPr>
          <a:xfrm>
            <a:off x="2286000" y="2971800"/>
            <a:ext cx="3505170" cy="3505170"/>
          </a:xfrm>
          <a:prstGeom prst="ellipse">
            <a:avLst/>
          </a:prstGeom>
          <a:solidFill>
            <a:srgbClr val="006FF9"/>
          </a:solidFill>
          <a:ln/>
        </p:spPr>
      </p:sp>
      <p:sp>
        <p:nvSpPr>
          <p:cNvPr id="16" name="te-overlap_15"/>
          <p:cNvSpPr/>
          <p:nvPr/>
        </p:nvSpPr>
        <p:spPr>
          <a:xfrm>
            <a:off x="6896588" y="3315157"/>
            <a:ext cx="2818364" cy="2818364"/>
          </a:xfrm>
          <a:prstGeom prst="ellipse">
            <a:avLst/>
          </a:prstGeom>
          <a:solidFill>
            <a:srgbClr val="F93500"/>
          </a:solidFill>
          <a:ln/>
        </p:spPr>
      </p:sp>
      <p:sp>
        <p:nvSpPr>
          <p:cNvPr id="17" name="te-overlap_16"/>
          <p:cNvSpPr/>
          <p:nvPr/>
        </p:nvSpPr>
        <p:spPr>
          <a:xfrm>
            <a:off x="4604736" y="3315614"/>
            <a:ext cx="2786634" cy="2817541"/>
          </a:xfrm>
          <a:custGeom>
            <a:avLst/>
            <a:gdLst/>
            <a:ahLst/>
            <a:cxnLst/>
            <a:rect l="l" t="t" r="r" b="b"/>
            <a:pathLst>
              <a:path w="2786634" h="2817541">
                <a:moveTo>
                  <a:pt x="2668768" y="2040666"/>
                </a:moveTo>
                <a:lnTo>
                  <a:pt x="2628991" y="2114459"/>
                </a:lnTo>
                <a:lnTo>
                  <a:pt x="2584917" y="2185690"/>
                </a:lnTo>
                <a:lnTo>
                  <a:pt x="2536637" y="2254179"/>
                </a:lnTo>
                <a:lnTo>
                  <a:pt x="2484425" y="2319741"/>
                </a:lnTo>
                <a:lnTo>
                  <a:pt x="2428372" y="2382012"/>
                </a:lnTo>
                <a:lnTo>
                  <a:pt x="2368662" y="2440899"/>
                </a:lnTo>
                <a:lnTo>
                  <a:pt x="2305660" y="2496129"/>
                </a:lnTo>
                <a:lnTo>
                  <a:pt x="2239457" y="2547427"/>
                </a:lnTo>
                <a:lnTo>
                  <a:pt x="2170237" y="2594793"/>
                </a:lnTo>
                <a:lnTo>
                  <a:pt x="2098365" y="2637953"/>
                </a:lnTo>
                <a:lnTo>
                  <a:pt x="2024116" y="2676723"/>
                </a:lnTo>
                <a:lnTo>
                  <a:pt x="1947672" y="2711105"/>
                </a:lnTo>
                <a:lnTo>
                  <a:pt x="1869308" y="2740731"/>
                </a:lnTo>
                <a:lnTo>
                  <a:pt x="1789298" y="2765786"/>
                </a:lnTo>
                <a:lnTo>
                  <a:pt x="1707916" y="2785994"/>
                </a:lnTo>
                <a:lnTo>
                  <a:pt x="1625529" y="2801264"/>
                </a:lnTo>
                <a:lnTo>
                  <a:pt x="1542410" y="2811689"/>
                </a:lnTo>
                <a:lnTo>
                  <a:pt x="1458742" y="2817084"/>
                </a:lnTo>
                <a:lnTo>
                  <a:pt x="1374983" y="2817541"/>
                </a:lnTo>
                <a:lnTo>
                  <a:pt x="1291316" y="2813060"/>
                </a:lnTo>
                <a:lnTo>
                  <a:pt x="1208014" y="2803550"/>
                </a:lnTo>
                <a:lnTo>
                  <a:pt x="1125444" y="2789103"/>
                </a:lnTo>
                <a:lnTo>
                  <a:pt x="1043879" y="2769809"/>
                </a:lnTo>
                <a:lnTo>
                  <a:pt x="963595" y="2745669"/>
                </a:lnTo>
                <a:lnTo>
                  <a:pt x="884956" y="2716865"/>
                </a:lnTo>
                <a:lnTo>
                  <a:pt x="808147" y="2683398"/>
                </a:lnTo>
                <a:lnTo>
                  <a:pt x="733440" y="2645359"/>
                </a:lnTo>
                <a:lnTo>
                  <a:pt x="661111" y="2603022"/>
                </a:lnTo>
                <a:lnTo>
                  <a:pt x="591434" y="2556480"/>
                </a:lnTo>
                <a:lnTo>
                  <a:pt x="524683" y="2505822"/>
                </a:lnTo>
                <a:lnTo>
                  <a:pt x="461040" y="2451232"/>
                </a:lnTo>
                <a:lnTo>
                  <a:pt x="400690" y="2393076"/>
                </a:lnTo>
                <a:lnTo>
                  <a:pt x="343997" y="2331354"/>
                </a:lnTo>
                <a:lnTo>
                  <a:pt x="291054" y="2266432"/>
                </a:lnTo>
                <a:lnTo>
                  <a:pt x="242042" y="2198400"/>
                </a:lnTo>
                <a:lnTo>
                  <a:pt x="197145" y="2127626"/>
                </a:lnTo>
                <a:lnTo>
                  <a:pt x="156545" y="2054291"/>
                </a:lnTo>
                <a:lnTo>
                  <a:pt x="120426" y="1978762"/>
                </a:lnTo>
                <a:lnTo>
                  <a:pt x="88788" y="1901129"/>
                </a:lnTo>
                <a:lnTo>
                  <a:pt x="61905" y="1821759"/>
                </a:lnTo>
                <a:lnTo>
                  <a:pt x="39685" y="1740926"/>
                </a:lnTo>
                <a:lnTo>
                  <a:pt x="22403" y="1658904"/>
                </a:lnTo>
                <a:lnTo>
                  <a:pt x="9967" y="1576060"/>
                </a:lnTo>
                <a:lnTo>
                  <a:pt x="2469" y="1492575"/>
                </a:lnTo>
                <a:lnTo>
                  <a:pt x="0" y="1408816"/>
                </a:lnTo>
                <a:lnTo>
                  <a:pt x="2469" y="1325057"/>
                </a:lnTo>
                <a:lnTo>
                  <a:pt x="9967" y="1241572"/>
                </a:lnTo>
                <a:lnTo>
                  <a:pt x="22403" y="1158636"/>
                </a:lnTo>
                <a:lnTo>
                  <a:pt x="39685" y="1076615"/>
                </a:lnTo>
                <a:lnTo>
                  <a:pt x="61905" y="995873"/>
                </a:lnTo>
                <a:lnTo>
                  <a:pt x="88788" y="916503"/>
                </a:lnTo>
                <a:lnTo>
                  <a:pt x="120426" y="838871"/>
                </a:lnTo>
                <a:lnTo>
                  <a:pt x="156545" y="763250"/>
                </a:lnTo>
                <a:lnTo>
                  <a:pt x="197145" y="689915"/>
                </a:lnTo>
                <a:lnTo>
                  <a:pt x="242042" y="619140"/>
                </a:lnTo>
                <a:lnTo>
                  <a:pt x="291054" y="551200"/>
                </a:lnTo>
                <a:lnTo>
                  <a:pt x="343997" y="486186"/>
                </a:lnTo>
                <a:lnTo>
                  <a:pt x="400690" y="424464"/>
                </a:lnTo>
                <a:lnTo>
                  <a:pt x="461040" y="366309"/>
                </a:lnTo>
                <a:lnTo>
                  <a:pt x="524683" y="311810"/>
                </a:lnTo>
                <a:lnTo>
                  <a:pt x="591434" y="261153"/>
                </a:lnTo>
                <a:lnTo>
                  <a:pt x="661111" y="214518"/>
                </a:lnTo>
                <a:lnTo>
                  <a:pt x="733440" y="172182"/>
                </a:lnTo>
                <a:lnTo>
                  <a:pt x="808147" y="134234"/>
                </a:lnTo>
                <a:lnTo>
                  <a:pt x="884956" y="100767"/>
                </a:lnTo>
                <a:lnTo>
                  <a:pt x="963595" y="71872"/>
                </a:lnTo>
                <a:lnTo>
                  <a:pt x="1043879" y="47732"/>
                </a:lnTo>
                <a:lnTo>
                  <a:pt x="1125444" y="28438"/>
                </a:lnTo>
                <a:lnTo>
                  <a:pt x="1208014" y="13990"/>
                </a:lnTo>
                <a:lnTo>
                  <a:pt x="1291316" y="4572"/>
                </a:lnTo>
                <a:lnTo>
                  <a:pt x="1374983" y="0"/>
                </a:lnTo>
                <a:lnTo>
                  <a:pt x="1458742" y="457"/>
                </a:lnTo>
                <a:lnTo>
                  <a:pt x="1542410" y="5852"/>
                </a:lnTo>
                <a:lnTo>
                  <a:pt x="1625529" y="16276"/>
                </a:lnTo>
                <a:lnTo>
                  <a:pt x="1707916" y="31638"/>
                </a:lnTo>
                <a:lnTo>
                  <a:pt x="1789298" y="51846"/>
                </a:lnTo>
                <a:lnTo>
                  <a:pt x="1869308" y="76810"/>
                </a:lnTo>
                <a:lnTo>
                  <a:pt x="1947672" y="106528"/>
                </a:lnTo>
                <a:lnTo>
                  <a:pt x="2024116" y="140818"/>
                </a:lnTo>
                <a:lnTo>
                  <a:pt x="2098365" y="179588"/>
                </a:lnTo>
                <a:lnTo>
                  <a:pt x="2170237" y="222748"/>
                </a:lnTo>
                <a:lnTo>
                  <a:pt x="2239457" y="270114"/>
                </a:lnTo>
                <a:lnTo>
                  <a:pt x="2305660" y="321503"/>
                </a:lnTo>
                <a:lnTo>
                  <a:pt x="2368662" y="376641"/>
                </a:lnTo>
                <a:lnTo>
                  <a:pt x="2428372" y="435529"/>
                </a:lnTo>
                <a:lnTo>
                  <a:pt x="2484425" y="497891"/>
                </a:lnTo>
                <a:lnTo>
                  <a:pt x="2536637" y="563362"/>
                </a:lnTo>
                <a:lnTo>
                  <a:pt x="2584917" y="631850"/>
                </a:lnTo>
                <a:lnTo>
                  <a:pt x="2628991" y="703174"/>
                </a:lnTo>
                <a:lnTo>
                  <a:pt x="2668768" y="776874"/>
                </a:lnTo>
                <a:lnTo>
                  <a:pt x="2668768" y="776874"/>
                </a:lnTo>
                <a:lnTo>
                  <a:pt x="2673888" y="790316"/>
                </a:lnTo>
                <a:lnTo>
                  <a:pt x="2678918" y="803758"/>
                </a:lnTo>
                <a:lnTo>
                  <a:pt x="2683855" y="817291"/>
                </a:lnTo>
                <a:lnTo>
                  <a:pt x="2688610" y="830824"/>
                </a:lnTo>
                <a:lnTo>
                  <a:pt x="2693274" y="844448"/>
                </a:lnTo>
                <a:lnTo>
                  <a:pt x="2697846" y="858073"/>
                </a:lnTo>
                <a:lnTo>
                  <a:pt x="2702326" y="871698"/>
                </a:lnTo>
                <a:lnTo>
                  <a:pt x="2706715" y="885414"/>
                </a:lnTo>
                <a:lnTo>
                  <a:pt x="2710922" y="899130"/>
                </a:lnTo>
                <a:lnTo>
                  <a:pt x="2715036" y="912846"/>
                </a:lnTo>
                <a:lnTo>
                  <a:pt x="2719060" y="926653"/>
                </a:lnTo>
                <a:lnTo>
                  <a:pt x="2722992" y="940460"/>
                </a:lnTo>
                <a:lnTo>
                  <a:pt x="2726741" y="954359"/>
                </a:lnTo>
                <a:lnTo>
                  <a:pt x="2730398" y="968258"/>
                </a:lnTo>
                <a:lnTo>
                  <a:pt x="2733965" y="982157"/>
                </a:lnTo>
                <a:lnTo>
                  <a:pt x="2737348" y="996147"/>
                </a:lnTo>
                <a:lnTo>
                  <a:pt x="2740731" y="1010046"/>
                </a:lnTo>
                <a:lnTo>
                  <a:pt x="2743932" y="1024128"/>
                </a:lnTo>
                <a:lnTo>
                  <a:pt x="2747040" y="1038118"/>
                </a:lnTo>
                <a:lnTo>
                  <a:pt x="2749967" y="1052200"/>
                </a:lnTo>
                <a:lnTo>
                  <a:pt x="2752893" y="1066282"/>
                </a:lnTo>
                <a:lnTo>
                  <a:pt x="2755636" y="1080364"/>
                </a:lnTo>
                <a:lnTo>
                  <a:pt x="2758288" y="1094445"/>
                </a:lnTo>
                <a:lnTo>
                  <a:pt x="2760756" y="1108619"/>
                </a:lnTo>
                <a:lnTo>
                  <a:pt x="2763134" y="1122792"/>
                </a:lnTo>
                <a:lnTo>
                  <a:pt x="2765420" y="1136965"/>
                </a:lnTo>
                <a:lnTo>
                  <a:pt x="2767614" y="1151138"/>
                </a:lnTo>
                <a:lnTo>
                  <a:pt x="2769718" y="1165403"/>
                </a:lnTo>
                <a:lnTo>
                  <a:pt x="2771638" y="1179576"/>
                </a:lnTo>
                <a:lnTo>
                  <a:pt x="2773467" y="1193841"/>
                </a:lnTo>
                <a:lnTo>
                  <a:pt x="2775113" y="1208105"/>
                </a:lnTo>
                <a:lnTo>
                  <a:pt x="2776758" y="1222370"/>
                </a:lnTo>
                <a:lnTo>
                  <a:pt x="2778222" y="1236726"/>
                </a:lnTo>
                <a:lnTo>
                  <a:pt x="2779593" y="1250991"/>
                </a:lnTo>
                <a:lnTo>
                  <a:pt x="2780782" y="1265255"/>
                </a:lnTo>
                <a:lnTo>
                  <a:pt x="2781879" y="1279611"/>
                </a:lnTo>
                <a:lnTo>
                  <a:pt x="2782885" y="1293967"/>
                </a:lnTo>
                <a:lnTo>
                  <a:pt x="2783799" y="1308324"/>
                </a:lnTo>
                <a:lnTo>
                  <a:pt x="2784531" y="1322588"/>
                </a:lnTo>
                <a:lnTo>
                  <a:pt x="2785171" y="1336944"/>
                </a:lnTo>
                <a:lnTo>
                  <a:pt x="2785720" y="1351300"/>
                </a:lnTo>
                <a:lnTo>
                  <a:pt x="2786177" y="1365656"/>
                </a:lnTo>
                <a:lnTo>
                  <a:pt x="2786451" y="1380012"/>
                </a:lnTo>
                <a:lnTo>
                  <a:pt x="2786634" y="1394460"/>
                </a:lnTo>
                <a:lnTo>
                  <a:pt x="2786634" y="1408816"/>
                </a:lnTo>
                <a:lnTo>
                  <a:pt x="2786634" y="1423172"/>
                </a:lnTo>
                <a:lnTo>
                  <a:pt x="2786451" y="1437528"/>
                </a:lnTo>
                <a:lnTo>
                  <a:pt x="2786177" y="1451884"/>
                </a:lnTo>
                <a:lnTo>
                  <a:pt x="2785720" y="1466240"/>
                </a:lnTo>
                <a:lnTo>
                  <a:pt x="2785171" y="1480596"/>
                </a:lnTo>
                <a:lnTo>
                  <a:pt x="2784531" y="1494953"/>
                </a:lnTo>
                <a:lnTo>
                  <a:pt x="2783799" y="1509309"/>
                </a:lnTo>
                <a:lnTo>
                  <a:pt x="2782885" y="1523665"/>
                </a:lnTo>
                <a:lnTo>
                  <a:pt x="2781879" y="1537929"/>
                </a:lnTo>
                <a:lnTo>
                  <a:pt x="2780782" y="1552285"/>
                </a:lnTo>
                <a:lnTo>
                  <a:pt x="2779593" y="1566550"/>
                </a:lnTo>
                <a:lnTo>
                  <a:pt x="2778222" y="1580906"/>
                </a:lnTo>
                <a:lnTo>
                  <a:pt x="2776758" y="1595171"/>
                </a:lnTo>
                <a:lnTo>
                  <a:pt x="2775113" y="1609435"/>
                </a:lnTo>
                <a:lnTo>
                  <a:pt x="2773467" y="1623700"/>
                </a:lnTo>
                <a:lnTo>
                  <a:pt x="2771638" y="1637965"/>
                </a:lnTo>
                <a:lnTo>
                  <a:pt x="2769718" y="1652229"/>
                </a:lnTo>
                <a:lnTo>
                  <a:pt x="2767614" y="1666403"/>
                </a:lnTo>
                <a:lnTo>
                  <a:pt x="2765420" y="1680667"/>
                </a:lnTo>
                <a:lnTo>
                  <a:pt x="2763134" y="1694840"/>
                </a:lnTo>
                <a:lnTo>
                  <a:pt x="2760756" y="1708922"/>
                </a:lnTo>
                <a:lnTo>
                  <a:pt x="2758288" y="1723095"/>
                </a:lnTo>
                <a:lnTo>
                  <a:pt x="2755636" y="1737269"/>
                </a:lnTo>
                <a:lnTo>
                  <a:pt x="2752893" y="1751350"/>
                </a:lnTo>
                <a:lnTo>
                  <a:pt x="2749967" y="1765432"/>
                </a:lnTo>
                <a:lnTo>
                  <a:pt x="2747040" y="1779422"/>
                </a:lnTo>
                <a:lnTo>
                  <a:pt x="2743932" y="1793504"/>
                </a:lnTo>
                <a:lnTo>
                  <a:pt x="2740731" y="1807494"/>
                </a:lnTo>
                <a:lnTo>
                  <a:pt x="2737348" y="1821485"/>
                </a:lnTo>
                <a:lnTo>
                  <a:pt x="2733965" y="1835384"/>
                </a:lnTo>
                <a:lnTo>
                  <a:pt x="2730398" y="1849374"/>
                </a:lnTo>
                <a:lnTo>
                  <a:pt x="2726741" y="1863181"/>
                </a:lnTo>
                <a:lnTo>
                  <a:pt x="2722992" y="1877080"/>
                </a:lnTo>
                <a:lnTo>
                  <a:pt x="2719060" y="1890888"/>
                </a:lnTo>
                <a:lnTo>
                  <a:pt x="2715036" y="1904695"/>
                </a:lnTo>
                <a:lnTo>
                  <a:pt x="2710922" y="1918503"/>
                </a:lnTo>
                <a:lnTo>
                  <a:pt x="2706715" y="1932219"/>
                </a:lnTo>
                <a:lnTo>
                  <a:pt x="2702326" y="1945843"/>
                </a:lnTo>
                <a:lnTo>
                  <a:pt x="2697846" y="1959559"/>
                </a:lnTo>
                <a:lnTo>
                  <a:pt x="2693274" y="1973184"/>
                </a:lnTo>
                <a:lnTo>
                  <a:pt x="2688610" y="1986717"/>
                </a:lnTo>
                <a:lnTo>
                  <a:pt x="2683855" y="2000250"/>
                </a:lnTo>
                <a:lnTo>
                  <a:pt x="2678918" y="2013783"/>
                </a:lnTo>
                <a:lnTo>
                  <a:pt x="2673888" y="2027225"/>
                </a:lnTo>
                <a:lnTo>
                  <a:pt x="2668768" y="2040666"/>
                </a:lnTo>
                <a:close/>
              </a:path>
            </a:pathLst>
          </a:custGeom>
          <a:solidFill>
            <a:srgbClr val="0A0F15"/>
          </a:solidFill>
          <a:ln/>
        </p:spPr>
      </p:sp>
      <p:sp>
        <p:nvSpPr>
          <p:cNvPr id="18" name="te-overlap_17"/>
          <p:cNvSpPr/>
          <p:nvPr/>
        </p:nvSpPr>
        <p:spPr>
          <a:xfrm>
            <a:off x="3886200" y="2972623"/>
            <a:ext cx="3387303" cy="3503615"/>
          </a:xfrm>
          <a:custGeom>
            <a:avLst/>
            <a:gdLst/>
            <a:ahLst/>
            <a:cxnLst/>
            <a:rect l="l" t="t" r="r" b="b"/>
            <a:pathLst>
              <a:path w="3387303" h="3503615">
                <a:moveTo>
                  <a:pt x="3387303" y="1119957"/>
                </a:moveTo>
                <a:lnTo>
                  <a:pt x="3345332" y="1020470"/>
                </a:lnTo>
                <a:lnTo>
                  <a:pt x="3297235" y="923727"/>
                </a:lnTo>
                <a:lnTo>
                  <a:pt x="3243377" y="830184"/>
                </a:lnTo>
                <a:lnTo>
                  <a:pt x="3183758" y="740207"/>
                </a:lnTo>
                <a:lnTo>
                  <a:pt x="3118744" y="653979"/>
                </a:lnTo>
                <a:lnTo>
                  <a:pt x="3048518" y="571957"/>
                </a:lnTo>
                <a:lnTo>
                  <a:pt x="2973446" y="494325"/>
                </a:lnTo>
                <a:lnTo>
                  <a:pt x="2893710" y="421538"/>
                </a:lnTo>
                <a:lnTo>
                  <a:pt x="2809585" y="353781"/>
                </a:lnTo>
                <a:lnTo>
                  <a:pt x="2721529" y="291419"/>
                </a:lnTo>
                <a:lnTo>
                  <a:pt x="2629814" y="234452"/>
                </a:lnTo>
                <a:lnTo>
                  <a:pt x="2534717" y="183337"/>
                </a:lnTo>
                <a:lnTo>
                  <a:pt x="2436602" y="138166"/>
                </a:lnTo>
                <a:lnTo>
                  <a:pt x="2335926" y="99121"/>
                </a:lnTo>
                <a:lnTo>
                  <a:pt x="2233056" y="66294"/>
                </a:lnTo>
                <a:lnTo>
                  <a:pt x="2128357" y="39959"/>
                </a:lnTo>
                <a:lnTo>
                  <a:pt x="2022287" y="20025"/>
                </a:lnTo>
                <a:lnTo>
                  <a:pt x="1915119" y="6767"/>
                </a:lnTo>
                <a:lnTo>
                  <a:pt x="1807312" y="91"/>
                </a:lnTo>
                <a:lnTo>
                  <a:pt x="1699321" y="0"/>
                </a:lnTo>
                <a:lnTo>
                  <a:pt x="1591605" y="6584"/>
                </a:lnTo>
                <a:lnTo>
                  <a:pt x="1484437" y="19842"/>
                </a:lnTo>
                <a:lnTo>
                  <a:pt x="1378275" y="39594"/>
                </a:lnTo>
                <a:lnTo>
                  <a:pt x="1273576" y="65928"/>
                </a:lnTo>
                <a:lnTo>
                  <a:pt x="1170706" y="98664"/>
                </a:lnTo>
                <a:lnTo>
                  <a:pt x="1069939" y="137617"/>
                </a:lnTo>
                <a:lnTo>
                  <a:pt x="971916" y="182697"/>
                </a:lnTo>
                <a:lnTo>
                  <a:pt x="876727" y="233721"/>
                </a:lnTo>
                <a:lnTo>
                  <a:pt x="784921" y="290596"/>
                </a:lnTo>
                <a:lnTo>
                  <a:pt x="696773" y="352958"/>
                </a:lnTo>
                <a:lnTo>
                  <a:pt x="612648" y="420624"/>
                </a:lnTo>
                <a:lnTo>
                  <a:pt x="532821" y="493319"/>
                </a:lnTo>
                <a:lnTo>
                  <a:pt x="457657" y="570768"/>
                </a:lnTo>
                <a:lnTo>
                  <a:pt x="387431" y="652790"/>
                </a:lnTo>
                <a:lnTo>
                  <a:pt x="322326" y="738927"/>
                </a:lnTo>
                <a:lnTo>
                  <a:pt x="262616" y="828904"/>
                </a:lnTo>
                <a:lnTo>
                  <a:pt x="208666" y="922447"/>
                </a:lnTo>
                <a:lnTo>
                  <a:pt x="160477" y="1019099"/>
                </a:lnTo>
                <a:lnTo>
                  <a:pt x="118415" y="1118494"/>
                </a:lnTo>
                <a:lnTo>
                  <a:pt x="82479" y="1220358"/>
                </a:lnTo>
                <a:lnTo>
                  <a:pt x="52944" y="1324234"/>
                </a:lnTo>
                <a:lnTo>
                  <a:pt x="29901" y="1429664"/>
                </a:lnTo>
                <a:lnTo>
                  <a:pt x="13259" y="1536375"/>
                </a:lnTo>
                <a:lnTo>
                  <a:pt x="3292" y="1643908"/>
                </a:lnTo>
                <a:lnTo>
                  <a:pt x="0" y="1751808"/>
                </a:lnTo>
                <a:lnTo>
                  <a:pt x="3292" y="1859707"/>
                </a:lnTo>
                <a:lnTo>
                  <a:pt x="13259" y="1967240"/>
                </a:lnTo>
                <a:lnTo>
                  <a:pt x="29901" y="2073951"/>
                </a:lnTo>
                <a:lnTo>
                  <a:pt x="52944" y="2179381"/>
                </a:lnTo>
                <a:lnTo>
                  <a:pt x="82479" y="2283257"/>
                </a:lnTo>
                <a:lnTo>
                  <a:pt x="118415" y="2385030"/>
                </a:lnTo>
                <a:lnTo>
                  <a:pt x="160477" y="2484516"/>
                </a:lnTo>
                <a:lnTo>
                  <a:pt x="208666" y="2581168"/>
                </a:lnTo>
                <a:lnTo>
                  <a:pt x="262616" y="2674620"/>
                </a:lnTo>
                <a:lnTo>
                  <a:pt x="322326" y="2764597"/>
                </a:lnTo>
                <a:lnTo>
                  <a:pt x="387431" y="2850825"/>
                </a:lnTo>
                <a:lnTo>
                  <a:pt x="457657" y="2932755"/>
                </a:lnTo>
                <a:lnTo>
                  <a:pt x="532821" y="3010296"/>
                </a:lnTo>
                <a:lnTo>
                  <a:pt x="612648" y="3082991"/>
                </a:lnTo>
                <a:lnTo>
                  <a:pt x="696773" y="3150657"/>
                </a:lnTo>
                <a:lnTo>
                  <a:pt x="784921" y="3213019"/>
                </a:lnTo>
                <a:lnTo>
                  <a:pt x="876727" y="3269803"/>
                </a:lnTo>
                <a:lnTo>
                  <a:pt x="971916" y="3320918"/>
                </a:lnTo>
                <a:lnTo>
                  <a:pt x="1069939" y="3365998"/>
                </a:lnTo>
                <a:lnTo>
                  <a:pt x="1170706" y="3404951"/>
                </a:lnTo>
                <a:lnTo>
                  <a:pt x="1273576" y="3437687"/>
                </a:lnTo>
                <a:lnTo>
                  <a:pt x="1378275" y="3463930"/>
                </a:lnTo>
                <a:lnTo>
                  <a:pt x="1484437" y="3483773"/>
                </a:lnTo>
                <a:lnTo>
                  <a:pt x="1591605" y="3496940"/>
                </a:lnTo>
                <a:lnTo>
                  <a:pt x="1699321" y="3503615"/>
                </a:lnTo>
                <a:lnTo>
                  <a:pt x="1807312" y="3503524"/>
                </a:lnTo>
                <a:lnTo>
                  <a:pt x="1915119" y="3496848"/>
                </a:lnTo>
                <a:lnTo>
                  <a:pt x="2022287" y="3483498"/>
                </a:lnTo>
                <a:lnTo>
                  <a:pt x="2128357" y="3463656"/>
                </a:lnTo>
                <a:lnTo>
                  <a:pt x="2233056" y="3437230"/>
                </a:lnTo>
                <a:lnTo>
                  <a:pt x="2335926" y="3404494"/>
                </a:lnTo>
                <a:lnTo>
                  <a:pt x="2436602" y="3365358"/>
                </a:lnTo>
                <a:lnTo>
                  <a:pt x="2534717" y="3320186"/>
                </a:lnTo>
                <a:lnTo>
                  <a:pt x="2629814" y="3269071"/>
                </a:lnTo>
                <a:lnTo>
                  <a:pt x="2721529" y="3212196"/>
                </a:lnTo>
                <a:lnTo>
                  <a:pt x="2809585" y="3149742"/>
                </a:lnTo>
                <a:lnTo>
                  <a:pt x="2893710" y="3081985"/>
                </a:lnTo>
                <a:lnTo>
                  <a:pt x="2973446" y="3009199"/>
                </a:lnTo>
                <a:lnTo>
                  <a:pt x="3048518" y="2931658"/>
                </a:lnTo>
                <a:lnTo>
                  <a:pt x="3118744" y="2849636"/>
                </a:lnTo>
                <a:lnTo>
                  <a:pt x="3183758" y="2763408"/>
                </a:lnTo>
                <a:lnTo>
                  <a:pt x="3243377" y="2673340"/>
                </a:lnTo>
                <a:lnTo>
                  <a:pt x="3297235" y="2579797"/>
                </a:lnTo>
                <a:lnTo>
                  <a:pt x="3345332" y="2483145"/>
                </a:lnTo>
                <a:lnTo>
                  <a:pt x="3387303" y="2383658"/>
                </a:lnTo>
                <a:lnTo>
                  <a:pt x="3387303" y="2383658"/>
                </a:lnTo>
                <a:lnTo>
                  <a:pt x="3347527" y="2457450"/>
                </a:lnTo>
                <a:lnTo>
                  <a:pt x="3303453" y="2528682"/>
                </a:lnTo>
                <a:lnTo>
                  <a:pt x="3255173" y="2597170"/>
                </a:lnTo>
                <a:lnTo>
                  <a:pt x="3202960" y="2662733"/>
                </a:lnTo>
                <a:lnTo>
                  <a:pt x="3146908" y="2725003"/>
                </a:lnTo>
                <a:lnTo>
                  <a:pt x="3087197" y="2783891"/>
                </a:lnTo>
                <a:lnTo>
                  <a:pt x="3024195" y="2839121"/>
                </a:lnTo>
                <a:lnTo>
                  <a:pt x="2957901" y="2890510"/>
                </a:lnTo>
                <a:lnTo>
                  <a:pt x="2888772" y="2937784"/>
                </a:lnTo>
                <a:lnTo>
                  <a:pt x="2816901" y="2980944"/>
                </a:lnTo>
                <a:lnTo>
                  <a:pt x="2742651" y="3019715"/>
                </a:lnTo>
                <a:lnTo>
                  <a:pt x="2666208" y="3054096"/>
                </a:lnTo>
                <a:lnTo>
                  <a:pt x="2587843" y="3083814"/>
                </a:lnTo>
                <a:lnTo>
                  <a:pt x="2507833" y="3108777"/>
                </a:lnTo>
                <a:lnTo>
                  <a:pt x="2426452" y="3128985"/>
                </a:lnTo>
                <a:lnTo>
                  <a:pt x="2344064" y="3144256"/>
                </a:lnTo>
                <a:lnTo>
                  <a:pt x="2260945" y="3154680"/>
                </a:lnTo>
                <a:lnTo>
                  <a:pt x="2177278" y="3160166"/>
                </a:lnTo>
                <a:lnTo>
                  <a:pt x="2093519" y="3160624"/>
                </a:lnTo>
                <a:lnTo>
                  <a:pt x="2009851" y="3156052"/>
                </a:lnTo>
                <a:lnTo>
                  <a:pt x="1926549" y="3146542"/>
                </a:lnTo>
                <a:lnTo>
                  <a:pt x="1843979" y="3132094"/>
                </a:lnTo>
                <a:lnTo>
                  <a:pt x="1762415" y="3112800"/>
                </a:lnTo>
                <a:lnTo>
                  <a:pt x="1682130" y="3088660"/>
                </a:lnTo>
                <a:lnTo>
                  <a:pt x="1603492" y="3059857"/>
                </a:lnTo>
                <a:lnTo>
                  <a:pt x="1526682" y="3026390"/>
                </a:lnTo>
                <a:lnTo>
                  <a:pt x="1451976" y="2988351"/>
                </a:lnTo>
                <a:lnTo>
                  <a:pt x="1379647" y="2946014"/>
                </a:lnTo>
                <a:lnTo>
                  <a:pt x="1309969" y="2899471"/>
                </a:lnTo>
                <a:lnTo>
                  <a:pt x="1243218" y="2848813"/>
                </a:lnTo>
                <a:lnTo>
                  <a:pt x="1179576" y="2794315"/>
                </a:lnTo>
                <a:lnTo>
                  <a:pt x="1119226" y="2736068"/>
                </a:lnTo>
                <a:lnTo>
                  <a:pt x="1062533" y="2674346"/>
                </a:lnTo>
                <a:lnTo>
                  <a:pt x="1009589" y="2609423"/>
                </a:lnTo>
                <a:lnTo>
                  <a:pt x="960577" y="2541392"/>
                </a:lnTo>
                <a:lnTo>
                  <a:pt x="915680" y="2470617"/>
                </a:lnTo>
                <a:lnTo>
                  <a:pt x="875081" y="2397374"/>
                </a:lnTo>
                <a:lnTo>
                  <a:pt x="838962" y="2321753"/>
                </a:lnTo>
                <a:lnTo>
                  <a:pt x="807324" y="2244120"/>
                </a:lnTo>
                <a:lnTo>
                  <a:pt x="780349" y="2164751"/>
                </a:lnTo>
                <a:lnTo>
                  <a:pt x="758220" y="2083918"/>
                </a:lnTo>
                <a:lnTo>
                  <a:pt x="740938" y="2001896"/>
                </a:lnTo>
                <a:lnTo>
                  <a:pt x="728502" y="1919051"/>
                </a:lnTo>
                <a:lnTo>
                  <a:pt x="721004" y="1835567"/>
                </a:lnTo>
                <a:lnTo>
                  <a:pt x="718536" y="1751808"/>
                </a:lnTo>
                <a:lnTo>
                  <a:pt x="721004" y="1668048"/>
                </a:lnTo>
                <a:lnTo>
                  <a:pt x="728502" y="1584564"/>
                </a:lnTo>
                <a:lnTo>
                  <a:pt x="740938" y="1501628"/>
                </a:lnTo>
                <a:lnTo>
                  <a:pt x="758220" y="1419697"/>
                </a:lnTo>
                <a:lnTo>
                  <a:pt x="780349" y="1338864"/>
                </a:lnTo>
                <a:lnTo>
                  <a:pt x="807324" y="1259495"/>
                </a:lnTo>
                <a:lnTo>
                  <a:pt x="838962" y="1181862"/>
                </a:lnTo>
                <a:lnTo>
                  <a:pt x="875081" y="1106241"/>
                </a:lnTo>
                <a:lnTo>
                  <a:pt x="915680" y="1032906"/>
                </a:lnTo>
                <a:lnTo>
                  <a:pt x="960577" y="962132"/>
                </a:lnTo>
                <a:lnTo>
                  <a:pt x="1009589" y="894192"/>
                </a:lnTo>
                <a:lnTo>
                  <a:pt x="1062533" y="829178"/>
                </a:lnTo>
                <a:lnTo>
                  <a:pt x="1119226" y="767547"/>
                </a:lnTo>
                <a:lnTo>
                  <a:pt x="1179576" y="709300"/>
                </a:lnTo>
                <a:lnTo>
                  <a:pt x="1243218" y="654802"/>
                </a:lnTo>
                <a:lnTo>
                  <a:pt x="1309969" y="604144"/>
                </a:lnTo>
                <a:lnTo>
                  <a:pt x="1379647" y="557601"/>
                </a:lnTo>
                <a:lnTo>
                  <a:pt x="1451976" y="515173"/>
                </a:lnTo>
                <a:lnTo>
                  <a:pt x="1526682" y="477225"/>
                </a:lnTo>
                <a:lnTo>
                  <a:pt x="1603492" y="443758"/>
                </a:lnTo>
                <a:lnTo>
                  <a:pt x="1682130" y="414863"/>
                </a:lnTo>
                <a:lnTo>
                  <a:pt x="1762415" y="390723"/>
                </a:lnTo>
                <a:lnTo>
                  <a:pt x="1843979" y="371429"/>
                </a:lnTo>
                <a:lnTo>
                  <a:pt x="1926549" y="356982"/>
                </a:lnTo>
                <a:lnTo>
                  <a:pt x="2009851" y="347563"/>
                </a:lnTo>
                <a:lnTo>
                  <a:pt x="2093519" y="342991"/>
                </a:lnTo>
                <a:lnTo>
                  <a:pt x="2177278" y="343449"/>
                </a:lnTo>
                <a:lnTo>
                  <a:pt x="2260945" y="348935"/>
                </a:lnTo>
                <a:lnTo>
                  <a:pt x="2344064" y="359268"/>
                </a:lnTo>
                <a:lnTo>
                  <a:pt x="2426452" y="374630"/>
                </a:lnTo>
                <a:lnTo>
                  <a:pt x="2507833" y="394838"/>
                </a:lnTo>
                <a:lnTo>
                  <a:pt x="2587843" y="419801"/>
                </a:lnTo>
                <a:lnTo>
                  <a:pt x="2666208" y="449519"/>
                </a:lnTo>
                <a:lnTo>
                  <a:pt x="2742651" y="483809"/>
                </a:lnTo>
                <a:lnTo>
                  <a:pt x="2816901" y="522580"/>
                </a:lnTo>
                <a:lnTo>
                  <a:pt x="2888772" y="565739"/>
                </a:lnTo>
                <a:lnTo>
                  <a:pt x="2957901" y="613105"/>
                </a:lnTo>
                <a:lnTo>
                  <a:pt x="3024195" y="664494"/>
                </a:lnTo>
                <a:lnTo>
                  <a:pt x="3087197" y="719724"/>
                </a:lnTo>
                <a:lnTo>
                  <a:pt x="3146908" y="778520"/>
                </a:lnTo>
                <a:lnTo>
                  <a:pt x="3202960" y="840882"/>
                </a:lnTo>
                <a:lnTo>
                  <a:pt x="3255173" y="906353"/>
                </a:lnTo>
                <a:lnTo>
                  <a:pt x="3303453" y="974933"/>
                </a:lnTo>
                <a:lnTo>
                  <a:pt x="3347527" y="1046165"/>
                </a:lnTo>
                <a:lnTo>
                  <a:pt x="3387303" y="1119957"/>
                </a:lnTo>
                <a:close/>
              </a:path>
            </a:pathLst>
          </a:custGeom>
          <a:solidFill>
            <a:srgbClr val="F9BE00"/>
          </a:solidFill>
          <a:ln/>
        </p:spPr>
      </p:sp>
      <p:sp>
        <p:nvSpPr>
          <p:cNvPr id="19" name="te-overlap_18"/>
          <p:cNvSpPr/>
          <p:nvPr/>
        </p:nvSpPr>
        <p:spPr>
          <a:xfrm>
            <a:off x="6871990" y="2590770"/>
            <a:ext cx="747979" cy="4267230"/>
          </a:xfrm>
          <a:custGeom>
            <a:avLst/>
            <a:gdLst/>
            <a:ahLst/>
            <a:cxnLst/>
            <a:rect l="l" t="t" r="r" b="b"/>
            <a:pathLst>
              <a:path w="747979" h="4267230">
                <a:moveTo>
                  <a:pt x="0" y="4267230"/>
                </a:moveTo>
                <a:lnTo>
                  <a:pt x="32278" y="4267230"/>
                </a:lnTo>
                <a:lnTo>
                  <a:pt x="63917" y="4267230"/>
                </a:lnTo>
                <a:lnTo>
                  <a:pt x="94915" y="4267230"/>
                </a:lnTo>
                <a:lnTo>
                  <a:pt x="125181" y="4267230"/>
                </a:lnTo>
                <a:lnTo>
                  <a:pt x="154716" y="4267230"/>
                </a:lnTo>
                <a:lnTo>
                  <a:pt x="183612" y="4267230"/>
                </a:lnTo>
                <a:lnTo>
                  <a:pt x="211866" y="4267230"/>
                </a:lnTo>
                <a:lnTo>
                  <a:pt x="239390" y="4267230"/>
                </a:lnTo>
                <a:lnTo>
                  <a:pt x="266182" y="4267230"/>
                </a:lnTo>
                <a:lnTo>
                  <a:pt x="292242" y="4267230"/>
                </a:lnTo>
                <a:lnTo>
                  <a:pt x="317663" y="4267230"/>
                </a:lnTo>
                <a:lnTo>
                  <a:pt x="342351" y="4267230"/>
                </a:lnTo>
                <a:lnTo>
                  <a:pt x="366400" y="4267230"/>
                </a:lnTo>
                <a:lnTo>
                  <a:pt x="389626" y="4267230"/>
                </a:lnTo>
                <a:lnTo>
                  <a:pt x="412212" y="4267230"/>
                </a:lnTo>
                <a:lnTo>
                  <a:pt x="434066" y="4267230"/>
                </a:lnTo>
                <a:lnTo>
                  <a:pt x="455188" y="4267230"/>
                </a:lnTo>
                <a:lnTo>
                  <a:pt x="475579" y="4226265"/>
                </a:lnTo>
                <a:lnTo>
                  <a:pt x="495330" y="4156222"/>
                </a:lnTo>
                <a:lnTo>
                  <a:pt x="514259" y="4085905"/>
                </a:lnTo>
                <a:lnTo>
                  <a:pt x="532455" y="4015405"/>
                </a:lnTo>
                <a:lnTo>
                  <a:pt x="550012" y="3944722"/>
                </a:lnTo>
                <a:lnTo>
                  <a:pt x="566745" y="3873947"/>
                </a:lnTo>
                <a:lnTo>
                  <a:pt x="582839" y="3802898"/>
                </a:lnTo>
                <a:lnTo>
                  <a:pt x="598109" y="3731758"/>
                </a:lnTo>
                <a:lnTo>
                  <a:pt x="612648" y="3660435"/>
                </a:lnTo>
                <a:lnTo>
                  <a:pt x="626547" y="3588929"/>
                </a:lnTo>
                <a:lnTo>
                  <a:pt x="639623" y="3517331"/>
                </a:lnTo>
                <a:lnTo>
                  <a:pt x="651967" y="3445551"/>
                </a:lnTo>
                <a:lnTo>
                  <a:pt x="663580" y="3373679"/>
                </a:lnTo>
                <a:lnTo>
                  <a:pt x="674461" y="3301716"/>
                </a:lnTo>
                <a:lnTo>
                  <a:pt x="684520" y="3229569"/>
                </a:lnTo>
                <a:lnTo>
                  <a:pt x="693938" y="3157423"/>
                </a:lnTo>
                <a:lnTo>
                  <a:pt x="702534" y="3085094"/>
                </a:lnTo>
                <a:lnTo>
                  <a:pt x="710397" y="3012765"/>
                </a:lnTo>
                <a:lnTo>
                  <a:pt x="717621" y="2940253"/>
                </a:lnTo>
                <a:lnTo>
                  <a:pt x="723930" y="2867741"/>
                </a:lnTo>
                <a:lnTo>
                  <a:pt x="729600" y="2795138"/>
                </a:lnTo>
                <a:lnTo>
                  <a:pt x="734446" y="2722535"/>
                </a:lnTo>
                <a:lnTo>
                  <a:pt x="738652" y="2649840"/>
                </a:lnTo>
                <a:lnTo>
                  <a:pt x="742036" y="2577145"/>
                </a:lnTo>
                <a:lnTo>
                  <a:pt x="744596" y="2504359"/>
                </a:lnTo>
                <a:lnTo>
                  <a:pt x="746516" y="2431572"/>
                </a:lnTo>
                <a:lnTo>
                  <a:pt x="747613" y="2358786"/>
                </a:lnTo>
                <a:lnTo>
                  <a:pt x="747979" y="2286000"/>
                </a:lnTo>
                <a:lnTo>
                  <a:pt x="747613" y="2213214"/>
                </a:lnTo>
                <a:lnTo>
                  <a:pt x="746516" y="2140428"/>
                </a:lnTo>
                <a:lnTo>
                  <a:pt x="744596" y="2067641"/>
                </a:lnTo>
                <a:lnTo>
                  <a:pt x="742036" y="1994855"/>
                </a:lnTo>
                <a:lnTo>
                  <a:pt x="738652" y="1922160"/>
                </a:lnTo>
                <a:lnTo>
                  <a:pt x="734446" y="1849465"/>
                </a:lnTo>
                <a:lnTo>
                  <a:pt x="729600" y="1776862"/>
                </a:lnTo>
                <a:lnTo>
                  <a:pt x="723930" y="1704259"/>
                </a:lnTo>
                <a:lnTo>
                  <a:pt x="717621" y="1631747"/>
                </a:lnTo>
                <a:lnTo>
                  <a:pt x="710397" y="1559235"/>
                </a:lnTo>
                <a:lnTo>
                  <a:pt x="702534" y="1486906"/>
                </a:lnTo>
                <a:lnTo>
                  <a:pt x="693938" y="1414577"/>
                </a:lnTo>
                <a:lnTo>
                  <a:pt x="684520" y="1342431"/>
                </a:lnTo>
                <a:lnTo>
                  <a:pt x="674461" y="1270284"/>
                </a:lnTo>
                <a:lnTo>
                  <a:pt x="663580" y="1198321"/>
                </a:lnTo>
                <a:lnTo>
                  <a:pt x="651967" y="1126449"/>
                </a:lnTo>
                <a:lnTo>
                  <a:pt x="639623" y="1054669"/>
                </a:lnTo>
                <a:lnTo>
                  <a:pt x="626547" y="983071"/>
                </a:lnTo>
                <a:lnTo>
                  <a:pt x="612648" y="911565"/>
                </a:lnTo>
                <a:lnTo>
                  <a:pt x="598109" y="840242"/>
                </a:lnTo>
                <a:lnTo>
                  <a:pt x="582839" y="769102"/>
                </a:lnTo>
                <a:lnTo>
                  <a:pt x="566745" y="698053"/>
                </a:lnTo>
                <a:lnTo>
                  <a:pt x="550012" y="627278"/>
                </a:lnTo>
                <a:lnTo>
                  <a:pt x="532455" y="556595"/>
                </a:lnTo>
                <a:lnTo>
                  <a:pt x="514259" y="486095"/>
                </a:lnTo>
                <a:lnTo>
                  <a:pt x="495330" y="415778"/>
                </a:lnTo>
                <a:lnTo>
                  <a:pt x="475579" y="345735"/>
                </a:lnTo>
                <a:lnTo>
                  <a:pt x="455188" y="275874"/>
                </a:lnTo>
                <a:lnTo>
                  <a:pt x="434066" y="206197"/>
                </a:lnTo>
                <a:lnTo>
                  <a:pt x="412212" y="136703"/>
                </a:lnTo>
                <a:lnTo>
                  <a:pt x="389626" y="67483"/>
                </a:lnTo>
                <a:lnTo>
                  <a:pt x="366400" y="0"/>
                </a:lnTo>
                <a:lnTo>
                  <a:pt x="342351" y="0"/>
                </a:lnTo>
                <a:lnTo>
                  <a:pt x="317663" y="0"/>
                </a:lnTo>
                <a:lnTo>
                  <a:pt x="292242" y="0"/>
                </a:lnTo>
                <a:lnTo>
                  <a:pt x="266182" y="0"/>
                </a:lnTo>
                <a:lnTo>
                  <a:pt x="239390" y="0"/>
                </a:lnTo>
                <a:lnTo>
                  <a:pt x="211866" y="0"/>
                </a:lnTo>
                <a:lnTo>
                  <a:pt x="183612" y="0"/>
                </a:lnTo>
                <a:lnTo>
                  <a:pt x="154716" y="0"/>
                </a:lnTo>
                <a:lnTo>
                  <a:pt x="125181" y="0"/>
                </a:lnTo>
                <a:lnTo>
                  <a:pt x="94915" y="0"/>
                </a:lnTo>
                <a:lnTo>
                  <a:pt x="63917" y="0"/>
                </a:lnTo>
                <a:lnTo>
                  <a:pt x="32278" y="0"/>
                </a:lnTo>
                <a:lnTo>
                  <a:pt x="0" y="0"/>
                </a:lnTo>
                <a:lnTo>
                  <a:pt x="0" y="0"/>
                </a:lnTo>
                <a:lnTo>
                  <a:pt x="25603" y="0"/>
                </a:lnTo>
                <a:lnTo>
                  <a:pt x="50658" y="0"/>
                </a:lnTo>
                <a:lnTo>
                  <a:pt x="75164" y="0"/>
                </a:lnTo>
                <a:lnTo>
                  <a:pt x="99212" y="0"/>
                </a:lnTo>
                <a:lnTo>
                  <a:pt x="122621" y="0"/>
                </a:lnTo>
                <a:lnTo>
                  <a:pt x="145390" y="0"/>
                </a:lnTo>
                <a:lnTo>
                  <a:pt x="167701" y="0"/>
                </a:lnTo>
                <a:lnTo>
                  <a:pt x="189464" y="0"/>
                </a:lnTo>
                <a:lnTo>
                  <a:pt x="210586" y="0"/>
                </a:lnTo>
                <a:lnTo>
                  <a:pt x="231252" y="0"/>
                </a:lnTo>
                <a:lnTo>
                  <a:pt x="251277" y="0"/>
                </a:lnTo>
                <a:lnTo>
                  <a:pt x="270754" y="0"/>
                </a:lnTo>
                <a:lnTo>
                  <a:pt x="289682" y="13807"/>
                </a:lnTo>
                <a:lnTo>
                  <a:pt x="307970" y="83302"/>
                </a:lnTo>
                <a:lnTo>
                  <a:pt x="325801" y="152888"/>
                </a:lnTo>
                <a:lnTo>
                  <a:pt x="342991" y="222656"/>
                </a:lnTo>
                <a:lnTo>
                  <a:pt x="359542" y="292517"/>
                </a:lnTo>
                <a:lnTo>
                  <a:pt x="375636" y="362468"/>
                </a:lnTo>
                <a:lnTo>
                  <a:pt x="391089" y="432603"/>
                </a:lnTo>
                <a:lnTo>
                  <a:pt x="405994" y="502920"/>
                </a:lnTo>
                <a:lnTo>
                  <a:pt x="420350" y="573237"/>
                </a:lnTo>
                <a:lnTo>
                  <a:pt x="434066" y="643738"/>
                </a:lnTo>
                <a:lnTo>
                  <a:pt x="447233" y="714421"/>
                </a:lnTo>
                <a:lnTo>
                  <a:pt x="459852" y="785104"/>
                </a:lnTo>
                <a:lnTo>
                  <a:pt x="471830" y="855878"/>
                </a:lnTo>
                <a:lnTo>
                  <a:pt x="483260" y="926836"/>
                </a:lnTo>
                <a:lnTo>
                  <a:pt x="494142" y="997793"/>
                </a:lnTo>
                <a:lnTo>
                  <a:pt x="504383" y="1068934"/>
                </a:lnTo>
                <a:lnTo>
                  <a:pt x="514076" y="1140074"/>
                </a:lnTo>
                <a:lnTo>
                  <a:pt x="523220" y="1211306"/>
                </a:lnTo>
                <a:lnTo>
                  <a:pt x="531724" y="1282629"/>
                </a:lnTo>
                <a:lnTo>
                  <a:pt x="539679" y="1354044"/>
                </a:lnTo>
                <a:lnTo>
                  <a:pt x="546994" y="1425458"/>
                </a:lnTo>
                <a:lnTo>
                  <a:pt x="553761" y="1496964"/>
                </a:lnTo>
                <a:lnTo>
                  <a:pt x="559887" y="1568562"/>
                </a:lnTo>
                <a:lnTo>
                  <a:pt x="565556" y="1640159"/>
                </a:lnTo>
                <a:lnTo>
                  <a:pt x="570494" y="1711848"/>
                </a:lnTo>
                <a:lnTo>
                  <a:pt x="574975" y="1783537"/>
                </a:lnTo>
                <a:lnTo>
                  <a:pt x="578724" y="1855226"/>
                </a:lnTo>
                <a:lnTo>
                  <a:pt x="582016" y="1927007"/>
                </a:lnTo>
                <a:lnTo>
                  <a:pt x="584667" y="1998787"/>
                </a:lnTo>
                <a:lnTo>
                  <a:pt x="586679" y="2070567"/>
                </a:lnTo>
                <a:lnTo>
                  <a:pt x="588142" y="2142348"/>
                </a:lnTo>
                <a:lnTo>
                  <a:pt x="589056" y="2214220"/>
                </a:lnTo>
                <a:lnTo>
                  <a:pt x="589331" y="2286000"/>
                </a:lnTo>
                <a:lnTo>
                  <a:pt x="589056" y="2357780"/>
                </a:lnTo>
                <a:lnTo>
                  <a:pt x="588142" y="2429652"/>
                </a:lnTo>
                <a:lnTo>
                  <a:pt x="586679" y="2501433"/>
                </a:lnTo>
                <a:lnTo>
                  <a:pt x="584667" y="2573213"/>
                </a:lnTo>
                <a:lnTo>
                  <a:pt x="582016" y="2644993"/>
                </a:lnTo>
                <a:lnTo>
                  <a:pt x="578724" y="2716774"/>
                </a:lnTo>
                <a:lnTo>
                  <a:pt x="574975" y="2788463"/>
                </a:lnTo>
                <a:lnTo>
                  <a:pt x="570494" y="2860152"/>
                </a:lnTo>
                <a:lnTo>
                  <a:pt x="565556" y="2931841"/>
                </a:lnTo>
                <a:lnTo>
                  <a:pt x="559887" y="3003438"/>
                </a:lnTo>
                <a:lnTo>
                  <a:pt x="553761" y="3075036"/>
                </a:lnTo>
                <a:lnTo>
                  <a:pt x="546994" y="3146542"/>
                </a:lnTo>
                <a:lnTo>
                  <a:pt x="539679" y="3217956"/>
                </a:lnTo>
                <a:lnTo>
                  <a:pt x="531724" y="3289371"/>
                </a:lnTo>
                <a:lnTo>
                  <a:pt x="523220" y="3360694"/>
                </a:lnTo>
                <a:lnTo>
                  <a:pt x="514076" y="3431926"/>
                </a:lnTo>
                <a:lnTo>
                  <a:pt x="504383" y="3503066"/>
                </a:lnTo>
                <a:lnTo>
                  <a:pt x="494142" y="3574207"/>
                </a:lnTo>
                <a:lnTo>
                  <a:pt x="483260" y="3645164"/>
                </a:lnTo>
                <a:lnTo>
                  <a:pt x="471830" y="3716122"/>
                </a:lnTo>
                <a:lnTo>
                  <a:pt x="459852" y="3786896"/>
                </a:lnTo>
                <a:lnTo>
                  <a:pt x="447233" y="3857579"/>
                </a:lnTo>
                <a:lnTo>
                  <a:pt x="434066" y="3928262"/>
                </a:lnTo>
                <a:lnTo>
                  <a:pt x="420350" y="3998763"/>
                </a:lnTo>
                <a:lnTo>
                  <a:pt x="405994" y="4069080"/>
                </a:lnTo>
                <a:lnTo>
                  <a:pt x="391089" y="4139397"/>
                </a:lnTo>
                <a:lnTo>
                  <a:pt x="375636" y="4209532"/>
                </a:lnTo>
                <a:lnTo>
                  <a:pt x="359542" y="4267230"/>
                </a:lnTo>
                <a:lnTo>
                  <a:pt x="342991" y="4267230"/>
                </a:lnTo>
                <a:lnTo>
                  <a:pt x="325801" y="4267230"/>
                </a:lnTo>
                <a:lnTo>
                  <a:pt x="307970" y="4267230"/>
                </a:lnTo>
                <a:lnTo>
                  <a:pt x="289682" y="4267230"/>
                </a:lnTo>
                <a:lnTo>
                  <a:pt x="270754" y="4267230"/>
                </a:lnTo>
                <a:lnTo>
                  <a:pt x="251277" y="4267230"/>
                </a:lnTo>
                <a:lnTo>
                  <a:pt x="231252" y="4267230"/>
                </a:lnTo>
                <a:lnTo>
                  <a:pt x="210586" y="4267230"/>
                </a:lnTo>
                <a:lnTo>
                  <a:pt x="189464" y="4267230"/>
                </a:lnTo>
                <a:lnTo>
                  <a:pt x="167701" y="4267230"/>
                </a:lnTo>
                <a:lnTo>
                  <a:pt x="145390" y="4267230"/>
                </a:lnTo>
                <a:lnTo>
                  <a:pt x="122621" y="4267230"/>
                </a:lnTo>
                <a:lnTo>
                  <a:pt x="99212" y="4267230"/>
                </a:lnTo>
                <a:lnTo>
                  <a:pt x="75164" y="4267230"/>
                </a:lnTo>
                <a:lnTo>
                  <a:pt x="50658" y="4267230"/>
                </a:lnTo>
                <a:lnTo>
                  <a:pt x="25603" y="4267230"/>
                </a:lnTo>
                <a:lnTo>
                  <a:pt x="0" y="4267230"/>
                </a:lnTo>
                <a:close/>
              </a:path>
            </a:pathLst>
          </a:custGeom>
          <a:solidFill>
            <a:srgbClr val="F93500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0" presetClass="path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13125 0.00000 E" pathEditMode="relative" rAng="0" ptsTypes="AA">
                                      <p:cBhvr>
                                        <p:cTn id="35" dur="1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0" presetClass="path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13125 0.00000 E" pathEditMode="relative" rAng="0" ptsTypes="AA">
                                      <p:cBhvr>
                                        <p:cTn id="37" dur="1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0" presetClass="path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18798 0.00000 E" pathEditMode="relative" rAng="0" ptsTypes="AA">
                                      <p:cBhvr>
                                        <p:cTn id="39" dur="1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0" presetClass="path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18798 0.00000 E" pathEditMode="relative" rAng="0" ptsTypes="AA">
                                      <p:cBhvr>
                                        <p:cTn id="41" dur="1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0" presetClass="path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13125 0.00000 E" pathEditMode="relative" rAng="0" ptsTypes="AA">
                                      <p:cBhvr>
                                        <p:cTn id="43" dur="1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" presetID="0" presetClass="path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18798 0.00000 E" pathEditMode="relative" rAng="0" ptsTypes="AA">
                                      <p:cBhvr>
                                        <p:cTn id="45" dur="1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-diverge_1"/>
          <p:cNvSpPr txBox="1"/>
          <p:nvPr/>
        </p:nvSpPr>
        <p:spPr>
          <a:xfrm>
            <a:off x="548640" y="396210"/>
            <a:ext cx="11140410" cy="464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results by divergence</a:t>
            </a:r>
            <a:endParaRPr lang="en-US" sz="2880" dirty="0"/>
          </a:p>
        </p:txBody>
      </p:sp>
      <p:sp>
        <p:nvSpPr>
          <p:cNvPr id="3" name="te-diverge_2"/>
          <p:cNvSpPr txBox="1"/>
          <p:nvPr/>
        </p:nvSpPr>
        <p:spPr>
          <a:xfrm>
            <a:off x="1600200" y="1752630"/>
            <a:ext cx="8991570" cy="47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RMBlast and HMMER calls by divergence</a:t>
            </a:r>
            <a:endParaRPr lang="en-US" sz="2544" dirty="0"/>
          </a:p>
        </p:txBody>
      </p:sp>
      <p:sp>
        <p:nvSpPr>
          <p:cNvPr id="4" name="te-diverge_3"/>
          <p:cNvSpPr txBox="1"/>
          <p:nvPr/>
        </p:nvSpPr>
        <p:spPr>
          <a:xfrm>
            <a:off x="1600200" y="1752630"/>
            <a:ext cx="8991570" cy="88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HMMER-detected loci also detected by RMBlast, by divergence</a:t>
            </a:r>
            <a:endParaRPr lang="en-US" sz="2544" dirty="0"/>
          </a:p>
        </p:txBody>
      </p:sp>
      <p:sp>
        <p:nvSpPr>
          <p:cNvPr id="5" name="te-diverge_4"/>
          <p:cNvSpPr/>
          <p:nvPr/>
        </p:nvSpPr>
        <p:spPr>
          <a:xfrm>
            <a:off x="2514600" y="6014100"/>
            <a:ext cx="8077170" cy="1143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-diverge_5"/>
          <p:cNvSpPr txBox="1"/>
          <p:nvPr/>
        </p:nvSpPr>
        <p:spPr>
          <a:xfrm>
            <a:off x="2206904" y="5924580"/>
            <a:ext cx="200985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72" dirty="0"/>
          </a:p>
        </p:txBody>
      </p:sp>
      <p:sp>
        <p:nvSpPr>
          <p:cNvPr id="7" name="te-diverge_6"/>
          <p:cNvSpPr/>
          <p:nvPr/>
        </p:nvSpPr>
        <p:spPr>
          <a:xfrm>
            <a:off x="2514600" y="5343571"/>
            <a:ext cx="8077170" cy="1143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-diverge_7"/>
          <p:cNvSpPr txBox="1"/>
          <p:nvPr/>
        </p:nvSpPr>
        <p:spPr>
          <a:xfrm>
            <a:off x="2101017" y="5253960"/>
            <a:ext cx="306873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72" dirty="0"/>
          </a:p>
        </p:txBody>
      </p:sp>
      <p:sp>
        <p:nvSpPr>
          <p:cNvPr id="9" name="te-diverge_8"/>
          <p:cNvSpPr/>
          <p:nvPr/>
        </p:nvSpPr>
        <p:spPr>
          <a:xfrm>
            <a:off x="2514600" y="4672950"/>
            <a:ext cx="8077170" cy="1143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-diverge_9"/>
          <p:cNvSpPr txBox="1"/>
          <p:nvPr/>
        </p:nvSpPr>
        <p:spPr>
          <a:xfrm>
            <a:off x="2094799" y="4583430"/>
            <a:ext cx="313091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72" dirty="0"/>
          </a:p>
        </p:txBody>
      </p:sp>
      <p:sp>
        <p:nvSpPr>
          <p:cNvPr id="11" name="te-diverge_10"/>
          <p:cNvSpPr/>
          <p:nvPr/>
        </p:nvSpPr>
        <p:spPr>
          <a:xfrm>
            <a:off x="2514600" y="4002420"/>
            <a:ext cx="8077170" cy="1143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-diverge_11"/>
          <p:cNvSpPr txBox="1"/>
          <p:nvPr/>
        </p:nvSpPr>
        <p:spPr>
          <a:xfrm>
            <a:off x="2099188" y="3912900"/>
            <a:ext cx="308793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72" dirty="0"/>
          </a:p>
        </p:txBody>
      </p:sp>
      <p:sp>
        <p:nvSpPr>
          <p:cNvPr id="13" name="te-diverge_12"/>
          <p:cNvSpPr/>
          <p:nvPr/>
        </p:nvSpPr>
        <p:spPr>
          <a:xfrm>
            <a:off x="2514600" y="3331799"/>
            <a:ext cx="8077170" cy="1143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te-diverge_13"/>
          <p:cNvSpPr txBox="1"/>
          <p:nvPr/>
        </p:nvSpPr>
        <p:spPr>
          <a:xfrm>
            <a:off x="2099462" y="3242280"/>
            <a:ext cx="308427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272" dirty="0"/>
          </a:p>
        </p:txBody>
      </p:sp>
      <p:sp>
        <p:nvSpPr>
          <p:cNvPr id="15" name="te-diverge_14"/>
          <p:cNvSpPr/>
          <p:nvPr/>
        </p:nvSpPr>
        <p:spPr>
          <a:xfrm>
            <a:off x="2514600" y="2661270"/>
            <a:ext cx="8077170" cy="1143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te-diverge_15"/>
          <p:cNvSpPr txBox="1"/>
          <p:nvPr/>
        </p:nvSpPr>
        <p:spPr>
          <a:xfrm>
            <a:off x="2026768" y="2571750"/>
            <a:ext cx="381122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272" dirty="0"/>
          </a:p>
        </p:txBody>
      </p:sp>
      <p:sp>
        <p:nvSpPr>
          <p:cNvPr id="17" name="te-diverge_16"/>
          <p:cNvSpPr/>
          <p:nvPr/>
        </p:nvSpPr>
        <p:spPr>
          <a:xfrm>
            <a:off x="2507010" y="2590770"/>
            <a:ext cx="15270" cy="342900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18" name="te-diverge_17"/>
          <p:cNvSpPr txBox="1"/>
          <p:nvPr/>
        </p:nvSpPr>
        <p:spPr>
          <a:xfrm rot="16200000">
            <a:off x="-96378" y="4229100"/>
            <a:ext cx="397224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HMMER loci detected by RMBlast</a:t>
            </a:r>
            <a:endParaRPr lang="en-US" sz="1526" dirty="0"/>
          </a:p>
        </p:txBody>
      </p:sp>
      <p:sp>
        <p:nvSpPr>
          <p:cNvPr id="19" name="te-diverge_18"/>
          <p:cNvSpPr/>
          <p:nvPr/>
        </p:nvSpPr>
        <p:spPr>
          <a:xfrm>
            <a:off x="2514600" y="6012180"/>
            <a:ext cx="8077170" cy="152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20" name="te-diverge_19"/>
          <p:cNvSpPr/>
          <p:nvPr/>
        </p:nvSpPr>
        <p:spPr>
          <a:xfrm>
            <a:off x="2507010" y="601977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21" name="te-diverge_20"/>
          <p:cNvSpPr txBox="1"/>
          <p:nvPr/>
        </p:nvSpPr>
        <p:spPr>
          <a:xfrm>
            <a:off x="2414107" y="6168360"/>
            <a:ext cx="200985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72" dirty="0"/>
          </a:p>
        </p:txBody>
      </p:sp>
      <p:sp>
        <p:nvSpPr>
          <p:cNvPr id="22" name="te-diverge_21"/>
          <p:cNvSpPr/>
          <p:nvPr/>
        </p:nvSpPr>
        <p:spPr>
          <a:xfrm>
            <a:off x="3314700" y="601977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23" name="te-diverge_22"/>
          <p:cNvSpPr txBox="1"/>
          <p:nvPr/>
        </p:nvSpPr>
        <p:spPr>
          <a:xfrm>
            <a:off x="3223809" y="6168360"/>
            <a:ext cx="197053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72" dirty="0"/>
          </a:p>
        </p:txBody>
      </p:sp>
      <p:sp>
        <p:nvSpPr>
          <p:cNvPr id="24" name="te-diverge_23"/>
          <p:cNvSpPr/>
          <p:nvPr/>
        </p:nvSpPr>
        <p:spPr>
          <a:xfrm>
            <a:off x="4122390" y="601977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25" name="te-diverge_24"/>
          <p:cNvSpPr txBox="1"/>
          <p:nvPr/>
        </p:nvSpPr>
        <p:spPr>
          <a:xfrm>
            <a:off x="3994191" y="6168360"/>
            <a:ext cx="271668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72" dirty="0"/>
          </a:p>
        </p:txBody>
      </p:sp>
      <p:sp>
        <p:nvSpPr>
          <p:cNvPr id="26" name="te-diverge_25"/>
          <p:cNvSpPr/>
          <p:nvPr/>
        </p:nvSpPr>
        <p:spPr>
          <a:xfrm>
            <a:off x="4930170" y="601977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27" name="te-diverge_26"/>
          <p:cNvSpPr txBox="1"/>
          <p:nvPr/>
        </p:nvSpPr>
        <p:spPr>
          <a:xfrm>
            <a:off x="4803983" y="6168360"/>
            <a:ext cx="267645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72" dirty="0"/>
          </a:p>
        </p:txBody>
      </p:sp>
      <p:sp>
        <p:nvSpPr>
          <p:cNvPr id="28" name="te-diverge_27"/>
          <p:cNvSpPr/>
          <p:nvPr/>
        </p:nvSpPr>
        <p:spPr>
          <a:xfrm>
            <a:off x="5737860" y="601977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29" name="te-diverge_28"/>
          <p:cNvSpPr txBox="1"/>
          <p:nvPr/>
        </p:nvSpPr>
        <p:spPr>
          <a:xfrm>
            <a:off x="5592013" y="6168360"/>
            <a:ext cx="306873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72" dirty="0"/>
          </a:p>
        </p:txBody>
      </p:sp>
      <p:sp>
        <p:nvSpPr>
          <p:cNvPr id="30" name="te-diverge_29"/>
          <p:cNvSpPr/>
          <p:nvPr/>
        </p:nvSpPr>
        <p:spPr>
          <a:xfrm>
            <a:off x="6545550" y="601977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31" name="te-diverge_30"/>
          <p:cNvSpPr txBox="1"/>
          <p:nvPr/>
        </p:nvSpPr>
        <p:spPr>
          <a:xfrm>
            <a:off x="6401714" y="6168360"/>
            <a:ext cx="302941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72" dirty="0"/>
          </a:p>
        </p:txBody>
      </p:sp>
      <p:sp>
        <p:nvSpPr>
          <p:cNvPr id="32" name="te-diverge_31"/>
          <p:cNvSpPr/>
          <p:nvPr/>
        </p:nvSpPr>
        <p:spPr>
          <a:xfrm>
            <a:off x="7353330" y="601977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33" name="te-diverge_32"/>
          <p:cNvSpPr txBox="1"/>
          <p:nvPr/>
        </p:nvSpPr>
        <p:spPr>
          <a:xfrm>
            <a:off x="7206752" y="6168360"/>
            <a:ext cx="308336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72" dirty="0"/>
          </a:p>
        </p:txBody>
      </p:sp>
      <p:sp>
        <p:nvSpPr>
          <p:cNvPr id="34" name="te-diverge_33"/>
          <p:cNvSpPr/>
          <p:nvPr/>
        </p:nvSpPr>
        <p:spPr>
          <a:xfrm>
            <a:off x="8161020" y="601977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35" name="te-diverge_34"/>
          <p:cNvSpPr txBox="1"/>
          <p:nvPr/>
        </p:nvSpPr>
        <p:spPr>
          <a:xfrm>
            <a:off x="8016453" y="6168360"/>
            <a:ext cx="304404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72" dirty="0"/>
          </a:p>
        </p:txBody>
      </p:sp>
      <p:sp>
        <p:nvSpPr>
          <p:cNvPr id="36" name="te-diverge_35"/>
          <p:cNvSpPr/>
          <p:nvPr/>
        </p:nvSpPr>
        <p:spPr>
          <a:xfrm>
            <a:off x="8968710" y="601977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37" name="te-diverge_36"/>
          <p:cNvSpPr txBox="1"/>
          <p:nvPr/>
        </p:nvSpPr>
        <p:spPr>
          <a:xfrm>
            <a:off x="8819754" y="6168360"/>
            <a:ext cx="313091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72" dirty="0"/>
          </a:p>
        </p:txBody>
      </p:sp>
      <p:sp>
        <p:nvSpPr>
          <p:cNvPr id="38" name="te-diverge_37"/>
          <p:cNvSpPr/>
          <p:nvPr/>
        </p:nvSpPr>
        <p:spPr>
          <a:xfrm>
            <a:off x="9776490" y="601977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39" name="te-diverge_38"/>
          <p:cNvSpPr txBox="1"/>
          <p:nvPr/>
        </p:nvSpPr>
        <p:spPr>
          <a:xfrm>
            <a:off x="9629455" y="6168360"/>
            <a:ext cx="309159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72" dirty="0"/>
          </a:p>
        </p:txBody>
      </p:sp>
      <p:sp>
        <p:nvSpPr>
          <p:cNvPr id="40" name="te-diverge_39"/>
          <p:cNvSpPr/>
          <p:nvPr/>
        </p:nvSpPr>
        <p:spPr>
          <a:xfrm>
            <a:off x="10584180" y="601977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41" name="te-diverge_40"/>
          <p:cNvSpPr txBox="1"/>
          <p:nvPr/>
        </p:nvSpPr>
        <p:spPr>
          <a:xfrm>
            <a:off x="10438516" y="6168360"/>
            <a:ext cx="306598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72" dirty="0"/>
          </a:p>
        </p:txBody>
      </p:sp>
      <p:sp>
        <p:nvSpPr>
          <p:cNvPr id="42" name="te-diverge_41"/>
          <p:cNvSpPr txBox="1"/>
          <p:nvPr/>
        </p:nvSpPr>
        <p:spPr>
          <a:xfrm>
            <a:off x="5338907" y="6484650"/>
            <a:ext cx="242864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Kimura divergence (%)</a:t>
            </a:r>
            <a:endParaRPr lang="en-US" sz="1526" dirty="0"/>
          </a:p>
        </p:txBody>
      </p:sp>
      <p:sp>
        <p:nvSpPr>
          <p:cNvPr id="43" name="te-diverge_42"/>
          <p:cNvSpPr/>
          <p:nvPr/>
        </p:nvSpPr>
        <p:spPr>
          <a:xfrm>
            <a:off x="2842230" y="2597536"/>
            <a:ext cx="152430" cy="152430"/>
          </a:xfrm>
          <a:prstGeom prst="ellipse">
            <a:avLst/>
          </a:prstGeom>
          <a:solidFill>
            <a:srgbClr val="F9BE00"/>
          </a:solidFill>
          <a:ln w="22860">
            <a:solidFill>
              <a:srgbClr val="0A0F15"/>
            </a:solidFill>
            <a:prstDash val="solid"/>
          </a:ln>
        </p:spPr>
      </p:sp>
      <p:sp>
        <p:nvSpPr>
          <p:cNvPr id="44" name="te-diverge_43"/>
          <p:cNvSpPr/>
          <p:nvPr/>
        </p:nvSpPr>
        <p:spPr>
          <a:xfrm>
            <a:off x="3650010" y="2597536"/>
            <a:ext cx="152430" cy="152430"/>
          </a:xfrm>
          <a:prstGeom prst="ellipse">
            <a:avLst/>
          </a:prstGeom>
          <a:solidFill>
            <a:srgbClr val="F9BE00"/>
          </a:solidFill>
          <a:ln w="22860">
            <a:solidFill>
              <a:srgbClr val="0A0F15"/>
            </a:solidFill>
            <a:prstDash val="solid"/>
          </a:ln>
        </p:spPr>
      </p:sp>
      <p:sp>
        <p:nvSpPr>
          <p:cNvPr id="45" name="te-diverge_44"/>
          <p:cNvSpPr/>
          <p:nvPr/>
        </p:nvSpPr>
        <p:spPr>
          <a:xfrm>
            <a:off x="4457700" y="2607594"/>
            <a:ext cx="152430" cy="152430"/>
          </a:xfrm>
          <a:prstGeom prst="ellipse">
            <a:avLst/>
          </a:prstGeom>
          <a:solidFill>
            <a:srgbClr val="F9BE00"/>
          </a:solidFill>
          <a:ln w="22860">
            <a:solidFill>
              <a:srgbClr val="0A0F15"/>
            </a:solidFill>
            <a:prstDash val="solid"/>
          </a:ln>
        </p:spPr>
      </p:sp>
      <p:sp>
        <p:nvSpPr>
          <p:cNvPr id="46" name="te-diverge_45"/>
          <p:cNvSpPr/>
          <p:nvPr/>
        </p:nvSpPr>
        <p:spPr>
          <a:xfrm>
            <a:off x="5265390" y="2637770"/>
            <a:ext cx="152430" cy="152430"/>
          </a:xfrm>
          <a:prstGeom prst="ellipse">
            <a:avLst/>
          </a:prstGeom>
          <a:solidFill>
            <a:srgbClr val="F9BE00"/>
          </a:solidFill>
          <a:ln w="22860">
            <a:solidFill>
              <a:srgbClr val="0A0F15"/>
            </a:solidFill>
            <a:prstDash val="solid"/>
          </a:ln>
        </p:spPr>
      </p:sp>
      <p:sp>
        <p:nvSpPr>
          <p:cNvPr id="47" name="te-diverge_46"/>
          <p:cNvSpPr/>
          <p:nvPr/>
        </p:nvSpPr>
        <p:spPr>
          <a:xfrm>
            <a:off x="6073170" y="2761762"/>
            <a:ext cx="152430" cy="152430"/>
          </a:xfrm>
          <a:prstGeom prst="ellipse">
            <a:avLst/>
          </a:prstGeom>
          <a:solidFill>
            <a:srgbClr val="F9BE00"/>
          </a:solidFill>
          <a:ln w="22860">
            <a:solidFill>
              <a:srgbClr val="0A0F15"/>
            </a:solidFill>
            <a:prstDash val="solid"/>
          </a:ln>
        </p:spPr>
      </p:sp>
      <p:sp>
        <p:nvSpPr>
          <p:cNvPr id="48" name="te-diverge_47"/>
          <p:cNvSpPr/>
          <p:nvPr/>
        </p:nvSpPr>
        <p:spPr>
          <a:xfrm>
            <a:off x="6880860" y="3073573"/>
            <a:ext cx="152430" cy="152430"/>
          </a:xfrm>
          <a:prstGeom prst="ellipse">
            <a:avLst/>
          </a:prstGeom>
          <a:solidFill>
            <a:srgbClr val="F9BE00"/>
          </a:solidFill>
          <a:ln w="22860">
            <a:solidFill>
              <a:srgbClr val="0A0F15"/>
            </a:solidFill>
            <a:prstDash val="solid"/>
          </a:ln>
        </p:spPr>
      </p:sp>
      <p:sp>
        <p:nvSpPr>
          <p:cNvPr id="49" name="te-diverge_48"/>
          <p:cNvSpPr/>
          <p:nvPr/>
        </p:nvSpPr>
        <p:spPr>
          <a:xfrm>
            <a:off x="7688550" y="3633551"/>
            <a:ext cx="152430" cy="152430"/>
          </a:xfrm>
          <a:prstGeom prst="ellipse">
            <a:avLst/>
          </a:prstGeom>
          <a:solidFill>
            <a:srgbClr val="F9BE00"/>
          </a:solidFill>
          <a:ln w="22860">
            <a:solidFill>
              <a:srgbClr val="0A0F15"/>
            </a:solidFill>
            <a:prstDash val="solid"/>
          </a:ln>
        </p:spPr>
      </p:sp>
      <p:sp>
        <p:nvSpPr>
          <p:cNvPr id="50" name="te-diverge_49"/>
          <p:cNvSpPr/>
          <p:nvPr/>
        </p:nvSpPr>
        <p:spPr>
          <a:xfrm>
            <a:off x="8496330" y="4347698"/>
            <a:ext cx="152430" cy="152430"/>
          </a:xfrm>
          <a:prstGeom prst="ellipse">
            <a:avLst/>
          </a:prstGeom>
          <a:solidFill>
            <a:srgbClr val="F9BE00"/>
          </a:solidFill>
          <a:ln w="22860">
            <a:solidFill>
              <a:srgbClr val="0A0F15"/>
            </a:solidFill>
            <a:prstDash val="solid"/>
          </a:ln>
        </p:spPr>
      </p:sp>
      <p:sp>
        <p:nvSpPr>
          <p:cNvPr id="51" name="te-diverge_50"/>
          <p:cNvSpPr/>
          <p:nvPr/>
        </p:nvSpPr>
        <p:spPr>
          <a:xfrm>
            <a:off x="9304020" y="4921026"/>
            <a:ext cx="152430" cy="152430"/>
          </a:xfrm>
          <a:prstGeom prst="ellipse">
            <a:avLst/>
          </a:prstGeom>
          <a:solidFill>
            <a:srgbClr val="F9BE00"/>
          </a:solidFill>
          <a:ln w="22860">
            <a:solidFill>
              <a:srgbClr val="0A0F15"/>
            </a:solidFill>
            <a:prstDash val="solid"/>
          </a:ln>
        </p:spPr>
      </p:sp>
      <p:sp>
        <p:nvSpPr>
          <p:cNvPr id="52" name="te-diverge_51"/>
          <p:cNvSpPr/>
          <p:nvPr/>
        </p:nvSpPr>
        <p:spPr>
          <a:xfrm>
            <a:off x="10111710" y="4877410"/>
            <a:ext cx="152430" cy="152430"/>
          </a:xfrm>
          <a:prstGeom prst="ellipse">
            <a:avLst/>
          </a:prstGeom>
          <a:solidFill>
            <a:srgbClr val="F9BE00"/>
          </a:solidFill>
          <a:ln w="22860">
            <a:solidFill>
              <a:srgbClr val="0A0F15"/>
            </a:solidFill>
            <a:prstDash val="solid"/>
          </a:ln>
        </p:spPr>
      </p:sp>
      <p:sp>
        <p:nvSpPr>
          <p:cNvPr id="53" name="te-diverge_52"/>
          <p:cNvSpPr/>
          <p:nvPr/>
        </p:nvSpPr>
        <p:spPr>
          <a:xfrm>
            <a:off x="2697480" y="4209258"/>
            <a:ext cx="4114800" cy="1676370"/>
          </a:xfrm>
          <a:prstGeom prst="roundRect">
            <a:avLst>
              <a:gd name="adj" fmla="val 6366"/>
            </a:avLst>
          </a:prstGeom>
          <a:solidFill>
            <a:srgbClr val="111821">
              <a:alpha val="92000"/>
            </a:srgbClr>
          </a:solidFill>
          <a:ln w="11430">
            <a:solidFill>
              <a:srgbClr val="263240"/>
            </a:solidFill>
            <a:prstDash val="solid"/>
          </a:ln>
        </p:spPr>
      </p:sp>
      <p:sp>
        <p:nvSpPr>
          <p:cNvPr id="54" name="te-diverge_53"/>
          <p:cNvSpPr txBox="1"/>
          <p:nvPr/>
        </p:nvSpPr>
        <p:spPr>
          <a:xfrm>
            <a:off x="2865090" y="4367357"/>
            <a:ext cx="3188238" cy="2962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2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D(x) = c + (L − c) / (1 + e</a:t>
            </a:r>
            <a:pPr algn="l" indent="0" marL="0">
              <a:buNone/>
            </a:pPr>
            <a:r>
              <a:rPr lang="en-US" sz="1526" b="1" baseline="3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(x − x₀)/k</a:t>
            </a:r>
            <a:pPr algn="l" indent="0" marL="0">
              <a:buNone/>
            </a:pPr>
            <a:r>
              <a:rPr lang="en-US" sz="152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526" dirty="0"/>
          </a:p>
        </p:txBody>
      </p:sp>
      <p:sp>
        <p:nvSpPr>
          <p:cNvPr id="55" name="te-diverge_54"/>
          <p:cNvSpPr txBox="1"/>
          <p:nvPr/>
        </p:nvSpPr>
        <p:spPr>
          <a:xfrm>
            <a:off x="2865090" y="4815048"/>
            <a:ext cx="1719804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100.3% (ceiling)</a:t>
            </a:r>
            <a:endParaRPr lang="en-US" sz="1272" dirty="0"/>
          </a:p>
        </p:txBody>
      </p:sp>
      <p:sp>
        <p:nvSpPr>
          <p:cNvPr id="56" name="te-diverge_55"/>
          <p:cNvSpPr txBox="1"/>
          <p:nvPr/>
        </p:nvSpPr>
        <p:spPr>
          <a:xfrm>
            <a:off x="4785330" y="4815048"/>
            <a:ext cx="1456548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= 18.6% (floor)</a:t>
            </a:r>
            <a:endParaRPr lang="en-US" sz="1272" dirty="0"/>
          </a:p>
        </p:txBody>
      </p:sp>
      <p:sp>
        <p:nvSpPr>
          <p:cNvPr id="57" name="te-diverge_56"/>
          <p:cNvSpPr txBox="1"/>
          <p:nvPr/>
        </p:nvSpPr>
        <p:spPr>
          <a:xfrm>
            <a:off x="2865090" y="5119908"/>
            <a:ext cx="201104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x₀ = 34.68% (midpoint)</a:t>
            </a:r>
            <a:endParaRPr lang="en-US" sz="1272" dirty="0"/>
          </a:p>
        </p:txBody>
      </p:sp>
      <p:sp>
        <p:nvSpPr>
          <p:cNvPr id="58" name="te-diverge_57"/>
          <p:cNvSpPr txBox="1"/>
          <p:nvPr/>
        </p:nvSpPr>
        <p:spPr>
          <a:xfrm>
            <a:off x="4785330" y="5119908"/>
            <a:ext cx="1784726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4.66 (steepness)</a:t>
            </a:r>
            <a:endParaRPr lang="en-US" sz="1272" dirty="0"/>
          </a:p>
        </p:txBody>
      </p:sp>
      <p:sp>
        <p:nvSpPr>
          <p:cNvPr id="59" name="te-diverge_58"/>
          <p:cNvSpPr txBox="1"/>
          <p:nvPr/>
        </p:nvSpPr>
        <p:spPr>
          <a:xfrm>
            <a:off x="2865090" y="5457048"/>
            <a:ext cx="1433596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4" b="1" dirty="0">
                <a:solidFill>
                  <a:srgbClr val="F9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= 0.9995</a:t>
            </a:r>
            <a:endParaRPr lang="en-US" sz="1654" dirty="0"/>
          </a:p>
        </p:txBody>
      </p:sp>
      <p:sp>
        <p:nvSpPr>
          <p:cNvPr id="60" name="te-diverge_59"/>
          <p:cNvSpPr/>
          <p:nvPr/>
        </p:nvSpPr>
        <p:spPr>
          <a:xfrm>
            <a:off x="2514600" y="6014100"/>
            <a:ext cx="8077170" cy="1143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1" name="te-diverge_60"/>
          <p:cNvSpPr/>
          <p:nvPr/>
        </p:nvSpPr>
        <p:spPr>
          <a:xfrm>
            <a:off x="2514600" y="5674401"/>
            <a:ext cx="8077170" cy="1143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2" name="te-diverge_61"/>
          <p:cNvSpPr/>
          <p:nvPr/>
        </p:nvSpPr>
        <p:spPr>
          <a:xfrm>
            <a:off x="2514600" y="5334701"/>
            <a:ext cx="8077170" cy="1143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3" name="te-diverge_62"/>
          <p:cNvSpPr/>
          <p:nvPr/>
        </p:nvSpPr>
        <p:spPr>
          <a:xfrm>
            <a:off x="2514600" y="4995001"/>
            <a:ext cx="8077170" cy="1143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4" name="te-diverge_63"/>
          <p:cNvSpPr/>
          <p:nvPr/>
        </p:nvSpPr>
        <p:spPr>
          <a:xfrm>
            <a:off x="2514600" y="4655393"/>
            <a:ext cx="8077170" cy="1143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5" name="te-diverge_64"/>
          <p:cNvSpPr/>
          <p:nvPr/>
        </p:nvSpPr>
        <p:spPr>
          <a:xfrm>
            <a:off x="2514600" y="4315694"/>
            <a:ext cx="8077170" cy="1143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6" name="te-diverge_65"/>
          <p:cNvSpPr/>
          <p:nvPr/>
        </p:nvSpPr>
        <p:spPr>
          <a:xfrm>
            <a:off x="2514600" y="3975994"/>
            <a:ext cx="8077170" cy="1143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7" name="te-diverge_66"/>
          <p:cNvSpPr/>
          <p:nvPr/>
        </p:nvSpPr>
        <p:spPr>
          <a:xfrm>
            <a:off x="2514600" y="3636294"/>
            <a:ext cx="8077170" cy="1143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8" name="te-diverge_67"/>
          <p:cNvSpPr/>
          <p:nvPr/>
        </p:nvSpPr>
        <p:spPr>
          <a:xfrm>
            <a:off x="2514600" y="3296595"/>
            <a:ext cx="8077170" cy="1143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9" name="te-diverge_68"/>
          <p:cNvSpPr/>
          <p:nvPr/>
        </p:nvSpPr>
        <p:spPr>
          <a:xfrm>
            <a:off x="2514600" y="2956987"/>
            <a:ext cx="8077170" cy="1143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0" name="te-diverge_69"/>
          <p:cNvSpPr txBox="1"/>
          <p:nvPr/>
        </p:nvSpPr>
        <p:spPr>
          <a:xfrm>
            <a:off x="2206904" y="5924580"/>
            <a:ext cx="200985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72" dirty="0"/>
          </a:p>
        </p:txBody>
      </p:sp>
      <p:sp>
        <p:nvSpPr>
          <p:cNvPr id="71" name="te-diverge_70"/>
          <p:cNvSpPr txBox="1"/>
          <p:nvPr/>
        </p:nvSpPr>
        <p:spPr>
          <a:xfrm>
            <a:off x="2040392" y="5584881"/>
            <a:ext cx="371155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</a:t>
            </a:r>
            <a:endParaRPr lang="en-US" sz="1272" dirty="0"/>
          </a:p>
        </p:txBody>
      </p:sp>
      <p:sp>
        <p:nvSpPr>
          <p:cNvPr id="72" name="te-diverge_71"/>
          <p:cNvSpPr txBox="1"/>
          <p:nvPr/>
        </p:nvSpPr>
        <p:spPr>
          <a:xfrm>
            <a:off x="2005188" y="5245181"/>
            <a:ext cx="406359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20k</a:t>
            </a:r>
            <a:endParaRPr lang="en-US" sz="1272" dirty="0"/>
          </a:p>
        </p:txBody>
      </p:sp>
      <p:sp>
        <p:nvSpPr>
          <p:cNvPr id="73" name="te-diverge_72"/>
          <p:cNvSpPr txBox="1"/>
          <p:nvPr/>
        </p:nvSpPr>
        <p:spPr>
          <a:xfrm>
            <a:off x="2003816" y="4905482"/>
            <a:ext cx="407731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30k</a:t>
            </a:r>
            <a:endParaRPr lang="en-US" sz="1272" dirty="0"/>
          </a:p>
        </p:txBody>
      </p:sp>
      <p:sp>
        <p:nvSpPr>
          <p:cNvPr id="74" name="te-diverge_73"/>
          <p:cNvSpPr txBox="1"/>
          <p:nvPr/>
        </p:nvSpPr>
        <p:spPr>
          <a:xfrm>
            <a:off x="1998970" y="4565782"/>
            <a:ext cx="412669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40k</a:t>
            </a:r>
            <a:endParaRPr lang="en-US" sz="1272" dirty="0"/>
          </a:p>
        </p:txBody>
      </p:sp>
      <p:sp>
        <p:nvSpPr>
          <p:cNvPr id="75" name="te-diverge_74"/>
          <p:cNvSpPr txBox="1"/>
          <p:nvPr/>
        </p:nvSpPr>
        <p:spPr>
          <a:xfrm>
            <a:off x="2005462" y="4226174"/>
            <a:ext cx="406085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</a:t>
            </a:r>
            <a:endParaRPr lang="en-US" sz="1272" dirty="0"/>
          </a:p>
        </p:txBody>
      </p:sp>
      <p:sp>
        <p:nvSpPr>
          <p:cNvPr id="76" name="te-diverge_75"/>
          <p:cNvSpPr txBox="1"/>
          <p:nvPr/>
        </p:nvSpPr>
        <p:spPr>
          <a:xfrm>
            <a:off x="2003359" y="3886474"/>
            <a:ext cx="408188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60k</a:t>
            </a:r>
            <a:endParaRPr lang="en-US" sz="1272" dirty="0"/>
          </a:p>
        </p:txBody>
      </p:sp>
      <p:sp>
        <p:nvSpPr>
          <p:cNvPr id="77" name="te-diverge_76"/>
          <p:cNvSpPr txBox="1"/>
          <p:nvPr/>
        </p:nvSpPr>
        <p:spPr>
          <a:xfrm>
            <a:off x="2015520" y="3546775"/>
            <a:ext cx="396027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70k</a:t>
            </a:r>
            <a:endParaRPr lang="en-US" sz="1272" dirty="0"/>
          </a:p>
        </p:txBody>
      </p:sp>
      <p:sp>
        <p:nvSpPr>
          <p:cNvPr id="78" name="te-diverge_77"/>
          <p:cNvSpPr txBox="1"/>
          <p:nvPr/>
        </p:nvSpPr>
        <p:spPr>
          <a:xfrm>
            <a:off x="2003633" y="3207075"/>
            <a:ext cx="407914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80k</a:t>
            </a:r>
            <a:endParaRPr lang="en-US" sz="1272" dirty="0"/>
          </a:p>
        </p:txBody>
      </p:sp>
      <p:sp>
        <p:nvSpPr>
          <p:cNvPr id="79" name="te-diverge_78"/>
          <p:cNvSpPr txBox="1"/>
          <p:nvPr/>
        </p:nvSpPr>
        <p:spPr>
          <a:xfrm>
            <a:off x="2003359" y="2867467"/>
            <a:ext cx="408188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90k</a:t>
            </a:r>
            <a:endParaRPr lang="en-US" sz="1272" dirty="0"/>
          </a:p>
        </p:txBody>
      </p:sp>
      <p:sp>
        <p:nvSpPr>
          <p:cNvPr id="80" name="te-diverge_79"/>
          <p:cNvSpPr/>
          <p:nvPr/>
        </p:nvSpPr>
        <p:spPr>
          <a:xfrm>
            <a:off x="2507010" y="601977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81" name="te-diverge_80"/>
          <p:cNvSpPr txBox="1"/>
          <p:nvPr/>
        </p:nvSpPr>
        <p:spPr>
          <a:xfrm>
            <a:off x="2414107" y="6168360"/>
            <a:ext cx="200985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72" dirty="0"/>
          </a:p>
        </p:txBody>
      </p:sp>
      <p:sp>
        <p:nvSpPr>
          <p:cNvPr id="82" name="te-diverge_81"/>
          <p:cNvSpPr/>
          <p:nvPr/>
        </p:nvSpPr>
        <p:spPr>
          <a:xfrm>
            <a:off x="4122390" y="601977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83" name="te-diverge_82"/>
          <p:cNvSpPr txBox="1"/>
          <p:nvPr/>
        </p:nvSpPr>
        <p:spPr>
          <a:xfrm>
            <a:off x="4031498" y="6168360"/>
            <a:ext cx="197053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72" dirty="0"/>
          </a:p>
        </p:txBody>
      </p:sp>
      <p:sp>
        <p:nvSpPr>
          <p:cNvPr id="84" name="te-diverge_83"/>
          <p:cNvSpPr/>
          <p:nvPr/>
        </p:nvSpPr>
        <p:spPr>
          <a:xfrm>
            <a:off x="5737860" y="601977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85" name="te-diverge_84"/>
          <p:cNvSpPr txBox="1"/>
          <p:nvPr/>
        </p:nvSpPr>
        <p:spPr>
          <a:xfrm>
            <a:off x="5609661" y="6168360"/>
            <a:ext cx="271668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72" dirty="0"/>
          </a:p>
        </p:txBody>
      </p:sp>
      <p:sp>
        <p:nvSpPr>
          <p:cNvPr id="86" name="te-diverge_85"/>
          <p:cNvSpPr/>
          <p:nvPr/>
        </p:nvSpPr>
        <p:spPr>
          <a:xfrm>
            <a:off x="7353330" y="601977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87" name="te-diverge_86"/>
          <p:cNvSpPr txBox="1"/>
          <p:nvPr/>
        </p:nvSpPr>
        <p:spPr>
          <a:xfrm>
            <a:off x="7227143" y="6168360"/>
            <a:ext cx="267645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72" dirty="0"/>
          </a:p>
        </p:txBody>
      </p:sp>
      <p:sp>
        <p:nvSpPr>
          <p:cNvPr id="88" name="te-diverge_87"/>
          <p:cNvSpPr/>
          <p:nvPr/>
        </p:nvSpPr>
        <p:spPr>
          <a:xfrm>
            <a:off x="8968710" y="601977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89" name="te-diverge_88"/>
          <p:cNvSpPr txBox="1"/>
          <p:nvPr/>
        </p:nvSpPr>
        <p:spPr>
          <a:xfrm>
            <a:off x="8822863" y="6168360"/>
            <a:ext cx="306873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72" dirty="0"/>
          </a:p>
        </p:txBody>
      </p:sp>
      <p:sp>
        <p:nvSpPr>
          <p:cNvPr id="90" name="te-diverge_89"/>
          <p:cNvSpPr/>
          <p:nvPr/>
        </p:nvSpPr>
        <p:spPr>
          <a:xfrm>
            <a:off x="10584180" y="601977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91" name="te-diverge_90"/>
          <p:cNvSpPr txBox="1"/>
          <p:nvPr/>
        </p:nvSpPr>
        <p:spPr>
          <a:xfrm>
            <a:off x="10440345" y="6168360"/>
            <a:ext cx="302941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72" dirty="0"/>
          </a:p>
        </p:txBody>
      </p:sp>
      <p:sp>
        <p:nvSpPr>
          <p:cNvPr id="92" name="te-diverge_91"/>
          <p:cNvSpPr/>
          <p:nvPr/>
        </p:nvSpPr>
        <p:spPr>
          <a:xfrm>
            <a:off x="2507010" y="2590770"/>
            <a:ext cx="15270" cy="342900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93" name="te-diverge_92"/>
          <p:cNvSpPr/>
          <p:nvPr/>
        </p:nvSpPr>
        <p:spPr>
          <a:xfrm>
            <a:off x="2514600" y="6012180"/>
            <a:ext cx="8077170" cy="152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94" name="te-diverge_93"/>
          <p:cNvSpPr txBox="1"/>
          <p:nvPr/>
        </p:nvSpPr>
        <p:spPr>
          <a:xfrm rot="16200000">
            <a:off x="778246" y="4229100"/>
            <a:ext cx="19487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per 0.5% bin</a:t>
            </a:r>
            <a:endParaRPr lang="en-US" sz="1526" dirty="0"/>
          </a:p>
        </p:txBody>
      </p:sp>
      <p:sp>
        <p:nvSpPr>
          <p:cNvPr id="95" name="te-diverge_94"/>
          <p:cNvSpPr txBox="1"/>
          <p:nvPr/>
        </p:nvSpPr>
        <p:spPr>
          <a:xfrm>
            <a:off x="5338907" y="6484650"/>
            <a:ext cx="242864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Kimura divergence (%)</a:t>
            </a:r>
            <a:endParaRPr lang="en-US" sz="1526" dirty="0"/>
          </a:p>
        </p:txBody>
      </p:sp>
      <p:sp>
        <p:nvSpPr>
          <p:cNvPr id="96" name="te-diverge_95"/>
          <p:cNvSpPr/>
          <p:nvPr/>
        </p:nvSpPr>
        <p:spPr>
          <a:xfrm>
            <a:off x="2595342" y="3040380"/>
            <a:ext cx="7996428" cy="2923794"/>
          </a:xfrm>
          <a:custGeom>
            <a:avLst/>
            <a:gdLst/>
            <a:ahLst/>
            <a:cxnLst/>
            <a:rect l="l" t="t" r="r" b="b"/>
            <a:pathLst>
              <a:path w="7996428" h="2923794">
                <a:moveTo>
                  <a:pt x="0" y="2923794"/>
                </a:moveTo>
                <a:lnTo>
                  <a:pt x="161574" y="2902488"/>
                </a:lnTo>
                <a:lnTo>
                  <a:pt x="323058" y="2815620"/>
                </a:lnTo>
                <a:lnTo>
                  <a:pt x="484632" y="2759202"/>
                </a:lnTo>
                <a:lnTo>
                  <a:pt x="646206" y="2666208"/>
                </a:lnTo>
                <a:lnTo>
                  <a:pt x="807690" y="2616738"/>
                </a:lnTo>
                <a:lnTo>
                  <a:pt x="969264" y="2608326"/>
                </a:lnTo>
                <a:lnTo>
                  <a:pt x="1130838" y="2576322"/>
                </a:lnTo>
                <a:lnTo>
                  <a:pt x="1292322" y="2535906"/>
                </a:lnTo>
                <a:lnTo>
                  <a:pt x="1453896" y="2466594"/>
                </a:lnTo>
                <a:lnTo>
                  <a:pt x="1615470" y="2356134"/>
                </a:lnTo>
                <a:lnTo>
                  <a:pt x="1776954" y="2207544"/>
                </a:lnTo>
                <a:lnTo>
                  <a:pt x="1938528" y="2094708"/>
                </a:lnTo>
                <a:lnTo>
                  <a:pt x="2100102" y="1909542"/>
                </a:lnTo>
                <a:lnTo>
                  <a:pt x="2261586" y="1835658"/>
                </a:lnTo>
                <a:lnTo>
                  <a:pt x="2423160" y="1607790"/>
                </a:lnTo>
                <a:lnTo>
                  <a:pt x="2584734" y="1418052"/>
                </a:lnTo>
                <a:lnTo>
                  <a:pt x="2746218" y="1181130"/>
                </a:lnTo>
                <a:lnTo>
                  <a:pt x="2907792" y="915954"/>
                </a:lnTo>
                <a:lnTo>
                  <a:pt x="3069366" y="655350"/>
                </a:lnTo>
                <a:lnTo>
                  <a:pt x="3230850" y="358902"/>
                </a:lnTo>
                <a:lnTo>
                  <a:pt x="3392424" y="215616"/>
                </a:lnTo>
                <a:lnTo>
                  <a:pt x="3553998" y="0"/>
                </a:lnTo>
                <a:lnTo>
                  <a:pt x="3715482" y="77724"/>
                </a:lnTo>
                <a:lnTo>
                  <a:pt x="3877056" y="101316"/>
                </a:lnTo>
                <a:lnTo>
                  <a:pt x="4038630" y="92172"/>
                </a:lnTo>
                <a:lnTo>
                  <a:pt x="4200114" y="214884"/>
                </a:lnTo>
                <a:lnTo>
                  <a:pt x="4361688" y="314736"/>
                </a:lnTo>
                <a:lnTo>
                  <a:pt x="4523262" y="449610"/>
                </a:lnTo>
                <a:lnTo>
                  <a:pt x="4684746" y="479328"/>
                </a:lnTo>
                <a:lnTo>
                  <a:pt x="4846320" y="495330"/>
                </a:lnTo>
                <a:lnTo>
                  <a:pt x="5007894" y="435072"/>
                </a:lnTo>
                <a:lnTo>
                  <a:pt x="5169378" y="441198"/>
                </a:lnTo>
                <a:lnTo>
                  <a:pt x="5330952" y="414498"/>
                </a:lnTo>
                <a:lnTo>
                  <a:pt x="5492526" y="397764"/>
                </a:lnTo>
                <a:lnTo>
                  <a:pt x="5654010" y="384048"/>
                </a:lnTo>
                <a:lnTo>
                  <a:pt x="5815584" y="396210"/>
                </a:lnTo>
                <a:lnTo>
                  <a:pt x="5977158" y="422178"/>
                </a:lnTo>
                <a:lnTo>
                  <a:pt x="6138642" y="398496"/>
                </a:lnTo>
                <a:lnTo>
                  <a:pt x="6300216" y="565374"/>
                </a:lnTo>
                <a:lnTo>
                  <a:pt x="6461790" y="460218"/>
                </a:lnTo>
                <a:lnTo>
                  <a:pt x="6623274" y="600486"/>
                </a:lnTo>
                <a:lnTo>
                  <a:pt x="6784848" y="589056"/>
                </a:lnTo>
                <a:lnTo>
                  <a:pt x="6946422" y="643920"/>
                </a:lnTo>
                <a:lnTo>
                  <a:pt x="7107906" y="626364"/>
                </a:lnTo>
                <a:lnTo>
                  <a:pt x="7269480" y="607344"/>
                </a:lnTo>
                <a:lnTo>
                  <a:pt x="7431054" y="566196"/>
                </a:lnTo>
                <a:lnTo>
                  <a:pt x="7592538" y="522762"/>
                </a:lnTo>
                <a:lnTo>
                  <a:pt x="7754112" y="478506"/>
                </a:lnTo>
                <a:lnTo>
                  <a:pt x="7915686" y="557052"/>
                </a:lnTo>
                <a:lnTo>
                  <a:pt x="7996428" y="329184"/>
                </a:lnTo>
              </a:path>
            </a:pathLst>
          </a:custGeom>
          <a:ln w="30480">
            <a:solidFill>
              <a:srgbClr val="006FF9"/>
            </a:solidFill>
            <a:prstDash val="solid"/>
          </a:ln>
        </p:spPr>
      </p:sp>
      <p:sp>
        <p:nvSpPr>
          <p:cNvPr id="97" name="te-diverge_96"/>
          <p:cNvSpPr/>
          <p:nvPr/>
        </p:nvSpPr>
        <p:spPr>
          <a:xfrm>
            <a:off x="2595342" y="2915382"/>
            <a:ext cx="7996428" cy="3036540"/>
          </a:xfrm>
          <a:custGeom>
            <a:avLst/>
            <a:gdLst/>
            <a:ahLst/>
            <a:cxnLst/>
            <a:rect l="l" t="t" r="r" b="b"/>
            <a:pathLst>
              <a:path w="7996428" h="3036540">
                <a:moveTo>
                  <a:pt x="0" y="3023646"/>
                </a:moveTo>
                <a:lnTo>
                  <a:pt x="161574" y="3036540"/>
                </a:lnTo>
                <a:lnTo>
                  <a:pt x="323058" y="2969514"/>
                </a:lnTo>
                <a:lnTo>
                  <a:pt x="484632" y="2924526"/>
                </a:lnTo>
                <a:lnTo>
                  <a:pt x="646206" y="2871948"/>
                </a:lnTo>
                <a:lnTo>
                  <a:pt x="807690" y="2843784"/>
                </a:lnTo>
                <a:lnTo>
                  <a:pt x="969264" y="2823210"/>
                </a:lnTo>
                <a:lnTo>
                  <a:pt x="1130838" y="2804190"/>
                </a:lnTo>
                <a:lnTo>
                  <a:pt x="1292322" y="2754630"/>
                </a:lnTo>
                <a:lnTo>
                  <a:pt x="1453896" y="2683764"/>
                </a:lnTo>
                <a:lnTo>
                  <a:pt x="1615470" y="2563338"/>
                </a:lnTo>
                <a:lnTo>
                  <a:pt x="1776954" y="2446020"/>
                </a:lnTo>
                <a:lnTo>
                  <a:pt x="1938528" y="2308860"/>
                </a:lnTo>
                <a:lnTo>
                  <a:pt x="2100102" y="2157984"/>
                </a:lnTo>
                <a:lnTo>
                  <a:pt x="2261586" y="2006376"/>
                </a:lnTo>
                <a:lnTo>
                  <a:pt x="2423160" y="1824960"/>
                </a:lnTo>
                <a:lnTo>
                  <a:pt x="2584734" y="1594896"/>
                </a:lnTo>
                <a:lnTo>
                  <a:pt x="2746218" y="1389888"/>
                </a:lnTo>
                <a:lnTo>
                  <a:pt x="2907792" y="1057686"/>
                </a:lnTo>
                <a:lnTo>
                  <a:pt x="3069366" y="868680"/>
                </a:lnTo>
                <a:lnTo>
                  <a:pt x="3230850" y="514350"/>
                </a:lnTo>
                <a:lnTo>
                  <a:pt x="3392424" y="355062"/>
                </a:lnTo>
                <a:lnTo>
                  <a:pt x="3553998" y="138714"/>
                </a:lnTo>
                <a:lnTo>
                  <a:pt x="3715482" y="88422"/>
                </a:lnTo>
                <a:lnTo>
                  <a:pt x="3877056" y="81564"/>
                </a:lnTo>
                <a:lnTo>
                  <a:pt x="4038630" y="0"/>
                </a:lnTo>
                <a:lnTo>
                  <a:pt x="4200114" y="116586"/>
                </a:lnTo>
                <a:lnTo>
                  <a:pt x="4361688" y="71598"/>
                </a:lnTo>
                <a:lnTo>
                  <a:pt x="4523262" y="171450"/>
                </a:lnTo>
                <a:lnTo>
                  <a:pt x="4684746" y="146304"/>
                </a:lnTo>
                <a:lnTo>
                  <a:pt x="4846320" y="190470"/>
                </a:lnTo>
                <a:lnTo>
                  <a:pt x="5007894" y="167610"/>
                </a:lnTo>
                <a:lnTo>
                  <a:pt x="5169378" y="192756"/>
                </a:lnTo>
                <a:lnTo>
                  <a:pt x="5330952" y="194310"/>
                </a:lnTo>
                <a:lnTo>
                  <a:pt x="5492526" y="227868"/>
                </a:lnTo>
                <a:lnTo>
                  <a:pt x="5654010" y="317754"/>
                </a:lnTo>
                <a:lnTo>
                  <a:pt x="5815584" y="414498"/>
                </a:lnTo>
                <a:lnTo>
                  <a:pt x="5977158" y="479328"/>
                </a:lnTo>
                <a:lnTo>
                  <a:pt x="6138642" y="530352"/>
                </a:lnTo>
                <a:lnTo>
                  <a:pt x="6300216" y="672816"/>
                </a:lnTo>
                <a:lnTo>
                  <a:pt x="6461790" y="493044"/>
                </a:lnTo>
                <a:lnTo>
                  <a:pt x="6623274" y="617952"/>
                </a:lnTo>
                <a:lnTo>
                  <a:pt x="6784848" y="607344"/>
                </a:lnTo>
                <a:lnTo>
                  <a:pt x="6946422" y="601950"/>
                </a:lnTo>
                <a:lnTo>
                  <a:pt x="7107906" y="573054"/>
                </a:lnTo>
                <a:lnTo>
                  <a:pt x="7269480" y="541782"/>
                </a:lnTo>
                <a:lnTo>
                  <a:pt x="7431054" y="525048"/>
                </a:lnTo>
                <a:lnTo>
                  <a:pt x="7592538" y="472470"/>
                </a:lnTo>
                <a:lnTo>
                  <a:pt x="7754112" y="454182"/>
                </a:lnTo>
                <a:lnTo>
                  <a:pt x="7915686" y="610362"/>
                </a:lnTo>
                <a:lnTo>
                  <a:pt x="7996428" y="449610"/>
                </a:lnTo>
              </a:path>
            </a:pathLst>
          </a:custGeom>
          <a:ln w="30480">
            <a:solidFill>
              <a:srgbClr val="F93500"/>
            </a:solidFill>
            <a:prstDash val="solid"/>
          </a:ln>
        </p:spPr>
      </p:sp>
      <p:sp>
        <p:nvSpPr>
          <p:cNvPr id="98" name="te-diverge_97"/>
          <p:cNvSpPr/>
          <p:nvPr/>
        </p:nvSpPr>
        <p:spPr>
          <a:xfrm>
            <a:off x="7543800" y="2388870"/>
            <a:ext cx="304770" cy="38130"/>
          </a:xfrm>
          <a:prstGeom prst="roundRect">
            <a:avLst>
              <a:gd name="adj" fmla="val 49881"/>
            </a:avLst>
          </a:prstGeom>
          <a:solidFill>
            <a:srgbClr val="F93500"/>
          </a:solidFill>
          <a:ln/>
        </p:spPr>
      </p:sp>
      <p:sp>
        <p:nvSpPr>
          <p:cNvPr id="99" name="te-diverge_98"/>
          <p:cNvSpPr txBox="1"/>
          <p:nvPr/>
        </p:nvSpPr>
        <p:spPr>
          <a:xfrm>
            <a:off x="7924830" y="2303191"/>
            <a:ext cx="864291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9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RMBlast</a:t>
            </a:r>
            <a:endParaRPr lang="en-US" sz="1399" dirty="0"/>
          </a:p>
        </p:txBody>
      </p:sp>
      <p:sp>
        <p:nvSpPr>
          <p:cNvPr id="100" name="te-diverge_99"/>
          <p:cNvSpPr/>
          <p:nvPr/>
        </p:nvSpPr>
        <p:spPr>
          <a:xfrm>
            <a:off x="9144000" y="2388870"/>
            <a:ext cx="304770" cy="38130"/>
          </a:xfrm>
          <a:prstGeom prst="roundRect">
            <a:avLst>
              <a:gd name="adj" fmla="val 49881"/>
            </a:avLst>
          </a:prstGeom>
          <a:solidFill>
            <a:srgbClr val="006FF9"/>
          </a:solidFill>
          <a:ln/>
        </p:spPr>
      </p:sp>
      <p:sp>
        <p:nvSpPr>
          <p:cNvPr id="101" name="te-diverge_100"/>
          <p:cNvSpPr txBox="1"/>
          <p:nvPr/>
        </p:nvSpPr>
        <p:spPr>
          <a:xfrm>
            <a:off x="9525030" y="2303191"/>
            <a:ext cx="837682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9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HMMER</a:t>
            </a:r>
            <a:endParaRPr lang="en-US" sz="1399" dirty="0"/>
          </a:p>
        </p:txBody>
      </p:sp>
      <p:sp>
        <p:nvSpPr>
          <p:cNvPr id="102" name="te-diverge_101"/>
          <p:cNvSpPr/>
          <p:nvPr/>
        </p:nvSpPr>
        <p:spPr>
          <a:xfrm>
            <a:off x="2514600" y="6014100"/>
            <a:ext cx="8077170" cy="1143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3" name="te-diverge_102"/>
          <p:cNvSpPr/>
          <p:nvPr/>
        </p:nvSpPr>
        <p:spPr>
          <a:xfrm>
            <a:off x="2514600" y="5506883"/>
            <a:ext cx="8077170" cy="1143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4" name="te-diverge_103"/>
          <p:cNvSpPr/>
          <p:nvPr/>
        </p:nvSpPr>
        <p:spPr>
          <a:xfrm>
            <a:off x="2514600" y="4999665"/>
            <a:ext cx="8077170" cy="1143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5" name="te-diverge_104"/>
          <p:cNvSpPr/>
          <p:nvPr/>
        </p:nvSpPr>
        <p:spPr>
          <a:xfrm>
            <a:off x="2514600" y="4492447"/>
            <a:ext cx="8077170" cy="1143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6" name="te-diverge_105"/>
          <p:cNvSpPr/>
          <p:nvPr/>
        </p:nvSpPr>
        <p:spPr>
          <a:xfrm>
            <a:off x="2514600" y="3985230"/>
            <a:ext cx="8077170" cy="1143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7" name="te-diverge_106"/>
          <p:cNvSpPr/>
          <p:nvPr/>
        </p:nvSpPr>
        <p:spPr>
          <a:xfrm>
            <a:off x="2514600" y="3478012"/>
            <a:ext cx="8077170" cy="1143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8" name="te-diverge_107"/>
          <p:cNvSpPr/>
          <p:nvPr/>
        </p:nvSpPr>
        <p:spPr>
          <a:xfrm>
            <a:off x="2514600" y="2970794"/>
            <a:ext cx="8077170" cy="1143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9" name="te-diverge_108"/>
          <p:cNvSpPr txBox="1"/>
          <p:nvPr/>
        </p:nvSpPr>
        <p:spPr>
          <a:xfrm>
            <a:off x="2206904" y="5924580"/>
            <a:ext cx="200985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72" dirty="0"/>
          </a:p>
        </p:txBody>
      </p:sp>
      <p:sp>
        <p:nvSpPr>
          <p:cNvPr id="110" name="te-diverge_109"/>
          <p:cNvSpPr txBox="1"/>
          <p:nvPr/>
        </p:nvSpPr>
        <p:spPr>
          <a:xfrm>
            <a:off x="2005188" y="5417363"/>
            <a:ext cx="406359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20k</a:t>
            </a:r>
            <a:endParaRPr lang="en-US" sz="1272" dirty="0"/>
          </a:p>
        </p:txBody>
      </p:sp>
      <p:sp>
        <p:nvSpPr>
          <p:cNvPr id="111" name="te-diverge_110"/>
          <p:cNvSpPr txBox="1"/>
          <p:nvPr/>
        </p:nvSpPr>
        <p:spPr>
          <a:xfrm>
            <a:off x="1998970" y="4910145"/>
            <a:ext cx="412669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40k</a:t>
            </a:r>
            <a:endParaRPr lang="en-US" sz="1272" dirty="0"/>
          </a:p>
        </p:txBody>
      </p:sp>
      <p:sp>
        <p:nvSpPr>
          <p:cNvPr id="112" name="te-diverge_111"/>
          <p:cNvSpPr txBox="1"/>
          <p:nvPr/>
        </p:nvSpPr>
        <p:spPr>
          <a:xfrm>
            <a:off x="2003359" y="4402927"/>
            <a:ext cx="408188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60k</a:t>
            </a:r>
            <a:endParaRPr lang="en-US" sz="1272" dirty="0"/>
          </a:p>
        </p:txBody>
      </p:sp>
      <p:sp>
        <p:nvSpPr>
          <p:cNvPr id="113" name="te-diverge_112"/>
          <p:cNvSpPr txBox="1"/>
          <p:nvPr/>
        </p:nvSpPr>
        <p:spPr>
          <a:xfrm>
            <a:off x="2003633" y="3895710"/>
            <a:ext cx="407914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80k</a:t>
            </a:r>
            <a:endParaRPr lang="en-US" sz="1272" dirty="0"/>
          </a:p>
        </p:txBody>
      </p:sp>
      <p:sp>
        <p:nvSpPr>
          <p:cNvPr id="114" name="te-diverge_113"/>
          <p:cNvSpPr txBox="1"/>
          <p:nvPr/>
        </p:nvSpPr>
        <p:spPr>
          <a:xfrm>
            <a:off x="1930938" y="3388492"/>
            <a:ext cx="48070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</a:t>
            </a:r>
            <a:endParaRPr lang="en-US" sz="1272" dirty="0"/>
          </a:p>
        </p:txBody>
      </p:sp>
      <p:sp>
        <p:nvSpPr>
          <p:cNvPr id="115" name="te-diverge_114"/>
          <p:cNvSpPr txBox="1"/>
          <p:nvPr/>
        </p:nvSpPr>
        <p:spPr>
          <a:xfrm>
            <a:off x="1934505" y="2881274"/>
            <a:ext cx="477042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120k</a:t>
            </a:r>
            <a:endParaRPr lang="en-US" sz="1272" dirty="0"/>
          </a:p>
        </p:txBody>
      </p:sp>
      <p:sp>
        <p:nvSpPr>
          <p:cNvPr id="116" name="te-diverge_115"/>
          <p:cNvSpPr/>
          <p:nvPr/>
        </p:nvSpPr>
        <p:spPr>
          <a:xfrm>
            <a:off x="2507010" y="601977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117" name="te-diverge_116"/>
          <p:cNvSpPr txBox="1"/>
          <p:nvPr/>
        </p:nvSpPr>
        <p:spPr>
          <a:xfrm>
            <a:off x="2414107" y="6168360"/>
            <a:ext cx="200985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72" dirty="0"/>
          </a:p>
        </p:txBody>
      </p:sp>
      <p:sp>
        <p:nvSpPr>
          <p:cNvPr id="118" name="te-diverge_117"/>
          <p:cNvSpPr/>
          <p:nvPr/>
        </p:nvSpPr>
        <p:spPr>
          <a:xfrm>
            <a:off x="3314700" y="601977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119" name="te-diverge_118"/>
          <p:cNvSpPr txBox="1"/>
          <p:nvPr/>
        </p:nvSpPr>
        <p:spPr>
          <a:xfrm>
            <a:off x="3223809" y="6168360"/>
            <a:ext cx="197053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72" dirty="0"/>
          </a:p>
        </p:txBody>
      </p:sp>
      <p:sp>
        <p:nvSpPr>
          <p:cNvPr id="120" name="te-diverge_119"/>
          <p:cNvSpPr/>
          <p:nvPr/>
        </p:nvSpPr>
        <p:spPr>
          <a:xfrm>
            <a:off x="4122390" y="601977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121" name="te-diverge_120"/>
          <p:cNvSpPr txBox="1"/>
          <p:nvPr/>
        </p:nvSpPr>
        <p:spPr>
          <a:xfrm>
            <a:off x="3994191" y="6168360"/>
            <a:ext cx="271668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72" dirty="0"/>
          </a:p>
        </p:txBody>
      </p:sp>
      <p:sp>
        <p:nvSpPr>
          <p:cNvPr id="122" name="te-diverge_121"/>
          <p:cNvSpPr/>
          <p:nvPr/>
        </p:nvSpPr>
        <p:spPr>
          <a:xfrm>
            <a:off x="4930170" y="601977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123" name="te-diverge_122"/>
          <p:cNvSpPr txBox="1"/>
          <p:nvPr/>
        </p:nvSpPr>
        <p:spPr>
          <a:xfrm>
            <a:off x="4803983" y="6168360"/>
            <a:ext cx="267645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72" dirty="0"/>
          </a:p>
        </p:txBody>
      </p:sp>
      <p:sp>
        <p:nvSpPr>
          <p:cNvPr id="124" name="te-diverge_123"/>
          <p:cNvSpPr/>
          <p:nvPr/>
        </p:nvSpPr>
        <p:spPr>
          <a:xfrm>
            <a:off x="5737860" y="601977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125" name="te-diverge_124"/>
          <p:cNvSpPr txBox="1"/>
          <p:nvPr/>
        </p:nvSpPr>
        <p:spPr>
          <a:xfrm>
            <a:off x="5592013" y="6168360"/>
            <a:ext cx="306873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72" dirty="0"/>
          </a:p>
        </p:txBody>
      </p:sp>
      <p:sp>
        <p:nvSpPr>
          <p:cNvPr id="126" name="te-diverge_125"/>
          <p:cNvSpPr/>
          <p:nvPr/>
        </p:nvSpPr>
        <p:spPr>
          <a:xfrm>
            <a:off x="6545550" y="601977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127" name="te-diverge_126"/>
          <p:cNvSpPr txBox="1"/>
          <p:nvPr/>
        </p:nvSpPr>
        <p:spPr>
          <a:xfrm>
            <a:off x="6401714" y="6168360"/>
            <a:ext cx="302941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72" dirty="0"/>
          </a:p>
        </p:txBody>
      </p:sp>
      <p:sp>
        <p:nvSpPr>
          <p:cNvPr id="128" name="te-diverge_127"/>
          <p:cNvSpPr/>
          <p:nvPr/>
        </p:nvSpPr>
        <p:spPr>
          <a:xfrm>
            <a:off x="7353330" y="601977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129" name="te-diverge_128"/>
          <p:cNvSpPr txBox="1"/>
          <p:nvPr/>
        </p:nvSpPr>
        <p:spPr>
          <a:xfrm>
            <a:off x="7206752" y="6168360"/>
            <a:ext cx="308336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72" dirty="0"/>
          </a:p>
        </p:txBody>
      </p:sp>
      <p:sp>
        <p:nvSpPr>
          <p:cNvPr id="130" name="te-diverge_129"/>
          <p:cNvSpPr/>
          <p:nvPr/>
        </p:nvSpPr>
        <p:spPr>
          <a:xfrm>
            <a:off x="8161020" y="601977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131" name="te-diverge_130"/>
          <p:cNvSpPr txBox="1"/>
          <p:nvPr/>
        </p:nvSpPr>
        <p:spPr>
          <a:xfrm>
            <a:off x="8016453" y="6168360"/>
            <a:ext cx="304404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72" dirty="0"/>
          </a:p>
        </p:txBody>
      </p:sp>
      <p:sp>
        <p:nvSpPr>
          <p:cNvPr id="132" name="te-diverge_131"/>
          <p:cNvSpPr/>
          <p:nvPr/>
        </p:nvSpPr>
        <p:spPr>
          <a:xfrm>
            <a:off x="8968710" y="601977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133" name="te-diverge_132"/>
          <p:cNvSpPr txBox="1"/>
          <p:nvPr/>
        </p:nvSpPr>
        <p:spPr>
          <a:xfrm>
            <a:off x="8819754" y="6168360"/>
            <a:ext cx="313091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72" dirty="0"/>
          </a:p>
        </p:txBody>
      </p:sp>
      <p:sp>
        <p:nvSpPr>
          <p:cNvPr id="134" name="te-diverge_133"/>
          <p:cNvSpPr/>
          <p:nvPr/>
        </p:nvSpPr>
        <p:spPr>
          <a:xfrm>
            <a:off x="9776490" y="601977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135" name="te-diverge_134"/>
          <p:cNvSpPr txBox="1"/>
          <p:nvPr/>
        </p:nvSpPr>
        <p:spPr>
          <a:xfrm>
            <a:off x="9629455" y="6168360"/>
            <a:ext cx="309159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72" dirty="0"/>
          </a:p>
        </p:txBody>
      </p:sp>
      <p:sp>
        <p:nvSpPr>
          <p:cNvPr id="136" name="te-diverge_135"/>
          <p:cNvSpPr/>
          <p:nvPr/>
        </p:nvSpPr>
        <p:spPr>
          <a:xfrm>
            <a:off x="10584180" y="6019770"/>
            <a:ext cx="15270" cy="761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137" name="te-diverge_136"/>
          <p:cNvSpPr txBox="1"/>
          <p:nvPr/>
        </p:nvSpPr>
        <p:spPr>
          <a:xfrm>
            <a:off x="10438516" y="6168360"/>
            <a:ext cx="306598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2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72" dirty="0"/>
          </a:p>
        </p:txBody>
      </p:sp>
      <p:sp>
        <p:nvSpPr>
          <p:cNvPr id="138" name="te-diverge_137"/>
          <p:cNvSpPr/>
          <p:nvPr/>
        </p:nvSpPr>
        <p:spPr>
          <a:xfrm>
            <a:off x="2507010" y="2590770"/>
            <a:ext cx="15270" cy="342900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139" name="te-diverge_138"/>
          <p:cNvSpPr/>
          <p:nvPr/>
        </p:nvSpPr>
        <p:spPr>
          <a:xfrm>
            <a:off x="2514600" y="6012180"/>
            <a:ext cx="8077170" cy="152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140" name="te-diverge_139"/>
          <p:cNvSpPr txBox="1"/>
          <p:nvPr/>
        </p:nvSpPr>
        <p:spPr>
          <a:xfrm rot="16200000">
            <a:off x="778246" y="4229100"/>
            <a:ext cx="19487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per 0.5% bin</a:t>
            </a:r>
            <a:endParaRPr lang="en-US" sz="1526" dirty="0"/>
          </a:p>
        </p:txBody>
      </p:sp>
      <p:sp>
        <p:nvSpPr>
          <p:cNvPr id="141" name="te-diverge_140"/>
          <p:cNvSpPr txBox="1"/>
          <p:nvPr/>
        </p:nvSpPr>
        <p:spPr>
          <a:xfrm>
            <a:off x="5338907" y="6484650"/>
            <a:ext cx="242864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Kimura divergence (%)</a:t>
            </a:r>
            <a:endParaRPr lang="en-US" sz="1526" dirty="0"/>
          </a:p>
        </p:txBody>
      </p:sp>
      <p:sp>
        <p:nvSpPr>
          <p:cNvPr id="142" name="te-diverge_141"/>
          <p:cNvSpPr/>
          <p:nvPr/>
        </p:nvSpPr>
        <p:spPr>
          <a:xfrm>
            <a:off x="2555016" y="2915382"/>
            <a:ext cx="7996428" cy="3099816"/>
          </a:xfrm>
          <a:custGeom>
            <a:avLst/>
            <a:gdLst/>
            <a:ahLst/>
            <a:cxnLst/>
            <a:rect l="l" t="t" r="r" b="b"/>
            <a:pathLst>
              <a:path w="7996428" h="3099816">
                <a:moveTo>
                  <a:pt x="0" y="3063240"/>
                </a:moveTo>
                <a:lnTo>
                  <a:pt x="80742" y="3046506"/>
                </a:lnTo>
                <a:lnTo>
                  <a:pt x="161574" y="2982498"/>
                </a:lnTo>
                <a:lnTo>
                  <a:pt x="242316" y="2939796"/>
                </a:lnTo>
                <a:lnTo>
                  <a:pt x="323058" y="2870484"/>
                </a:lnTo>
                <a:lnTo>
                  <a:pt x="403890" y="2833908"/>
                </a:lnTo>
                <a:lnTo>
                  <a:pt x="484632" y="2827782"/>
                </a:lnTo>
                <a:lnTo>
                  <a:pt x="565374" y="2803368"/>
                </a:lnTo>
                <a:lnTo>
                  <a:pt x="646206" y="2773650"/>
                </a:lnTo>
                <a:lnTo>
                  <a:pt x="726948" y="2721072"/>
                </a:lnTo>
                <a:lnTo>
                  <a:pt x="807690" y="2639598"/>
                </a:lnTo>
                <a:lnTo>
                  <a:pt x="888522" y="2528316"/>
                </a:lnTo>
                <a:lnTo>
                  <a:pt x="969264" y="2443734"/>
                </a:lnTo>
                <a:lnTo>
                  <a:pt x="1050006" y="2305842"/>
                </a:lnTo>
                <a:lnTo>
                  <a:pt x="1130838" y="2250156"/>
                </a:lnTo>
                <a:lnTo>
                  <a:pt x="1211580" y="2080260"/>
                </a:lnTo>
                <a:lnTo>
                  <a:pt x="1292322" y="1938528"/>
                </a:lnTo>
                <a:lnTo>
                  <a:pt x="1373154" y="1761774"/>
                </a:lnTo>
                <a:lnTo>
                  <a:pt x="1453896" y="1563624"/>
                </a:lnTo>
                <a:lnTo>
                  <a:pt x="1534638" y="1369314"/>
                </a:lnTo>
                <a:lnTo>
                  <a:pt x="1615470" y="1147572"/>
                </a:lnTo>
                <a:lnTo>
                  <a:pt x="1696212" y="1040862"/>
                </a:lnTo>
                <a:lnTo>
                  <a:pt x="1776954" y="880110"/>
                </a:lnTo>
                <a:lnTo>
                  <a:pt x="1857786" y="937992"/>
                </a:lnTo>
                <a:lnTo>
                  <a:pt x="1938528" y="955548"/>
                </a:lnTo>
                <a:lnTo>
                  <a:pt x="2019270" y="948690"/>
                </a:lnTo>
                <a:lnTo>
                  <a:pt x="2100102" y="1040130"/>
                </a:lnTo>
                <a:lnTo>
                  <a:pt x="2180844" y="1114836"/>
                </a:lnTo>
                <a:lnTo>
                  <a:pt x="2261586" y="1215420"/>
                </a:lnTo>
                <a:lnTo>
                  <a:pt x="2342418" y="1237458"/>
                </a:lnTo>
                <a:lnTo>
                  <a:pt x="2423160" y="1249710"/>
                </a:lnTo>
                <a:lnTo>
                  <a:pt x="2503902" y="1204722"/>
                </a:lnTo>
                <a:lnTo>
                  <a:pt x="2584734" y="1209294"/>
                </a:lnTo>
                <a:lnTo>
                  <a:pt x="2665476" y="1189452"/>
                </a:lnTo>
                <a:lnTo>
                  <a:pt x="2746218" y="1177290"/>
                </a:lnTo>
                <a:lnTo>
                  <a:pt x="2827050" y="1166592"/>
                </a:lnTo>
                <a:lnTo>
                  <a:pt x="2907792" y="1175736"/>
                </a:lnTo>
                <a:lnTo>
                  <a:pt x="2988534" y="1195578"/>
                </a:lnTo>
                <a:lnTo>
                  <a:pt x="3069366" y="1177290"/>
                </a:lnTo>
                <a:lnTo>
                  <a:pt x="3150108" y="1302288"/>
                </a:lnTo>
                <a:lnTo>
                  <a:pt x="3230850" y="1223010"/>
                </a:lnTo>
                <a:lnTo>
                  <a:pt x="3311682" y="1328166"/>
                </a:lnTo>
                <a:lnTo>
                  <a:pt x="3392424" y="1319754"/>
                </a:lnTo>
                <a:lnTo>
                  <a:pt x="3473166" y="1360170"/>
                </a:lnTo>
                <a:lnTo>
                  <a:pt x="3553998" y="1347186"/>
                </a:lnTo>
                <a:lnTo>
                  <a:pt x="3634740" y="1333470"/>
                </a:lnTo>
                <a:lnTo>
                  <a:pt x="3715482" y="1302288"/>
                </a:lnTo>
                <a:lnTo>
                  <a:pt x="3796314" y="1270284"/>
                </a:lnTo>
                <a:lnTo>
                  <a:pt x="3877056" y="1236726"/>
                </a:lnTo>
                <a:lnTo>
                  <a:pt x="3957798" y="1295430"/>
                </a:lnTo>
                <a:lnTo>
                  <a:pt x="4038630" y="955548"/>
                </a:lnTo>
                <a:lnTo>
                  <a:pt x="4119372" y="1068294"/>
                </a:lnTo>
                <a:lnTo>
                  <a:pt x="4200114" y="982980"/>
                </a:lnTo>
                <a:lnTo>
                  <a:pt x="4280946" y="905988"/>
                </a:lnTo>
                <a:lnTo>
                  <a:pt x="4361688" y="816834"/>
                </a:lnTo>
                <a:lnTo>
                  <a:pt x="4442430" y="783366"/>
                </a:lnTo>
                <a:lnTo>
                  <a:pt x="4523262" y="652242"/>
                </a:lnTo>
                <a:lnTo>
                  <a:pt x="4604004" y="576804"/>
                </a:lnTo>
                <a:lnTo>
                  <a:pt x="4684746" y="495330"/>
                </a:lnTo>
                <a:lnTo>
                  <a:pt x="4765578" y="403068"/>
                </a:lnTo>
                <a:lnTo>
                  <a:pt x="4846320" y="297912"/>
                </a:lnTo>
                <a:lnTo>
                  <a:pt x="4927062" y="217902"/>
                </a:lnTo>
                <a:lnTo>
                  <a:pt x="5007894" y="185898"/>
                </a:lnTo>
                <a:lnTo>
                  <a:pt x="5088636" y="121890"/>
                </a:lnTo>
                <a:lnTo>
                  <a:pt x="5169378" y="116586"/>
                </a:lnTo>
                <a:lnTo>
                  <a:pt x="5250210" y="25878"/>
                </a:lnTo>
                <a:lnTo>
                  <a:pt x="5330952" y="0"/>
                </a:lnTo>
                <a:lnTo>
                  <a:pt x="5411694" y="112014"/>
                </a:lnTo>
                <a:lnTo>
                  <a:pt x="5492526" y="99852"/>
                </a:lnTo>
                <a:lnTo>
                  <a:pt x="5573268" y="163860"/>
                </a:lnTo>
                <a:lnTo>
                  <a:pt x="5654010" y="243048"/>
                </a:lnTo>
                <a:lnTo>
                  <a:pt x="5734842" y="345918"/>
                </a:lnTo>
                <a:lnTo>
                  <a:pt x="5815584" y="473934"/>
                </a:lnTo>
                <a:lnTo>
                  <a:pt x="5896326" y="625632"/>
                </a:lnTo>
                <a:lnTo>
                  <a:pt x="5977158" y="797082"/>
                </a:lnTo>
                <a:lnTo>
                  <a:pt x="6057900" y="966978"/>
                </a:lnTo>
                <a:lnTo>
                  <a:pt x="6138642" y="1181130"/>
                </a:lnTo>
                <a:lnTo>
                  <a:pt x="6219474" y="1345722"/>
                </a:lnTo>
                <a:lnTo>
                  <a:pt x="6300216" y="1552926"/>
                </a:lnTo>
                <a:lnTo>
                  <a:pt x="6380958" y="1783080"/>
                </a:lnTo>
                <a:lnTo>
                  <a:pt x="6461790" y="1932402"/>
                </a:lnTo>
                <a:lnTo>
                  <a:pt x="6542532" y="2135856"/>
                </a:lnTo>
                <a:lnTo>
                  <a:pt x="6623274" y="2295144"/>
                </a:lnTo>
                <a:lnTo>
                  <a:pt x="6704106" y="2457450"/>
                </a:lnTo>
                <a:lnTo>
                  <a:pt x="6784848" y="2581626"/>
                </a:lnTo>
                <a:lnTo>
                  <a:pt x="6865590" y="2695926"/>
                </a:lnTo>
                <a:lnTo>
                  <a:pt x="6946422" y="2783616"/>
                </a:lnTo>
                <a:lnTo>
                  <a:pt x="7027164" y="2862804"/>
                </a:lnTo>
                <a:lnTo>
                  <a:pt x="7107906" y="2916204"/>
                </a:lnTo>
                <a:lnTo>
                  <a:pt x="7188738" y="2969514"/>
                </a:lnTo>
                <a:lnTo>
                  <a:pt x="7269480" y="3003804"/>
                </a:lnTo>
                <a:lnTo>
                  <a:pt x="7350222" y="3029682"/>
                </a:lnTo>
                <a:lnTo>
                  <a:pt x="7431054" y="3051078"/>
                </a:lnTo>
                <a:lnTo>
                  <a:pt x="7511796" y="3067080"/>
                </a:lnTo>
                <a:lnTo>
                  <a:pt x="7592538" y="3076224"/>
                </a:lnTo>
                <a:lnTo>
                  <a:pt x="7673370" y="3085368"/>
                </a:lnTo>
                <a:lnTo>
                  <a:pt x="7754112" y="3090672"/>
                </a:lnTo>
                <a:lnTo>
                  <a:pt x="7834854" y="3095976"/>
                </a:lnTo>
                <a:lnTo>
                  <a:pt x="7915686" y="3096798"/>
                </a:lnTo>
                <a:lnTo>
                  <a:pt x="7996428" y="3099816"/>
                </a:lnTo>
              </a:path>
            </a:pathLst>
          </a:custGeom>
          <a:ln w="30480">
            <a:solidFill>
              <a:srgbClr val="006FF9"/>
            </a:solidFill>
            <a:prstDash val="solid"/>
          </a:ln>
        </p:spPr>
      </p:sp>
      <p:sp>
        <p:nvSpPr>
          <p:cNvPr id="143" name="te-diverge_142"/>
          <p:cNvSpPr/>
          <p:nvPr/>
        </p:nvSpPr>
        <p:spPr>
          <a:xfrm>
            <a:off x="2555016" y="3701766"/>
            <a:ext cx="7996428" cy="2318004"/>
          </a:xfrm>
          <a:custGeom>
            <a:avLst/>
            <a:gdLst/>
            <a:ahLst/>
            <a:cxnLst/>
            <a:rect l="l" t="t" r="r" b="b"/>
            <a:pathLst>
              <a:path w="7996428" h="2318004">
                <a:moveTo>
                  <a:pt x="0" y="2257014"/>
                </a:moveTo>
                <a:lnTo>
                  <a:pt x="80742" y="2266980"/>
                </a:lnTo>
                <a:lnTo>
                  <a:pt x="161574" y="2217420"/>
                </a:lnTo>
                <a:lnTo>
                  <a:pt x="242316" y="2183130"/>
                </a:lnTo>
                <a:lnTo>
                  <a:pt x="323058" y="2144268"/>
                </a:lnTo>
                <a:lnTo>
                  <a:pt x="403890" y="2123694"/>
                </a:lnTo>
                <a:lnTo>
                  <a:pt x="484632" y="2108424"/>
                </a:lnTo>
                <a:lnTo>
                  <a:pt x="565374" y="2093976"/>
                </a:lnTo>
                <a:lnTo>
                  <a:pt x="646206" y="2056668"/>
                </a:lnTo>
                <a:lnTo>
                  <a:pt x="726948" y="2004090"/>
                </a:lnTo>
                <a:lnTo>
                  <a:pt x="807690" y="1914114"/>
                </a:lnTo>
                <a:lnTo>
                  <a:pt x="888522" y="1826514"/>
                </a:lnTo>
                <a:lnTo>
                  <a:pt x="969264" y="1723644"/>
                </a:lnTo>
                <a:lnTo>
                  <a:pt x="1050006" y="1611630"/>
                </a:lnTo>
                <a:lnTo>
                  <a:pt x="1130838" y="1498062"/>
                </a:lnTo>
                <a:lnTo>
                  <a:pt x="1211580" y="1362456"/>
                </a:lnTo>
                <a:lnTo>
                  <a:pt x="1292322" y="1191006"/>
                </a:lnTo>
                <a:lnTo>
                  <a:pt x="1373154" y="1037844"/>
                </a:lnTo>
                <a:lnTo>
                  <a:pt x="1453896" y="789402"/>
                </a:lnTo>
                <a:lnTo>
                  <a:pt x="1534638" y="648492"/>
                </a:lnTo>
                <a:lnTo>
                  <a:pt x="1615470" y="384780"/>
                </a:lnTo>
                <a:lnTo>
                  <a:pt x="1696212" y="265176"/>
                </a:lnTo>
                <a:lnTo>
                  <a:pt x="1776954" y="103602"/>
                </a:lnTo>
                <a:lnTo>
                  <a:pt x="1857786" y="66294"/>
                </a:lnTo>
                <a:lnTo>
                  <a:pt x="1938528" y="61722"/>
                </a:lnTo>
                <a:lnTo>
                  <a:pt x="2019270" y="0"/>
                </a:lnTo>
                <a:lnTo>
                  <a:pt x="2100102" y="87600"/>
                </a:lnTo>
                <a:lnTo>
                  <a:pt x="2180844" y="53310"/>
                </a:lnTo>
                <a:lnTo>
                  <a:pt x="2261586" y="128016"/>
                </a:lnTo>
                <a:lnTo>
                  <a:pt x="2342418" y="109728"/>
                </a:lnTo>
                <a:lnTo>
                  <a:pt x="2423160" y="142464"/>
                </a:lnTo>
                <a:lnTo>
                  <a:pt x="2503902" y="124998"/>
                </a:lnTo>
                <a:lnTo>
                  <a:pt x="2584734" y="144018"/>
                </a:lnTo>
                <a:lnTo>
                  <a:pt x="2665476" y="145572"/>
                </a:lnTo>
                <a:lnTo>
                  <a:pt x="2746218" y="170718"/>
                </a:lnTo>
                <a:lnTo>
                  <a:pt x="2827050" y="237012"/>
                </a:lnTo>
                <a:lnTo>
                  <a:pt x="2907792" y="309342"/>
                </a:lnTo>
                <a:lnTo>
                  <a:pt x="2988534" y="358170"/>
                </a:lnTo>
                <a:lnTo>
                  <a:pt x="3069366" y="396210"/>
                </a:lnTo>
                <a:lnTo>
                  <a:pt x="3150108" y="502920"/>
                </a:lnTo>
                <a:lnTo>
                  <a:pt x="3230850" y="368778"/>
                </a:lnTo>
                <a:lnTo>
                  <a:pt x="3311682" y="461772"/>
                </a:lnTo>
                <a:lnTo>
                  <a:pt x="3392424" y="453360"/>
                </a:lnTo>
                <a:lnTo>
                  <a:pt x="3473166" y="449610"/>
                </a:lnTo>
                <a:lnTo>
                  <a:pt x="3553998" y="428214"/>
                </a:lnTo>
                <a:lnTo>
                  <a:pt x="3634740" y="404622"/>
                </a:lnTo>
                <a:lnTo>
                  <a:pt x="3715482" y="392460"/>
                </a:lnTo>
                <a:lnTo>
                  <a:pt x="3796314" y="352776"/>
                </a:lnTo>
                <a:lnTo>
                  <a:pt x="3877056" y="339060"/>
                </a:lnTo>
                <a:lnTo>
                  <a:pt x="3957798" y="456468"/>
                </a:lnTo>
                <a:lnTo>
                  <a:pt x="4038630" y="215616"/>
                </a:lnTo>
                <a:lnTo>
                  <a:pt x="4119372" y="374172"/>
                </a:lnTo>
                <a:lnTo>
                  <a:pt x="4200114" y="373350"/>
                </a:lnTo>
                <a:lnTo>
                  <a:pt x="4280946" y="409194"/>
                </a:lnTo>
                <a:lnTo>
                  <a:pt x="4361688" y="463326"/>
                </a:lnTo>
                <a:lnTo>
                  <a:pt x="4442430" y="556230"/>
                </a:lnTo>
                <a:lnTo>
                  <a:pt x="4523262" y="629382"/>
                </a:lnTo>
                <a:lnTo>
                  <a:pt x="4604004" y="745968"/>
                </a:lnTo>
                <a:lnTo>
                  <a:pt x="4684746" y="877824"/>
                </a:lnTo>
                <a:lnTo>
                  <a:pt x="4765578" y="998982"/>
                </a:lnTo>
                <a:lnTo>
                  <a:pt x="4846320" y="1123980"/>
                </a:lnTo>
                <a:lnTo>
                  <a:pt x="4927062" y="1251996"/>
                </a:lnTo>
                <a:lnTo>
                  <a:pt x="5007894" y="1408908"/>
                </a:lnTo>
                <a:lnTo>
                  <a:pt x="5088636" y="1542318"/>
                </a:lnTo>
                <a:lnTo>
                  <a:pt x="5169378" y="1676370"/>
                </a:lnTo>
                <a:lnTo>
                  <a:pt x="5250210" y="1780062"/>
                </a:lnTo>
                <a:lnTo>
                  <a:pt x="5330952" y="1874520"/>
                </a:lnTo>
                <a:lnTo>
                  <a:pt x="5411694" y="1968246"/>
                </a:lnTo>
                <a:lnTo>
                  <a:pt x="5492526" y="2049810"/>
                </a:lnTo>
                <a:lnTo>
                  <a:pt x="5573268" y="2119122"/>
                </a:lnTo>
                <a:lnTo>
                  <a:pt x="5654010" y="2171700"/>
                </a:lnTo>
                <a:lnTo>
                  <a:pt x="5734842" y="2213580"/>
                </a:lnTo>
                <a:lnTo>
                  <a:pt x="5815584" y="2243298"/>
                </a:lnTo>
                <a:lnTo>
                  <a:pt x="5896326" y="2269266"/>
                </a:lnTo>
                <a:lnTo>
                  <a:pt x="5977158" y="2285268"/>
                </a:lnTo>
                <a:lnTo>
                  <a:pt x="6057900" y="2295876"/>
                </a:lnTo>
                <a:lnTo>
                  <a:pt x="6138642" y="2305020"/>
                </a:lnTo>
                <a:lnTo>
                  <a:pt x="6219474" y="2310414"/>
                </a:lnTo>
                <a:lnTo>
                  <a:pt x="6300216" y="2313432"/>
                </a:lnTo>
                <a:lnTo>
                  <a:pt x="6380958" y="2315718"/>
                </a:lnTo>
                <a:lnTo>
                  <a:pt x="6461790" y="2316450"/>
                </a:lnTo>
                <a:lnTo>
                  <a:pt x="6542532" y="2317272"/>
                </a:lnTo>
                <a:lnTo>
                  <a:pt x="6623274" y="2317272"/>
                </a:lnTo>
                <a:lnTo>
                  <a:pt x="6704106" y="2318004"/>
                </a:lnTo>
                <a:lnTo>
                  <a:pt x="6784848" y="2318004"/>
                </a:lnTo>
                <a:lnTo>
                  <a:pt x="6865590" y="2318004"/>
                </a:lnTo>
                <a:lnTo>
                  <a:pt x="6946422" y="2318004"/>
                </a:lnTo>
                <a:lnTo>
                  <a:pt x="7027164" y="2318004"/>
                </a:lnTo>
                <a:lnTo>
                  <a:pt x="7107906" y="2318004"/>
                </a:lnTo>
                <a:lnTo>
                  <a:pt x="7188738" y="2318004"/>
                </a:lnTo>
                <a:lnTo>
                  <a:pt x="7269480" y="2318004"/>
                </a:lnTo>
                <a:lnTo>
                  <a:pt x="7350222" y="2318004"/>
                </a:lnTo>
                <a:lnTo>
                  <a:pt x="7431054" y="2318004"/>
                </a:lnTo>
                <a:lnTo>
                  <a:pt x="7511796" y="2318004"/>
                </a:lnTo>
                <a:lnTo>
                  <a:pt x="7592538" y="2318004"/>
                </a:lnTo>
                <a:lnTo>
                  <a:pt x="7673370" y="2318004"/>
                </a:lnTo>
                <a:lnTo>
                  <a:pt x="7754112" y="2318004"/>
                </a:lnTo>
                <a:lnTo>
                  <a:pt x="7834854" y="2318004"/>
                </a:lnTo>
                <a:lnTo>
                  <a:pt x="7915686" y="2318004"/>
                </a:lnTo>
                <a:lnTo>
                  <a:pt x="7996428" y="2318004"/>
                </a:lnTo>
              </a:path>
            </a:pathLst>
          </a:custGeom>
          <a:ln w="30480">
            <a:solidFill>
              <a:srgbClr val="F93500"/>
            </a:solidFill>
            <a:prstDash val="solid"/>
          </a:ln>
        </p:spPr>
      </p:sp>
      <p:sp>
        <p:nvSpPr>
          <p:cNvPr id="144" name="te-diverge_143"/>
          <p:cNvSpPr/>
          <p:nvPr/>
        </p:nvSpPr>
        <p:spPr>
          <a:xfrm>
            <a:off x="7543800" y="2388870"/>
            <a:ext cx="304770" cy="38130"/>
          </a:xfrm>
          <a:prstGeom prst="roundRect">
            <a:avLst>
              <a:gd name="adj" fmla="val 49881"/>
            </a:avLst>
          </a:prstGeom>
          <a:solidFill>
            <a:srgbClr val="F93500"/>
          </a:solidFill>
          <a:ln/>
        </p:spPr>
      </p:sp>
      <p:sp>
        <p:nvSpPr>
          <p:cNvPr id="145" name="te-diverge_144"/>
          <p:cNvSpPr txBox="1"/>
          <p:nvPr/>
        </p:nvSpPr>
        <p:spPr>
          <a:xfrm>
            <a:off x="7924830" y="2303191"/>
            <a:ext cx="864291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9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RMBlast</a:t>
            </a:r>
            <a:endParaRPr lang="en-US" sz="1399" dirty="0"/>
          </a:p>
        </p:txBody>
      </p:sp>
      <p:sp>
        <p:nvSpPr>
          <p:cNvPr id="146" name="te-diverge_145"/>
          <p:cNvSpPr/>
          <p:nvPr/>
        </p:nvSpPr>
        <p:spPr>
          <a:xfrm>
            <a:off x="9144000" y="2388870"/>
            <a:ext cx="304770" cy="38130"/>
          </a:xfrm>
          <a:prstGeom prst="roundRect">
            <a:avLst>
              <a:gd name="adj" fmla="val 49881"/>
            </a:avLst>
          </a:prstGeom>
          <a:solidFill>
            <a:srgbClr val="006FF9"/>
          </a:solidFill>
          <a:ln/>
        </p:spPr>
      </p:sp>
      <p:sp>
        <p:nvSpPr>
          <p:cNvPr id="147" name="te-diverge_146"/>
          <p:cNvSpPr txBox="1"/>
          <p:nvPr/>
        </p:nvSpPr>
        <p:spPr>
          <a:xfrm>
            <a:off x="9525030" y="2303191"/>
            <a:ext cx="837682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9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HMMER</a:t>
            </a:r>
            <a:endParaRPr lang="en-US" sz="1399" dirty="0"/>
          </a:p>
        </p:txBody>
      </p:sp>
      <p:sp>
        <p:nvSpPr>
          <p:cNvPr id="148" name="te-diverge_147"/>
          <p:cNvSpPr/>
          <p:nvPr/>
        </p:nvSpPr>
        <p:spPr>
          <a:xfrm>
            <a:off x="2514600" y="2658618"/>
            <a:ext cx="8077170" cy="2638776"/>
          </a:xfrm>
          <a:custGeom>
            <a:avLst/>
            <a:gdLst/>
            <a:ahLst/>
            <a:cxnLst/>
            <a:rect l="l" t="t" r="r" b="b"/>
            <a:pathLst>
              <a:path w="8077170" h="2638776">
                <a:moveTo>
                  <a:pt x="0" y="0"/>
                </a:moveTo>
                <a:lnTo>
                  <a:pt x="80742" y="0"/>
                </a:lnTo>
                <a:lnTo>
                  <a:pt x="161574" y="0"/>
                </a:lnTo>
                <a:lnTo>
                  <a:pt x="242316" y="732"/>
                </a:lnTo>
                <a:lnTo>
                  <a:pt x="323058" y="732"/>
                </a:lnTo>
                <a:lnTo>
                  <a:pt x="403890" y="732"/>
                </a:lnTo>
                <a:lnTo>
                  <a:pt x="484632" y="1554"/>
                </a:lnTo>
                <a:lnTo>
                  <a:pt x="565374" y="1554"/>
                </a:lnTo>
                <a:lnTo>
                  <a:pt x="646206" y="2286"/>
                </a:lnTo>
                <a:lnTo>
                  <a:pt x="726948" y="2286"/>
                </a:lnTo>
                <a:lnTo>
                  <a:pt x="807690" y="3018"/>
                </a:lnTo>
                <a:lnTo>
                  <a:pt x="888522" y="3840"/>
                </a:lnTo>
                <a:lnTo>
                  <a:pt x="969264" y="3840"/>
                </a:lnTo>
                <a:lnTo>
                  <a:pt x="1050006" y="4572"/>
                </a:lnTo>
                <a:lnTo>
                  <a:pt x="1130838" y="5304"/>
                </a:lnTo>
                <a:lnTo>
                  <a:pt x="1211580" y="6126"/>
                </a:lnTo>
                <a:lnTo>
                  <a:pt x="1292322" y="6858"/>
                </a:lnTo>
                <a:lnTo>
                  <a:pt x="1373154" y="8412"/>
                </a:lnTo>
                <a:lnTo>
                  <a:pt x="1453896" y="9144"/>
                </a:lnTo>
                <a:lnTo>
                  <a:pt x="1534638" y="10698"/>
                </a:lnTo>
                <a:lnTo>
                  <a:pt x="1615470" y="12162"/>
                </a:lnTo>
                <a:lnTo>
                  <a:pt x="1696212" y="13716"/>
                </a:lnTo>
                <a:lnTo>
                  <a:pt x="1776954" y="15270"/>
                </a:lnTo>
                <a:lnTo>
                  <a:pt x="1857786" y="16734"/>
                </a:lnTo>
                <a:lnTo>
                  <a:pt x="1938528" y="19020"/>
                </a:lnTo>
                <a:lnTo>
                  <a:pt x="2019270" y="21306"/>
                </a:lnTo>
                <a:lnTo>
                  <a:pt x="2100102" y="24414"/>
                </a:lnTo>
                <a:lnTo>
                  <a:pt x="2180844" y="27432"/>
                </a:lnTo>
                <a:lnTo>
                  <a:pt x="2261586" y="30450"/>
                </a:lnTo>
                <a:lnTo>
                  <a:pt x="2342418" y="33558"/>
                </a:lnTo>
                <a:lnTo>
                  <a:pt x="2423160" y="38130"/>
                </a:lnTo>
                <a:lnTo>
                  <a:pt x="2503902" y="41880"/>
                </a:lnTo>
                <a:lnTo>
                  <a:pt x="2584734" y="47274"/>
                </a:lnTo>
                <a:lnTo>
                  <a:pt x="2665476" y="52578"/>
                </a:lnTo>
                <a:lnTo>
                  <a:pt x="2746218" y="58704"/>
                </a:lnTo>
                <a:lnTo>
                  <a:pt x="2827050" y="65562"/>
                </a:lnTo>
                <a:lnTo>
                  <a:pt x="2907792" y="72420"/>
                </a:lnTo>
                <a:lnTo>
                  <a:pt x="2988534" y="80742"/>
                </a:lnTo>
                <a:lnTo>
                  <a:pt x="3069366" y="89886"/>
                </a:lnTo>
                <a:lnTo>
                  <a:pt x="3150108" y="99852"/>
                </a:lnTo>
                <a:lnTo>
                  <a:pt x="3230850" y="110460"/>
                </a:lnTo>
                <a:lnTo>
                  <a:pt x="3311682" y="122712"/>
                </a:lnTo>
                <a:lnTo>
                  <a:pt x="3392424" y="136428"/>
                </a:lnTo>
                <a:lnTo>
                  <a:pt x="3473166" y="150876"/>
                </a:lnTo>
                <a:lnTo>
                  <a:pt x="3553998" y="167610"/>
                </a:lnTo>
                <a:lnTo>
                  <a:pt x="3634740" y="185166"/>
                </a:lnTo>
                <a:lnTo>
                  <a:pt x="3715482" y="205008"/>
                </a:lnTo>
                <a:lnTo>
                  <a:pt x="3796314" y="226314"/>
                </a:lnTo>
                <a:lnTo>
                  <a:pt x="3877056" y="249906"/>
                </a:lnTo>
                <a:lnTo>
                  <a:pt x="3957798" y="275052"/>
                </a:lnTo>
                <a:lnTo>
                  <a:pt x="4038630" y="303306"/>
                </a:lnTo>
                <a:lnTo>
                  <a:pt x="4119372" y="333756"/>
                </a:lnTo>
                <a:lnTo>
                  <a:pt x="4200114" y="366492"/>
                </a:lnTo>
                <a:lnTo>
                  <a:pt x="4280946" y="402336"/>
                </a:lnTo>
                <a:lnTo>
                  <a:pt x="4361688" y="440466"/>
                </a:lnTo>
                <a:lnTo>
                  <a:pt x="4442430" y="481614"/>
                </a:lnTo>
                <a:lnTo>
                  <a:pt x="4523262" y="525780"/>
                </a:lnTo>
                <a:lnTo>
                  <a:pt x="4604004" y="573054"/>
                </a:lnTo>
                <a:lnTo>
                  <a:pt x="4684746" y="623346"/>
                </a:lnTo>
                <a:lnTo>
                  <a:pt x="4765578" y="676656"/>
                </a:lnTo>
                <a:lnTo>
                  <a:pt x="4846320" y="733074"/>
                </a:lnTo>
                <a:lnTo>
                  <a:pt x="4927062" y="791688"/>
                </a:lnTo>
                <a:lnTo>
                  <a:pt x="5007894" y="853410"/>
                </a:lnTo>
                <a:lnTo>
                  <a:pt x="5088636" y="918240"/>
                </a:lnTo>
                <a:lnTo>
                  <a:pt x="5169378" y="984534"/>
                </a:lnTo>
                <a:lnTo>
                  <a:pt x="5250210" y="1053114"/>
                </a:lnTo>
                <a:lnTo>
                  <a:pt x="5330952" y="1123980"/>
                </a:lnTo>
                <a:lnTo>
                  <a:pt x="5411694" y="1195578"/>
                </a:lnTo>
                <a:lnTo>
                  <a:pt x="5492526" y="1267998"/>
                </a:lnTo>
                <a:lnTo>
                  <a:pt x="5573268" y="1341150"/>
                </a:lnTo>
                <a:lnTo>
                  <a:pt x="5654010" y="1415034"/>
                </a:lnTo>
                <a:lnTo>
                  <a:pt x="5734842" y="1488186"/>
                </a:lnTo>
                <a:lnTo>
                  <a:pt x="5815584" y="1560606"/>
                </a:lnTo>
                <a:lnTo>
                  <a:pt x="5896326" y="1632204"/>
                </a:lnTo>
                <a:lnTo>
                  <a:pt x="5977158" y="1702338"/>
                </a:lnTo>
                <a:lnTo>
                  <a:pt x="6057900" y="1770096"/>
                </a:lnTo>
                <a:lnTo>
                  <a:pt x="6138642" y="1836390"/>
                </a:lnTo>
                <a:lnTo>
                  <a:pt x="6219474" y="1899666"/>
                </a:lnTo>
                <a:lnTo>
                  <a:pt x="6300216" y="1960656"/>
                </a:lnTo>
                <a:lnTo>
                  <a:pt x="6380958" y="2019270"/>
                </a:lnTo>
                <a:lnTo>
                  <a:pt x="6461790" y="2074956"/>
                </a:lnTo>
                <a:lnTo>
                  <a:pt x="6542532" y="2126712"/>
                </a:lnTo>
                <a:lnTo>
                  <a:pt x="6623274" y="2176272"/>
                </a:lnTo>
                <a:lnTo>
                  <a:pt x="6704106" y="2222724"/>
                </a:lnTo>
                <a:lnTo>
                  <a:pt x="6784848" y="2266158"/>
                </a:lnTo>
                <a:lnTo>
                  <a:pt x="6865590" y="2306574"/>
                </a:lnTo>
                <a:lnTo>
                  <a:pt x="6946422" y="2343882"/>
                </a:lnTo>
                <a:lnTo>
                  <a:pt x="7027164" y="2378994"/>
                </a:lnTo>
                <a:lnTo>
                  <a:pt x="7107906" y="2410998"/>
                </a:lnTo>
                <a:lnTo>
                  <a:pt x="7188738" y="2440716"/>
                </a:lnTo>
                <a:lnTo>
                  <a:pt x="7269480" y="2468148"/>
                </a:lnTo>
                <a:lnTo>
                  <a:pt x="7350222" y="2492472"/>
                </a:lnTo>
                <a:lnTo>
                  <a:pt x="7431054" y="2516154"/>
                </a:lnTo>
                <a:lnTo>
                  <a:pt x="7511796" y="2536728"/>
                </a:lnTo>
                <a:lnTo>
                  <a:pt x="7592538" y="2555748"/>
                </a:lnTo>
                <a:lnTo>
                  <a:pt x="7673370" y="2573304"/>
                </a:lnTo>
                <a:lnTo>
                  <a:pt x="7754112" y="2589306"/>
                </a:lnTo>
                <a:lnTo>
                  <a:pt x="7834854" y="2603022"/>
                </a:lnTo>
                <a:lnTo>
                  <a:pt x="7915686" y="2616738"/>
                </a:lnTo>
                <a:lnTo>
                  <a:pt x="7996428" y="2628168"/>
                </a:lnTo>
                <a:lnTo>
                  <a:pt x="8077170" y="2638776"/>
                </a:lnTo>
              </a:path>
            </a:pathLst>
          </a:custGeom>
          <a:ln w="2667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6" dur="5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9" dur="5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fill="hold">
                      <p:stCondLst>
                        <p:cond delay="indefinite"/>
                      </p:stCondLst>
                      <p:childTnLst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40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4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6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5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4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0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4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4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6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0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5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8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1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4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0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3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4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6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0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2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5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8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1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4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7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0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3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4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6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7" fill="hold">
                      <p:stCondLst>
                        <p:cond delay="indefinite"/>
                      </p:stCondLst>
                      <p:childTnLst>
                        <p:par>
                          <p:cTn id="658" fill="hold">
                            <p:stCondLst>
                              <p:cond delay="0"/>
                            </p:stCondLst>
                            <p:childTnLst>
                              <p:par>
                                <p:cTn id="6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2" fill="hold">
                      <p:stCondLst>
                        <p:cond delay="indefinite"/>
                      </p:stCondLst>
                      <p:childTnLst>
                        <p:par>
                          <p:cTn id="663" fill="hold">
                            <p:stCondLst>
                              <p:cond delay="0"/>
                            </p:stCondLst>
                            <p:childTnLst>
                              <p:par>
                                <p:cTn id="664" presetID="10" presetClass="entr" presetSubtype="0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6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9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0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2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3" presetID="10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5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6" presetID="10" presetClass="entr" presetSubtype="0" fill="hold" grpId="0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6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8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9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1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2" presetID="10" presetClass="entr" presetSubtype="0" fill="hold" grpId="0" nodeType="withEffect">
                                  <p:stCondLst>
                                    <p:cond delay="2120"/>
                                  </p:stCondLst>
                                  <p:childTnLst>
                                    <p:set>
                                      <p:cBhvr>
                                        <p:cTn id="6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4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5" presetID="10" presetClass="entr" presetSubtype="0" fill="hold" grpId="0" nodeType="withEffect">
                                  <p:stCondLst>
                                    <p:cond delay="244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7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8" presetID="10" presetClass="entr" presetSubtype="0" fill="hold" grpId="0" nodeType="withEffect">
                                  <p:stCondLst>
                                    <p:cond delay="2760"/>
                                  </p:stCondLst>
                                  <p:childTnLst>
                                    <p:set>
                                      <p:cBhvr>
                                        <p:cTn id="6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0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1" presetID="10" presetClass="entr" presetSubtype="0" fill="hold" grpId="0" nodeType="with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3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4" fill="hold">
                      <p:stCondLst>
                        <p:cond delay="indefinite"/>
                      </p:stCondLst>
                      <p:childTnLst>
                        <p:par>
                          <p:cTn id="695" fill="hold">
                            <p:stCondLst>
                              <p:cond delay="0"/>
                            </p:stCondLst>
                            <p:childTnLst>
                              <p:par>
                                <p:cTn id="696" presetID="22" presetClass="entr" presetSubtype="8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8" dur="18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9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1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2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7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4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5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7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8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7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0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3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4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6" dur="6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7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9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 animBg="1"/>
      <p:bldP spid="21" grpId="0"/>
      <p:bldP spid="22" grpId="0" animBg="1"/>
      <p:bldP spid="23" grpId="0"/>
      <p:bldP spid="24" grpId="0" animBg="1"/>
      <p:bldP spid="25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 animBg="1"/>
      <p:bldP spid="33" grpId="0"/>
      <p:bldP spid="34" grpId="0" animBg="1"/>
      <p:bldP spid="35" grpId="0"/>
      <p:bldP spid="36" grpId="0" animBg="1"/>
      <p:bldP spid="37" grpId="0"/>
      <p:bldP spid="38" grpId="0" animBg="1"/>
      <p:bldP spid="39" grpId="0"/>
      <p:bldP spid="40" grpId="0" animBg="1"/>
      <p:bldP spid="41" grpId="0"/>
      <p:bldP spid="42" grpId="0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/>
      <p:bldP spid="55" grpId="0"/>
      <p:bldP spid="56" grpId="0"/>
      <p:bldP spid="57" grpId="0"/>
      <p:bldP spid="58" grpId="0"/>
      <p:bldP spid="59" grpId="0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 animBg="1"/>
      <p:bldP spid="81" grpId="0"/>
      <p:bldP spid="82" grpId="0" animBg="1"/>
      <p:bldP spid="83" grpId="0"/>
      <p:bldP spid="84" grpId="0" animBg="1"/>
      <p:bldP spid="85" grpId="0"/>
      <p:bldP spid="86" grpId="0" animBg="1"/>
      <p:bldP spid="87" grpId="0"/>
      <p:bldP spid="88" grpId="0" animBg="1"/>
      <p:bldP spid="89" grpId="0"/>
      <p:bldP spid="90" grpId="0" animBg="1"/>
      <p:bldP spid="91" grpId="0"/>
      <p:bldP spid="92" grpId="0" animBg="1"/>
      <p:bldP spid="93" grpId="0" animBg="1"/>
      <p:bldP spid="94" grpId="0"/>
      <p:bldP spid="95" grpId="0"/>
      <p:bldP spid="96" grpId="0" animBg="1"/>
      <p:bldP spid="97" grpId="0" animBg="1"/>
      <p:bldP spid="98" grpId="0" animBg="1"/>
      <p:bldP spid="99" grpId="0"/>
      <p:bldP spid="100" grpId="0" animBg="1"/>
      <p:bldP spid="101" grpId="0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/>
      <p:bldP spid="110" grpId="0"/>
      <p:bldP spid="111" grpId="0"/>
      <p:bldP spid="112" grpId="0"/>
      <p:bldP spid="113" grpId="0"/>
      <p:bldP spid="114" grpId="0"/>
      <p:bldP spid="115" grpId="0"/>
      <p:bldP spid="116" grpId="0" animBg="1"/>
      <p:bldP spid="117" grpId="0"/>
      <p:bldP spid="118" grpId="0" animBg="1"/>
      <p:bldP spid="119" grpId="0"/>
      <p:bldP spid="120" grpId="0" animBg="1"/>
      <p:bldP spid="121" grpId="0"/>
      <p:bldP spid="122" grpId="0" animBg="1"/>
      <p:bldP spid="123" grpId="0"/>
      <p:bldP spid="124" grpId="0" animBg="1"/>
      <p:bldP spid="125" grpId="0"/>
      <p:bldP spid="126" grpId="0" animBg="1"/>
      <p:bldP spid="127" grpId="0"/>
      <p:bldP spid="128" grpId="0" animBg="1"/>
      <p:bldP spid="129" grpId="0"/>
      <p:bldP spid="130" grpId="0" animBg="1"/>
      <p:bldP spid="131" grpId="0"/>
      <p:bldP spid="132" grpId="0" animBg="1"/>
      <p:bldP spid="133" grpId="0"/>
      <p:bldP spid="134" grpId="0" animBg="1"/>
      <p:bldP spid="135" grpId="0"/>
      <p:bldP spid="136" grpId="0" animBg="1"/>
      <p:bldP spid="137" grpId="0"/>
      <p:bldP spid="138" grpId="0" animBg="1"/>
      <p:bldP spid="139" grpId="0" animBg="1"/>
      <p:bldP spid="140" grpId="0"/>
      <p:bldP spid="141" grpId="0"/>
      <p:bldP spid="142" grpId="0" animBg="1"/>
      <p:bldP spid="143" grpId="0" animBg="1"/>
      <p:bldP spid="144" grpId="0" animBg="1"/>
      <p:bldP spid="145" grpId="0"/>
      <p:bldP spid="146" grpId="0" animBg="1"/>
      <p:bldP spid="147" grpId="0"/>
      <p:bldP spid="14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-conclude_1"/>
          <p:cNvSpPr txBox="1"/>
          <p:nvPr/>
        </p:nvSpPr>
        <p:spPr>
          <a:xfrm>
            <a:off x="548640" y="396210"/>
            <a:ext cx="11140410" cy="464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2880" dirty="0"/>
          </a:p>
        </p:txBody>
      </p:sp>
      <p:sp>
        <p:nvSpPr>
          <p:cNvPr id="3" name="te-conclude_2"/>
          <p:cNvSpPr txBox="1"/>
          <p:nvPr/>
        </p:nvSpPr>
        <p:spPr>
          <a:xfrm>
            <a:off x="1676370" y="1904970"/>
            <a:ext cx="9265890" cy="441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methodologies show the Dfam library to be mostly complete.</a:t>
            </a:r>
            <a:endParaRPr lang="en-US" sz="2290" dirty="0"/>
          </a:p>
        </p:txBody>
      </p:sp>
      <p:sp>
        <p:nvSpPr>
          <p:cNvPr id="4" name="te-conclude_3"/>
          <p:cNvSpPr txBox="1"/>
          <p:nvPr/>
        </p:nvSpPr>
        <p:spPr>
          <a:xfrm>
            <a:off x="1676370" y="2697480"/>
            <a:ext cx="9265890" cy="1196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consensus-based annotation tools miss short copies, some of these misses were proven to be driven by the genomic context surrounding them</a:t>
            </a:r>
            <a:endParaRPr lang="en-US" sz="2290" dirty="0"/>
          </a:p>
        </p:txBody>
      </p:sp>
      <p:sp>
        <p:nvSpPr>
          <p:cNvPr id="5" name="te-conclude_4"/>
          <p:cNvSpPr txBox="1"/>
          <p:nvPr/>
        </p:nvSpPr>
        <p:spPr>
          <a:xfrm>
            <a:off x="1676370" y="4244370"/>
            <a:ext cx="9265890" cy="815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HMMER-based genome annotation needed to provide maximum sensitivity</a:t>
            </a:r>
            <a:endParaRPr lang="en-US" sz="2290" dirty="0"/>
          </a:p>
        </p:txBody>
      </p:sp>
      <p:sp>
        <p:nvSpPr>
          <p:cNvPr id="6" name="te-conclude_5"/>
          <p:cNvSpPr/>
          <p:nvPr/>
        </p:nvSpPr>
        <p:spPr>
          <a:xfrm>
            <a:off x="1280160" y="1981230"/>
            <a:ext cx="121890" cy="121890"/>
          </a:xfrm>
          <a:prstGeom prst="ellipse">
            <a:avLst/>
          </a:prstGeom>
          <a:solidFill>
            <a:srgbClr val="F9BE00"/>
          </a:solidFill>
          <a:ln/>
        </p:spPr>
      </p:sp>
      <p:sp>
        <p:nvSpPr>
          <p:cNvPr id="7" name="te-conclude_6"/>
          <p:cNvSpPr/>
          <p:nvPr/>
        </p:nvSpPr>
        <p:spPr>
          <a:xfrm>
            <a:off x="1280160" y="2773650"/>
            <a:ext cx="121890" cy="121890"/>
          </a:xfrm>
          <a:prstGeom prst="ellipse">
            <a:avLst/>
          </a:prstGeom>
          <a:solidFill>
            <a:srgbClr val="F9BE00"/>
          </a:solidFill>
          <a:ln/>
        </p:spPr>
      </p:sp>
      <p:sp>
        <p:nvSpPr>
          <p:cNvPr id="8" name="te-conclude_7"/>
          <p:cNvSpPr/>
          <p:nvPr/>
        </p:nvSpPr>
        <p:spPr>
          <a:xfrm>
            <a:off x="1280160" y="4320540"/>
            <a:ext cx="121890" cy="121890"/>
          </a:xfrm>
          <a:prstGeom prst="ellipse">
            <a:avLst/>
          </a:prstGeom>
          <a:solidFill>
            <a:srgbClr val="F9BE00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 animBg="1"/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_1"/>
          <p:cNvSpPr txBox="1"/>
          <p:nvPr/>
        </p:nvSpPr>
        <p:spPr>
          <a:xfrm>
            <a:off x="548640" y="2857500"/>
            <a:ext cx="1114041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280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80" dirty="0"/>
          </a:p>
        </p:txBody>
      </p:sp>
      <p:sp>
        <p:nvSpPr>
          <p:cNvPr id="3" name="end_2"/>
          <p:cNvSpPr txBox="1"/>
          <p:nvPr/>
        </p:nvSpPr>
        <p:spPr>
          <a:xfrm>
            <a:off x="548640" y="3802350"/>
            <a:ext cx="11094690" cy="259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4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654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q_1"/>
          <p:cNvSpPr txBox="1"/>
          <p:nvPr/>
        </p:nvSpPr>
        <p:spPr>
          <a:xfrm>
            <a:off x="548640" y="396210"/>
            <a:ext cx="11094690" cy="464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FAQs</a:t>
            </a:r>
            <a:endParaRPr lang="en-US" sz="2880" dirty="0"/>
          </a:p>
        </p:txBody>
      </p:sp>
      <p:sp>
        <p:nvSpPr>
          <p:cNvPr id="3" name="faq_2"/>
          <p:cNvSpPr/>
          <p:nvPr/>
        </p:nvSpPr>
        <p:spPr>
          <a:xfrm>
            <a:off x="1219170" y="1752630"/>
            <a:ext cx="4739610" cy="1904970"/>
          </a:xfrm>
          <a:prstGeom prst="roundRect">
            <a:avLst>
              <a:gd name="adj" fmla="val 14400"/>
            </a:avLst>
          </a:prstGeom>
          <a:solidFill>
            <a:srgbClr val="0A0F15"/>
          </a:solidFill>
          <a:ln w="15240">
            <a:solidFill>
              <a:srgbClr val="263240"/>
            </a:solidFill>
            <a:prstDash val="solid"/>
          </a:ln>
        </p:spPr>
      </p:sp>
      <p:sp>
        <p:nvSpPr>
          <p:cNvPr id="4" name="faq_3"/>
          <p:cNvSpPr txBox="1"/>
          <p:nvPr/>
        </p:nvSpPr>
        <p:spPr>
          <a:xfrm>
            <a:off x="1645920" y="1904970"/>
            <a:ext cx="3886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did you find known TEs if you had already masked these regions?</a:t>
            </a:r>
            <a:endParaRPr lang="en-US" sz="1900" dirty="0"/>
          </a:p>
        </p:txBody>
      </p:sp>
      <p:sp>
        <p:nvSpPr>
          <p:cNvPr id="5" name="faq_4">
            <a:hlinkClick r:id="rId1" tooltip="Open this FAQ" action="ppaction://hlinksldjump"/>
          </p:cNvPr>
          <p:cNvSpPr/>
          <p:nvPr/>
        </p:nvSpPr>
        <p:spPr>
          <a:xfrm>
            <a:off x="1219170" y="1752630"/>
            <a:ext cx="4739610" cy="1904970"/>
          </a:xfrm>
          <a:prstGeom prst="roundRect">
            <a:avLst>
              <a:gd name="adj" fmla="val 14400"/>
            </a:avLst>
          </a:prstGeom>
          <a:solidFill>
            <a:srgbClr val="0A0F15">
              <a:alpha val="0"/>
            </a:srgbClr>
          </a:solidFill>
          <a:ln/>
        </p:spPr>
      </p:sp>
      <p:sp>
        <p:nvSpPr>
          <p:cNvPr id="6" name="faq_5"/>
          <p:cNvSpPr/>
          <p:nvPr/>
        </p:nvSpPr>
        <p:spPr>
          <a:xfrm>
            <a:off x="6233190" y="1752630"/>
            <a:ext cx="4739610" cy="1904970"/>
          </a:xfrm>
          <a:prstGeom prst="roundRect">
            <a:avLst>
              <a:gd name="adj" fmla="val 14400"/>
            </a:avLst>
          </a:prstGeom>
          <a:solidFill>
            <a:srgbClr val="0A0F15"/>
          </a:solidFill>
          <a:ln w="15240">
            <a:solidFill>
              <a:srgbClr val="263240"/>
            </a:solidFill>
            <a:prstDash val="solid"/>
          </a:ln>
        </p:spPr>
      </p:sp>
      <p:sp>
        <p:nvSpPr>
          <p:cNvPr id="7" name="faq_6"/>
          <p:cNvSpPr txBox="1"/>
          <p:nvPr/>
        </p:nvSpPr>
        <p:spPr>
          <a:xfrm>
            <a:off x="6659850" y="1904970"/>
            <a:ext cx="3886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were HMMER results validated?</a:t>
            </a:r>
            <a:endParaRPr lang="en-US" sz="1900" dirty="0"/>
          </a:p>
        </p:txBody>
      </p:sp>
      <p:sp>
        <p:nvSpPr>
          <p:cNvPr id="8" name="faq_7">
            <a:hlinkClick r:id="rId2" tooltip="Open this FAQ" action="ppaction://hlinksldjump"/>
          </p:cNvPr>
          <p:cNvSpPr/>
          <p:nvPr/>
        </p:nvSpPr>
        <p:spPr>
          <a:xfrm>
            <a:off x="6233190" y="1752630"/>
            <a:ext cx="4739610" cy="1904970"/>
          </a:xfrm>
          <a:prstGeom prst="roundRect">
            <a:avLst>
              <a:gd name="adj" fmla="val 14400"/>
            </a:avLst>
          </a:prstGeom>
          <a:solidFill>
            <a:srgbClr val="0A0F15">
              <a:alpha val="0"/>
            </a:srgbClr>
          </a:solidFill>
          <a:ln/>
        </p:spPr>
      </p:sp>
      <p:sp>
        <p:nvSpPr>
          <p:cNvPr id="9" name="faq_8"/>
          <p:cNvSpPr/>
          <p:nvPr/>
        </p:nvSpPr>
        <p:spPr>
          <a:xfrm>
            <a:off x="1219170" y="3931920"/>
            <a:ext cx="4739610" cy="1904970"/>
          </a:xfrm>
          <a:prstGeom prst="roundRect">
            <a:avLst>
              <a:gd name="adj" fmla="val 14400"/>
            </a:avLst>
          </a:prstGeom>
          <a:solidFill>
            <a:srgbClr val="0A0F15"/>
          </a:solidFill>
          <a:ln w="15240">
            <a:solidFill>
              <a:srgbClr val="263240"/>
            </a:solidFill>
            <a:prstDash val="solid"/>
          </a:ln>
        </p:spPr>
      </p:sp>
      <p:sp>
        <p:nvSpPr>
          <p:cNvPr id="10" name="faq_9"/>
          <p:cNvSpPr txBox="1"/>
          <p:nvPr/>
        </p:nvSpPr>
        <p:spPr>
          <a:xfrm>
            <a:off x="1645920" y="4084350"/>
            <a:ext cx="3886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RepeatMasker reannotation a bit better</a:t>
            </a:r>
            <a:endParaRPr lang="en-US" sz="1900" dirty="0"/>
          </a:p>
        </p:txBody>
      </p:sp>
      <p:sp>
        <p:nvSpPr>
          <p:cNvPr id="11" name="faq_10">
            <a:hlinkClick r:id="rId3" tooltip="Open this FAQ" action="ppaction://hlinksldjump"/>
          </p:cNvPr>
          <p:cNvSpPr/>
          <p:nvPr/>
        </p:nvSpPr>
        <p:spPr>
          <a:xfrm>
            <a:off x="1219170" y="3931920"/>
            <a:ext cx="4739610" cy="1904970"/>
          </a:xfrm>
          <a:prstGeom prst="roundRect">
            <a:avLst>
              <a:gd name="adj" fmla="val 14400"/>
            </a:avLst>
          </a:prstGeom>
          <a:solidFill>
            <a:srgbClr val="0A0F15">
              <a:alpha val="0"/>
            </a:srgbClr>
          </a:solidFill>
          <a:ln/>
        </p:spPr>
      </p:sp>
      <p:sp>
        <p:nvSpPr>
          <p:cNvPr id="12" name="faq_11"/>
          <p:cNvSpPr/>
          <p:nvPr/>
        </p:nvSpPr>
        <p:spPr>
          <a:xfrm>
            <a:off x="6233190" y="3931920"/>
            <a:ext cx="4739610" cy="1904970"/>
          </a:xfrm>
          <a:prstGeom prst="roundRect">
            <a:avLst>
              <a:gd name="adj" fmla="val 14400"/>
            </a:avLst>
          </a:prstGeom>
          <a:solidFill>
            <a:srgbClr val="0A0F15"/>
          </a:solidFill>
          <a:ln w="15240">
            <a:solidFill>
              <a:srgbClr val="263240"/>
            </a:solidFill>
            <a:prstDash val="solid"/>
          </a:ln>
        </p:spPr>
      </p:sp>
      <p:sp>
        <p:nvSpPr>
          <p:cNvPr id="13" name="faq_12"/>
          <p:cNvSpPr txBox="1"/>
          <p:nvPr/>
        </p:nvSpPr>
        <p:spPr>
          <a:xfrm>
            <a:off x="6659850" y="4084350"/>
            <a:ext cx="3886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were the copies compared to their primate orthologs?</a:t>
            </a:r>
            <a:endParaRPr lang="en-US" sz="1900" dirty="0"/>
          </a:p>
        </p:txBody>
      </p:sp>
      <p:sp>
        <p:nvSpPr>
          <p:cNvPr id="14" name="faq_13">
            <a:hlinkClick r:id="rId4" tooltip="Open this FAQ" action="ppaction://hlinksldjump"/>
          </p:cNvPr>
          <p:cNvSpPr/>
          <p:nvPr/>
        </p:nvSpPr>
        <p:spPr>
          <a:xfrm>
            <a:off x="6233190" y="3931920"/>
            <a:ext cx="4739610" cy="1904970"/>
          </a:xfrm>
          <a:prstGeom prst="roundRect">
            <a:avLst>
              <a:gd name="adj" fmla="val 14400"/>
            </a:avLst>
          </a:prstGeom>
          <a:solidFill>
            <a:srgbClr val="0A0F15">
              <a:alpha val="0"/>
            </a:srgbClr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q1_1"/>
          <p:cNvSpPr txBox="1"/>
          <p:nvPr/>
        </p:nvSpPr>
        <p:spPr>
          <a:xfrm>
            <a:off x="3714018" y="5876940"/>
            <a:ext cx="476402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TE copy, masked two ways</a:t>
            </a:r>
            <a:endParaRPr lang="en-US" sz="1908" dirty="0"/>
          </a:p>
        </p:txBody>
      </p:sp>
      <p:sp>
        <p:nvSpPr>
          <p:cNvPr id="3" name="faq1_2"/>
          <p:cNvSpPr txBox="1"/>
          <p:nvPr/>
        </p:nvSpPr>
        <p:spPr>
          <a:xfrm>
            <a:off x="1705082" y="5876940"/>
            <a:ext cx="878180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Soft-masking lowercases repeats; hard-masking replaces them with N</a:t>
            </a:r>
            <a:endParaRPr lang="en-US" sz="1908" dirty="0"/>
          </a:p>
        </p:txBody>
      </p:sp>
      <p:sp>
        <p:nvSpPr>
          <p:cNvPr id="4" name="faq1_3"/>
          <p:cNvSpPr txBox="1"/>
          <p:nvPr/>
        </p:nvSpPr>
        <p:spPr>
          <a:xfrm>
            <a:off x="4374307" y="5876940"/>
            <a:ext cx="344335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RepeatModeler scans both</a:t>
            </a:r>
            <a:endParaRPr lang="en-US" sz="1908" dirty="0"/>
          </a:p>
        </p:txBody>
      </p:sp>
      <p:sp>
        <p:nvSpPr>
          <p:cNvPr id="5" name="faq1_4"/>
          <p:cNvSpPr txBox="1"/>
          <p:nvPr/>
        </p:nvSpPr>
        <p:spPr>
          <a:xfrm>
            <a:off x="1742664" y="5876940"/>
            <a:ext cx="870673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Lowercase is still read as ordinary sequence, so the TE is found again</a:t>
            </a:r>
            <a:endParaRPr lang="en-US" sz="1908" dirty="0"/>
          </a:p>
        </p:txBody>
      </p:sp>
      <p:sp>
        <p:nvSpPr>
          <p:cNvPr id="6" name="faq1_5"/>
          <p:cNvSpPr txBox="1"/>
          <p:nvPr/>
        </p:nvSpPr>
        <p:spPr>
          <a:xfrm>
            <a:off x="2389693" y="2143171"/>
            <a:ext cx="177384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Soft-masked</a:t>
            </a:r>
            <a:endParaRPr lang="en-US" sz="1908" dirty="0"/>
          </a:p>
        </p:txBody>
      </p:sp>
      <p:sp>
        <p:nvSpPr>
          <p:cNvPr id="7" name="faq1_6"/>
          <p:cNvSpPr txBox="1"/>
          <p:nvPr/>
        </p:nvSpPr>
        <p:spPr>
          <a:xfrm>
            <a:off x="2658984" y="2476470"/>
            <a:ext cx="12352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6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ATG → atg</a:t>
            </a:r>
            <a:endParaRPr lang="en-US" sz="1526" dirty="0"/>
          </a:p>
        </p:txBody>
      </p:sp>
      <p:sp>
        <p:nvSpPr>
          <p:cNvPr id="8" name="faq1_7"/>
          <p:cNvSpPr txBox="1"/>
          <p:nvPr/>
        </p:nvSpPr>
        <p:spPr>
          <a:xfrm>
            <a:off x="1126449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400" dirty="0"/>
          </a:p>
        </p:txBody>
      </p:sp>
      <p:sp>
        <p:nvSpPr>
          <p:cNvPr id="9" name="faq1_8"/>
          <p:cNvSpPr txBox="1"/>
          <p:nvPr/>
        </p:nvSpPr>
        <p:spPr>
          <a:xfrm>
            <a:off x="1332189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400" dirty="0"/>
          </a:p>
        </p:txBody>
      </p:sp>
      <p:sp>
        <p:nvSpPr>
          <p:cNvPr id="10" name="faq1_9"/>
          <p:cNvSpPr txBox="1"/>
          <p:nvPr/>
        </p:nvSpPr>
        <p:spPr>
          <a:xfrm>
            <a:off x="1537381" y="377190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400" dirty="0"/>
          </a:p>
        </p:txBody>
      </p:sp>
      <p:sp>
        <p:nvSpPr>
          <p:cNvPr id="11" name="faq1_10"/>
          <p:cNvSpPr txBox="1"/>
          <p:nvPr/>
        </p:nvSpPr>
        <p:spPr>
          <a:xfrm>
            <a:off x="1743669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400" dirty="0"/>
          </a:p>
        </p:txBody>
      </p:sp>
      <p:sp>
        <p:nvSpPr>
          <p:cNvPr id="12" name="faq1_11"/>
          <p:cNvSpPr txBox="1"/>
          <p:nvPr/>
        </p:nvSpPr>
        <p:spPr>
          <a:xfrm>
            <a:off x="1948861" y="377190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400" dirty="0"/>
          </a:p>
        </p:txBody>
      </p:sp>
      <p:sp>
        <p:nvSpPr>
          <p:cNvPr id="13" name="faq1_12"/>
          <p:cNvSpPr txBox="1"/>
          <p:nvPr/>
        </p:nvSpPr>
        <p:spPr>
          <a:xfrm>
            <a:off x="1949409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400" dirty="0"/>
          </a:p>
        </p:txBody>
      </p:sp>
      <p:sp>
        <p:nvSpPr>
          <p:cNvPr id="14" name="faq1_13"/>
          <p:cNvSpPr txBox="1"/>
          <p:nvPr/>
        </p:nvSpPr>
        <p:spPr>
          <a:xfrm>
            <a:off x="2155149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400" dirty="0"/>
          </a:p>
        </p:txBody>
      </p:sp>
      <p:sp>
        <p:nvSpPr>
          <p:cNvPr id="15" name="faq1_14"/>
          <p:cNvSpPr txBox="1"/>
          <p:nvPr/>
        </p:nvSpPr>
        <p:spPr>
          <a:xfrm>
            <a:off x="2155149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400" dirty="0"/>
          </a:p>
        </p:txBody>
      </p:sp>
      <p:sp>
        <p:nvSpPr>
          <p:cNvPr id="16" name="faq1_15"/>
          <p:cNvSpPr txBox="1"/>
          <p:nvPr/>
        </p:nvSpPr>
        <p:spPr>
          <a:xfrm>
            <a:off x="2360889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400" dirty="0"/>
          </a:p>
        </p:txBody>
      </p:sp>
      <p:sp>
        <p:nvSpPr>
          <p:cNvPr id="17" name="faq1_16"/>
          <p:cNvSpPr txBox="1"/>
          <p:nvPr/>
        </p:nvSpPr>
        <p:spPr>
          <a:xfrm>
            <a:off x="2360889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400" dirty="0"/>
          </a:p>
        </p:txBody>
      </p:sp>
      <p:sp>
        <p:nvSpPr>
          <p:cNvPr id="18" name="faq1_17"/>
          <p:cNvSpPr txBox="1"/>
          <p:nvPr/>
        </p:nvSpPr>
        <p:spPr>
          <a:xfrm>
            <a:off x="2566629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400" dirty="0"/>
          </a:p>
        </p:txBody>
      </p:sp>
      <p:sp>
        <p:nvSpPr>
          <p:cNvPr id="19" name="faq1_18"/>
          <p:cNvSpPr txBox="1"/>
          <p:nvPr/>
        </p:nvSpPr>
        <p:spPr>
          <a:xfrm>
            <a:off x="2566629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400" dirty="0"/>
          </a:p>
        </p:txBody>
      </p:sp>
      <p:sp>
        <p:nvSpPr>
          <p:cNvPr id="20" name="faq1_19"/>
          <p:cNvSpPr txBox="1"/>
          <p:nvPr/>
        </p:nvSpPr>
        <p:spPr>
          <a:xfrm>
            <a:off x="2772369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400" dirty="0"/>
          </a:p>
        </p:txBody>
      </p:sp>
      <p:sp>
        <p:nvSpPr>
          <p:cNvPr id="21" name="faq1_20"/>
          <p:cNvSpPr txBox="1"/>
          <p:nvPr/>
        </p:nvSpPr>
        <p:spPr>
          <a:xfrm>
            <a:off x="2772369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400" dirty="0"/>
          </a:p>
        </p:txBody>
      </p:sp>
      <p:sp>
        <p:nvSpPr>
          <p:cNvPr id="22" name="faq1_21"/>
          <p:cNvSpPr txBox="1"/>
          <p:nvPr/>
        </p:nvSpPr>
        <p:spPr>
          <a:xfrm>
            <a:off x="2977561" y="377190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400" dirty="0"/>
          </a:p>
        </p:txBody>
      </p:sp>
      <p:sp>
        <p:nvSpPr>
          <p:cNvPr id="23" name="faq1_22"/>
          <p:cNvSpPr txBox="1"/>
          <p:nvPr/>
        </p:nvSpPr>
        <p:spPr>
          <a:xfrm>
            <a:off x="2978109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400" dirty="0"/>
          </a:p>
        </p:txBody>
      </p:sp>
      <p:sp>
        <p:nvSpPr>
          <p:cNvPr id="24" name="faq1_23"/>
          <p:cNvSpPr txBox="1"/>
          <p:nvPr/>
        </p:nvSpPr>
        <p:spPr>
          <a:xfrm>
            <a:off x="3183849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400" dirty="0"/>
          </a:p>
        </p:txBody>
      </p:sp>
      <p:sp>
        <p:nvSpPr>
          <p:cNvPr id="25" name="faq1_24"/>
          <p:cNvSpPr txBox="1"/>
          <p:nvPr/>
        </p:nvSpPr>
        <p:spPr>
          <a:xfrm>
            <a:off x="3183849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400" dirty="0"/>
          </a:p>
        </p:txBody>
      </p:sp>
      <p:sp>
        <p:nvSpPr>
          <p:cNvPr id="26" name="faq1_25"/>
          <p:cNvSpPr txBox="1"/>
          <p:nvPr/>
        </p:nvSpPr>
        <p:spPr>
          <a:xfrm>
            <a:off x="3389589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400" dirty="0"/>
          </a:p>
        </p:txBody>
      </p:sp>
      <p:sp>
        <p:nvSpPr>
          <p:cNvPr id="27" name="faq1_26"/>
          <p:cNvSpPr txBox="1"/>
          <p:nvPr/>
        </p:nvSpPr>
        <p:spPr>
          <a:xfrm>
            <a:off x="3389589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400" dirty="0"/>
          </a:p>
        </p:txBody>
      </p:sp>
      <p:sp>
        <p:nvSpPr>
          <p:cNvPr id="28" name="faq1_27"/>
          <p:cNvSpPr txBox="1"/>
          <p:nvPr/>
        </p:nvSpPr>
        <p:spPr>
          <a:xfrm>
            <a:off x="3595329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400" dirty="0"/>
          </a:p>
        </p:txBody>
      </p:sp>
      <p:sp>
        <p:nvSpPr>
          <p:cNvPr id="29" name="faq1_28"/>
          <p:cNvSpPr txBox="1"/>
          <p:nvPr/>
        </p:nvSpPr>
        <p:spPr>
          <a:xfrm>
            <a:off x="3595329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400" dirty="0"/>
          </a:p>
        </p:txBody>
      </p:sp>
      <p:sp>
        <p:nvSpPr>
          <p:cNvPr id="30" name="faq1_29"/>
          <p:cNvSpPr txBox="1"/>
          <p:nvPr/>
        </p:nvSpPr>
        <p:spPr>
          <a:xfrm>
            <a:off x="3801069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400" dirty="0"/>
          </a:p>
        </p:txBody>
      </p:sp>
      <p:sp>
        <p:nvSpPr>
          <p:cNvPr id="31" name="faq1_30"/>
          <p:cNvSpPr txBox="1"/>
          <p:nvPr/>
        </p:nvSpPr>
        <p:spPr>
          <a:xfrm>
            <a:off x="3801069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400" dirty="0"/>
          </a:p>
        </p:txBody>
      </p:sp>
      <p:sp>
        <p:nvSpPr>
          <p:cNvPr id="32" name="faq1_31"/>
          <p:cNvSpPr txBox="1"/>
          <p:nvPr/>
        </p:nvSpPr>
        <p:spPr>
          <a:xfrm>
            <a:off x="4006261" y="377190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400" dirty="0"/>
          </a:p>
        </p:txBody>
      </p:sp>
      <p:sp>
        <p:nvSpPr>
          <p:cNvPr id="33" name="faq1_32"/>
          <p:cNvSpPr txBox="1"/>
          <p:nvPr/>
        </p:nvSpPr>
        <p:spPr>
          <a:xfrm>
            <a:off x="4006809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400" dirty="0"/>
          </a:p>
        </p:txBody>
      </p:sp>
      <p:sp>
        <p:nvSpPr>
          <p:cNvPr id="34" name="faq1_33"/>
          <p:cNvSpPr txBox="1"/>
          <p:nvPr/>
        </p:nvSpPr>
        <p:spPr>
          <a:xfrm>
            <a:off x="4212001" y="377190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400" dirty="0"/>
          </a:p>
        </p:txBody>
      </p:sp>
      <p:sp>
        <p:nvSpPr>
          <p:cNvPr id="35" name="faq1_34"/>
          <p:cNvSpPr txBox="1"/>
          <p:nvPr/>
        </p:nvSpPr>
        <p:spPr>
          <a:xfrm>
            <a:off x="4212549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400" dirty="0"/>
          </a:p>
        </p:txBody>
      </p:sp>
      <p:sp>
        <p:nvSpPr>
          <p:cNvPr id="36" name="faq1_35"/>
          <p:cNvSpPr txBox="1"/>
          <p:nvPr/>
        </p:nvSpPr>
        <p:spPr>
          <a:xfrm>
            <a:off x="4418289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400" dirty="0"/>
          </a:p>
        </p:txBody>
      </p:sp>
      <p:sp>
        <p:nvSpPr>
          <p:cNvPr id="37" name="faq1_36"/>
          <p:cNvSpPr txBox="1"/>
          <p:nvPr/>
        </p:nvSpPr>
        <p:spPr>
          <a:xfrm>
            <a:off x="4624029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400" dirty="0"/>
          </a:p>
        </p:txBody>
      </p:sp>
      <p:sp>
        <p:nvSpPr>
          <p:cNvPr id="38" name="faq1_37"/>
          <p:cNvSpPr txBox="1"/>
          <p:nvPr/>
        </p:nvSpPr>
        <p:spPr>
          <a:xfrm>
            <a:off x="4829769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400" dirty="0"/>
          </a:p>
        </p:txBody>
      </p:sp>
      <p:sp>
        <p:nvSpPr>
          <p:cNvPr id="39" name="faq1_38"/>
          <p:cNvSpPr txBox="1"/>
          <p:nvPr/>
        </p:nvSpPr>
        <p:spPr>
          <a:xfrm>
            <a:off x="5034961" y="377190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400" dirty="0"/>
          </a:p>
        </p:txBody>
      </p:sp>
      <p:sp>
        <p:nvSpPr>
          <p:cNvPr id="40" name="faq1_39"/>
          <p:cNvSpPr/>
          <p:nvPr/>
        </p:nvSpPr>
        <p:spPr>
          <a:xfrm>
            <a:off x="381030" y="3398550"/>
            <a:ext cx="1676370" cy="79251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1" name="faq1_40"/>
          <p:cNvSpPr/>
          <p:nvPr/>
        </p:nvSpPr>
        <p:spPr>
          <a:xfrm>
            <a:off x="381030" y="2895630"/>
            <a:ext cx="1676370" cy="502920"/>
          </a:xfrm>
          <a:prstGeom prst="roundRect">
            <a:avLst>
              <a:gd name="adj" fmla="val 18182"/>
            </a:avLst>
          </a:prstGeom>
          <a:solidFill>
            <a:srgbClr val="1D34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faq1_41"/>
          <p:cNvSpPr txBox="1"/>
          <p:nvPr/>
        </p:nvSpPr>
        <p:spPr>
          <a:xfrm>
            <a:off x="395112" y="3032790"/>
            <a:ext cx="164811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RepeatModeler</a:t>
            </a:r>
            <a:endParaRPr lang="en-US" sz="1526" dirty="0"/>
          </a:p>
        </p:txBody>
      </p:sp>
      <p:sp>
        <p:nvSpPr>
          <p:cNvPr id="43" name="faq1_42"/>
          <p:cNvSpPr/>
          <p:nvPr/>
        </p:nvSpPr>
        <p:spPr>
          <a:xfrm>
            <a:off x="2042130" y="4297680"/>
            <a:ext cx="246888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44" name="faq1_43"/>
          <p:cNvSpPr txBox="1"/>
          <p:nvPr/>
        </p:nvSpPr>
        <p:spPr>
          <a:xfrm>
            <a:off x="2076694" y="4671212"/>
            <a:ext cx="2399843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8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TE rediscovered</a:t>
            </a:r>
            <a:endParaRPr lang="en-US" sz="1781" dirty="0"/>
          </a:p>
        </p:txBody>
      </p:sp>
      <p:sp>
        <p:nvSpPr>
          <p:cNvPr id="45" name="faq1_44"/>
          <p:cNvSpPr txBox="1"/>
          <p:nvPr/>
        </p:nvSpPr>
        <p:spPr>
          <a:xfrm>
            <a:off x="7980975" y="2143171"/>
            <a:ext cx="186885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Hard-masked</a:t>
            </a:r>
            <a:endParaRPr lang="en-US" sz="1908" dirty="0"/>
          </a:p>
        </p:txBody>
      </p:sp>
      <p:sp>
        <p:nvSpPr>
          <p:cNvPr id="46" name="faq1_45"/>
          <p:cNvSpPr txBox="1"/>
          <p:nvPr/>
        </p:nvSpPr>
        <p:spPr>
          <a:xfrm>
            <a:off x="8297723" y="2476470"/>
            <a:ext cx="12352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6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ATG → NNN</a:t>
            </a:r>
            <a:endParaRPr lang="en-US" sz="1526" dirty="0"/>
          </a:p>
        </p:txBody>
      </p:sp>
      <p:sp>
        <p:nvSpPr>
          <p:cNvPr id="47" name="faq1_46"/>
          <p:cNvSpPr txBox="1"/>
          <p:nvPr/>
        </p:nvSpPr>
        <p:spPr>
          <a:xfrm>
            <a:off x="6765188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400" dirty="0"/>
          </a:p>
        </p:txBody>
      </p:sp>
      <p:sp>
        <p:nvSpPr>
          <p:cNvPr id="48" name="faq1_47"/>
          <p:cNvSpPr txBox="1"/>
          <p:nvPr/>
        </p:nvSpPr>
        <p:spPr>
          <a:xfrm>
            <a:off x="6970928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400" dirty="0"/>
          </a:p>
        </p:txBody>
      </p:sp>
      <p:sp>
        <p:nvSpPr>
          <p:cNvPr id="49" name="faq1_48"/>
          <p:cNvSpPr txBox="1"/>
          <p:nvPr/>
        </p:nvSpPr>
        <p:spPr>
          <a:xfrm>
            <a:off x="7176211" y="377190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400" dirty="0"/>
          </a:p>
        </p:txBody>
      </p:sp>
      <p:sp>
        <p:nvSpPr>
          <p:cNvPr id="50" name="faq1_49"/>
          <p:cNvSpPr txBox="1"/>
          <p:nvPr/>
        </p:nvSpPr>
        <p:spPr>
          <a:xfrm>
            <a:off x="7382408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400" dirty="0"/>
          </a:p>
        </p:txBody>
      </p:sp>
      <p:sp>
        <p:nvSpPr>
          <p:cNvPr id="51" name="faq1_50"/>
          <p:cNvSpPr txBox="1"/>
          <p:nvPr/>
        </p:nvSpPr>
        <p:spPr>
          <a:xfrm>
            <a:off x="7587691" y="377190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400" dirty="0"/>
          </a:p>
        </p:txBody>
      </p:sp>
      <p:sp>
        <p:nvSpPr>
          <p:cNvPr id="52" name="faq1_51"/>
          <p:cNvSpPr txBox="1"/>
          <p:nvPr/>
        </p:nvSpPr>
        <p:spPr>
          <a:xfrm>
            <a:off x="7588148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400" dirty="0"/>
          </a:p>
        </p:txBody>
      </p:sp>
      <p:sp>
        <p:nvSpPr>
          <p:cNvPr id="53" name="faq1_52"/>
          <p:cNvSpPr txBox="1"/>
          <p:nvPr/>
        </p:nvSpPr>
        <p:spPr>
          <a:xfrm>
            <a:off x="7793888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400" dirty="0"/>
          </a:p>
        </p:txBody>
      </p:sp>
      <p:sp>
        <p:nvSpPr>
          <p:cNvPr id="54" name="faq1_53"/>
          <p:cNvSpPr txBox="1"/>
          <p:nvPr/>
        </p:nvSpPr>
        <p:spPr>
          <a:xfrm>
            <a:off x="7793888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400" dirty="0"/>
          </a:p>
        </p:txBody>
      </p:sp>
      <p:sp>
        <p:nvSpPr>
          <p:cNvPr id="55" name="faq1_54"/>
          <p:cNvSpPr txBox="1"/>
          <p:nvPr/>
        </p:nvSpPr>
        <p:spPr>
          <a:xfrm>
            <a:off x="7999628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400" dirty="0"/>
          </a:p>
        </p:txBody>
      </p:sp>
      <p:sp>
        <p:nvSpPr>
          <p:cNvPr id="56" name="faq1_55"/>
          <p:cNvSpPr txBox="1"/>
          <p:nvPr/>
        </p:nvSpPr>
        <p:spPr>
          <a:xfrm>
            <a:off x="7999628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400" dirty="0"/>
          </a:p>
        </p:txBody>
      </p:sp>
      <p:sp>
        <p:nvSpPr>
          <p:cNvPr id="57" name="faq1_56"/>
          <p:cNvSpPr txBox="1"/>
          <p:nvPr/>
        </p:nvSpPr>
        <p:spPr>
          <a:xfrm>
            <a:off x="8205368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400" dirty="0"/>
          </a:p>
        </p:txBody>
      </p:sp>
      <p:sp>
        <p:nvSpPr>
          <p:cNvPr id="58" name="faq1_57"/>
          <p:cNvSpPr txBox="1"/>
          <p:nvPr/>
        </p:nvSpPr>
        <p:spPr>
          <a:xfrm>
            <a:off x="8205368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400" dirty="0"/>
          </a:p>
        </p:txBody>
      </p:sp>
      <p:sp>
        <p:nvSpPr>
          <p:cNvPr id="59" name="faq1_58"/>
          <p:cNvSpPr txBox="1"/>
          <p:nvPr/>
        </p:nvSpPr>
        <p:spPr>
          <a:xfrm>
            <a:off x="8411108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400" dirty="0"/>
          </a:p>
        </p:txBody>
      </p:sp>
      <p:sp>
        <p:nvSpPr>
          <p:cNvPr id="60" name="faq1_59"/>
          <p:cNvSpPr txBox="1"/>
          <p:nvPr/>
        </p:nvSpPr>
        <p:spPr>
          <a:xfrm>
            <a:off x="8411108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400" dirty="0"/>
          </a:p>
        </p:txBody>
      </p:sp>
      <p:sp>
        <p:nvSpPr>
          <p:cNvPr id="61" name="faq1_60"/>
          <p:cNvSpPr txBox="1"/>
          <p:nvPr/>
        </p:nvSpPr>
        <p:spPr>
          <a:xfrm>
            <a:off x="8616391" y="377190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400" dirty="0"/>
          </a:p>
        </p:txBody>
      </p:sp>
      <p:sp>
        <p:nvSpPr>
          <p:cNvPr id="62" name="faq1_61"/>
          <p:cNvSpPr txBox="1"/>
          <p:nvPr/>
        </p:nvSpPr>
        <p:spPr>
          <a:xfrm>
            <a:off x="8616848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400" dirty="0"/>
          </a:p>
        </p:txBody>
      </p:sp>
      <p:sp>
        <p:nvSpPr>
          <p:cNvPr id="63" name="faq1_62"/>
          <p:cNvSpPr txBox="1"/>
          <p:nvPr/>
        </p:nvSpPr>
        <p:spPr>
          <a:xfrm>
            <a:off x="8822588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400" dirty="0"/>
          </a:p>
        </p:txBody>
      </p:sp>
      <p:sp>
        <p:nvSpPr>
          <p:cNvPr id="64" name="faq1_63"/>
          <p:cNvSpPr txBox="1"/>
          <p:nvPr/>
        </p:nvSpPr>
        <p:spPr>
          <a:xfrm>
            <a:off x="8822588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400" dirty="0"/>
          </a:p>
        </p:txBody>
      </p:sp>
      <p:sp>
        <p:nvSpPr>
          <p:cNvPr id="65" name="faq1_64"/>
          <p:cNvSpPr txBox="1"/>
          <p:nvPr/>
        </p:nvSpPr>
        <p:spPr>
          <a:xfrm>
            <a:off x="9028328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400" dirty="0"/>
          </a:p>
        </p:txBody>
      </p:sp>
      <p:sp>
        <p:nvSpPr>
          <p:cNvPr id="66" name="faq1_65"/>
          <p:cNvSpPr txBox="1"/>
          <p:nvPr/>
        </p:nvSpPr>
        <p:spPr>
          <a:xfrm>
            <a:off x="9028328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400" dirty="0"/>
          </a:p>
        </p:txBody>
      </p:sp>
      <p:sp>
        <p:nvSpPr>
          <p:cNvPr id="67" name="faq1_66"/>
          <p:cNvSpPr txBox="1"/>
          <p:nvPr/>
        </p:nvSpPr>
        <p:spPr>
          <a:xfrm>
            <a:off x="9234068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400" dirty="0"/>
          </a:p>
        </p:txBody>
      </p:sp>
      <p:sp>
        <p:nvSpPr>
          <p:cNvPr id="68" name="faq1_67"/>
          <p:cNvSpPr txBox="1"/>
          <p:nvPr/>
        </p:nvSpPr>
        <p:spPr>
          <a:xfrm>
            <a:off x="9234068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400" dirty="0"/>
          </a:p>
        </p:txBody>
      </p:sp>
      <p:sp>
        <p:nvSpPr>
          <p:cNvPr id="69" name="faq1_68"/>
          <p:cNvSpPr txBox="1"/>
          <p:nvPr/>
        </p:nvSpPr>
        <p:spPr>
          <a:xfrm>
            <a:off x="9439808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400" dirty="0"/>
          </a:p>
        </p:txBody>
      </p:sp>
      <p:sp>
        <p:nvSpPr>
          <p:cNvPr id="70" name="faq1_69"/>
          <p:cNvSpPr txBox="1"/>
          <p:nvPr/>
        </p:nvSpPr>
        <p:spPr>
          <a:xfrm>
            <a:off x="9439808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400" dirty="0"/>
          </a:p>
        </p:txBody>
      </p:sp>
      <p:sp>
        <p:nvSpPr>
          <p:cNvPr id="71" name="faq1_70"/>
          <p:cNvSpPr txBox="1"/>
          <p:nvPr/>
        </p:nvSpPr>
        <p:spPr>
          <a:xfrm>
            <a:off x="9645091" y="377190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400" dirty="0"/>
          </a:p>
        </p:txBody>
      </p:sp>
      <p:sp>
        <p:nvSpPr>
          <p:cNvPr id="72" name="faq1_71"/>
          <p:cNvSpPr txBox="1"/>
          <p:nvPr/>
        </p:nvSpPr>
        <p:spPr>
          <a:xfrm>
            <a:off x="9645548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400" dirty="0"/>
          </a:p>
        </p:txBody>
      </p:sp>
      <p:sp>
        <p:nvSpPr>
          <p:cNvPr id="73" name="faq1_72"/>
          <p:cNvSpPr txBox="1"/>
          <p:nvPr/>
        </p:nvSpPr>
        <p:spPr>
          <a:xfrm>
            <a:off x="9850831" y="377190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B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400" dirty="0"/>
          </a:p>
        </p:txBody>
      </p:sp>
      <p:sp>
        <p:nvSpPr>
          <p:cNvPr id="74" name="faq1_73"/>
          <p:cNvSpPr txBox="1"/>
          <p:nvPr/>
        </p:nvSpPr>
        <p:spPr>
          <a:xfrm>
            <a:off x="9851288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400" dirty="0"/>
          </a:p>
        </p:txBody>
      </p:sp>
      <p:sp>
        <p:nvSpPr>
          <p:cNvPr id="75" name="faq1_74"/>
          <p:cNvSpPr txBox="1"/>
          <p:nvPr/>
        </p:nvSpPr>
        <p:spPr>
          <a:xfrm>
            <a:off x="10057028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400" dirty="0"/>
          </a:p>
        </p:txBody>
      </p:sp>
      <p:sp>
        <p:nvSpPr>
          <p:cNvPr id="76" name="faq1_75"/>
          <p:cNvSpPr txBox="1"/>
          <p:nvPr/>
        </p:nvSpPr>
        <p:spPr>
          <a:xfrm>
            <a:off x="10262768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400" dirty="0"/>
          </a:p>
        </p:txBody>
      </p:sp>
      <p:sp>
        <p:nvSpPr>
          <p:cNvPr id="77" name="faq1_76"/>
          <p:cNvSpPr txBox="1"/>
          <p:nvPr/>
        </p:nvSpPr>
        <p:spPr>
          <a:xfrm>
            <a:off x="10468508" y="3771900"/>
            <a:ext cx="391272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400" dirty="0"/>
          </a:p>
        </p:txBody>
      </p:sp>
      <p:sp>
        <p:nvSpPr>
          <p:cNvPr id="78" name="faq1_77"/>
          <p:cNvSpPr txBox="1"/>
          <p:nvPr/>
        </p:nvSpPr>
        <p:spPr>
          <a:xfrm>
            <a:off x="10673791" y="3771900"/>
            <a:ext cx="400050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400" dirty="0"/>
          </a:p>
        </p:txBody>
      </p:sp>
      <p:sp>
        <p:nvSpPr>
          <p:cNvPr id="79" name="faq1_78"/>
          <p:cNvSpPr/>
          <p:nvPr/>
        </p:nvSpPr>
        <p:spPr>
          <a:xfrm>
            <a:off x="6019770" y="3398550"/>
            <a:ext cx="1676370" cy="79251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0" name="faq1_79"/>
          <p:cNvSpPr/>
          <p:nvPr/>
        </p:nvSpPr>
        <p:spPr>
          <a:xfrm>
            <a:off x="6019770" y="2895630"/>
            <a:ext cx="1676370" cy="502920"/>
          </a:xfrm>
          <a:prstGeom prst="roundRect">
            <a:avLst>
              <a:gd name="adj" fmla="val 18182"/>
            </a:avLst>
          </a:prstGeom>
          <a:solidFill>
            <a:srgbClr val="1D34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1" name="faq1_80"/>
          <p:cNvSpPr txBox="1"/>
          <p:nvPr/>
        </p:nvSpPr>
        <p:spPr>
          <a:xfrm>
            <a:off x="6033943" y="3032790"/>
            <a:ext cx="164811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RepeatModeler</a:t>
            </a:r>
            <a:endParaRPr lang="en-US" sz="1526" dirty="0"/>
          </a:p>
        </p:txBody>
      </p:sp>
      <p:sp>
        <p:nvSpPr>
          <p:cNvPr id="82" name="faq1_81"/>
          <p:cNvSpPr txBox="1"/>
          <p:nvPr/>
        </p:nvSpPr>
        <p:spPr>
          <a:xfrm>
            <a:off x="7575621" y="4671212"/>
            <a:ext cx="2679466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8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Nothing left to find</a:t>
            </a:r>
            <a:endParaRPr lang="en-US" sz="1781" dirty="0"/>
          </a:p>
        </p:txBody>
      </p:sp>
      <p:sp>
        <p:nvSpPr>
          <p:cNvPr id="83" name="faq1_82"/>
          <p:cNvSpPr txBox="1"/>
          <p:nvPr/>
        </p:nvSpPr>
        <p:spPr>
          <a:xfrm>
            <a:off x="548640" y="396210"/>
            <a:ext cx="4572000" cy="464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FAQs</a:t>
            </a:r>
            <a:endParaRPr lang="en-US" sz="2880" dirty="0"/>
          </a:p>
        </p:txBody>
      </p:sp>
      <p:sp>
        <p:nvSpPr>
          <p:cNvPr id="84" name="faq1_83"/>
          <p:cNvSpPr txBox="1"/>
          <p:nvPr/>
        </p:nvSpPr>
        <p:spPr>
          <a:xfrm>
            <a:off x="1219170" y="1143000"/>
            <a:ext cx="9753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did you find known TEs if you had already masked these regions?</a:t>
            </a:r>
            <a:endParaRPr lang="en-US" sz="2200" dirty="0"/>
          </a:p>
        </p:txBody>
      </p:sp>
      <p:sp>
        <p:nvSpPr>
          <p:cNvPr id="85" name="faq1_84"/>
          <p:cNvSpPr/>
          <p:nvPr/>
        </p:nvSpPr>
        <p:spPr>
          <a:xfrm>
            <a:off x="9829800" y="457200"/>
            <a:ext cx="1813530" cy="365760"/>
          </a:xfrm>
          <a:prstGeom prst="roundRect">
            <a:avLst>
              <a:gd name="adj" fmla="val 50000"/>
            </a:avLst>
          </a:prstGeom>
          <a:solidFill>
            <a:srgbClr val="1D3461"/>
          </a:solidFill>
          <a:ln/>
        </p:spPr>
      </p:sp>
      <p:sp>
        <p:nvSpPr>
          <p:cNvPr id="86" name="faq1_85"/>
          <p:cNvSpPr txBox="1"/>
          <p:nvPr/>
        </p:nvSpPr>
        <p:spPr>
          <a:xfrm>
            <a:off x="9829800" y="457200"/>
            <a:ext cx="181353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FAQs</a:t>
            </a:r>
            <a:endParaRPr lang="en-US" sz="1300" dirty="0"/>
          </a:p>
        </p:txBody>
      </p:sp>
      <p:sp>
        <p:nvSpPr>
          <p:cNvPr id="87" name="faq1_86">
            <a:hlinkClick r:id="rId1" tooltip="Back to the FAQ list" action="ppaction://hlinksldjump"/>
          </p:cNvPr>
          <p:cNvSpPr/>
          <p:nvPr/>
        </p:nvSpPr>
        <p:spPr>
          <a:xfrm>
            <a:off x="9829800" y="457200"/>
            <a:ext cx="1813530" cy="365760"/>
          </a:xfrm>
          <a:prstGeom prst="roundRect">
            <a:avLst>
              <a:gd name="adj" fmla="val 50000"/>
            </a:avLst>
          </a:prstGeom>
          <a:solidFill>
            <a:srgbClr val="0A0F15">
              <a:alpha val="0"/>
            </a:srgbClr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xit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2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26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26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26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26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26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26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26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26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26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26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26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26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26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26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26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26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2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26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26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2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26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26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26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26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26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26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26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26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26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26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26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26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26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xit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26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26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26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26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xit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26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25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26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0" presetClass="exit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0" presetClass="path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animMotion origin="layout" path="M 0 0 L 0.33750 0.00000 E" pathEditMode="relative" rAng="0" ptsTypes="AA">
                                      <p:cBhvr>
                                        <p:cTn id="319" dur="2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0" presetID="0" presetClass="path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animMotion origin="layout" path="M 0 0 L 0.33750 0.00000 E" pathEditMode="relative" rAng="0" ptsTypes="AA">
                                      <p:cBhvr>
                                        <p:cTn id="321" dur="2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2" presetID="0" presetClass="path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animMotion origin="layout" path="M 0 0 L 0.33750 0.00000 E" pathEditMode="relative" rAng="0" ptsTypes="AA">
                                      <p:cBhvr>
                                        <p:cTn id="323" dur="2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4" presetID="0" presetClass="path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animMotion origin="layout" path="M 0 0 L 0.33750 0.00000 E" pathEditMode="relative" rAng="0" ptsTypes="AA">
                                      <p:cBhvr>
                                        <p:cTn id="325" dur="26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6" presetID="0" presetClass="path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animMotion origin="layout" path="M 0 0 L 0.33750 0.00000 E" pathEditMode="relative" rAng="0" ptsTypes="AA">
                                      <p:cBhvr>
                                        <p:cTn id="327" dur="26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8" presetID="0" presetClass="path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animMotion origin="layout" path="M 0 0 L 0.33750 0.00000 E" pathEditMode="relative" rAng="0" ptsTypes="AA">
                                      <p:cBhvr>
                                        <p:cTn id="329" dur="26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0" presetID="10" presetClass="exit" presetSubtype="0" fill="hold" grpId="0" nodeType="withEffect">
                                  <p:stCondLst>
                                    <p:cond delay="3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0" presetClass="exit" presetSubtype="0" fill="hold" grpId="0" nodeType="withEffect">
                                  <p:stCondLst>
                                    <p:cond delay="3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10" presetClass="exit" presetSubtype="0" fill="hold" grpId="0" nodeType="withEffect">
                                  <p:stCondLst>
                                    <p:cond delay="3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0" presetClass="exit" presetSubtype="0" fill="hold" grpId="0" nodeType="withEffect">
                                  <p:stCondLst>
                                    <p:cond delay="3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0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0" presetClass="exit" presetSubtype="0" fill="hold" grpId="0" nodeType="withEffect">
                                  <p:stCondLst>
                                    <p:cond delay="3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3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10" presetClass="exit" presetSubtype="0" fill="hold" grpId="0" nodeType="withEffect">
                                  <p:stCondLst>
                                    <p:cond delay="3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6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10" presetClass="exit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8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 animBg="1"/>
      <p:bldP spid="41" grpId="0" animBg="1"/>
      <p:bldP spid="42" grpId="0"/>
      <p:bldP spid="43" grpId="0" animBg="1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 animBg="1"/>
      <p:bldP spid="80" grpId="0" animBg="1"/>
      <p:bldP spid="81" grpId="0"/>
      <p:bldP spid="8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q2_1"/>
          <p:cNvSpPr txBox="1"/>
          <p:nvPr/>
        </p:nvSpPr>
        <p:spPr>
          <a:xfrm>
            <a:off x="1478676" y="5953110"/>
            <a:ext cx="923470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Dfam families were searched against the real genome and a synthetic one</a:t>
            </a:r>
            <a:endParaRPr lang="en-US" sz="1908" dirty="0"/>
          </a:p>
        </p:txBody>
      </p:sp>
      <p:sp>
        <p:nvSpPr>
          <p:cNvPr id="3" name="faq2_2"/>
          <p:cNvSpPr txBox="1"/>
          <p:nvPr/>
        </p:nvSpPr>
        <p:spPr>
          <a:xfrm>
            <a:off x="2596987" y="5953110"/>
            <a:ext cx="699799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hit in the synthetic genome must be a false positive</a:t>
            </a:r>
            <a:endParaRPr lang="en-US" sz="1908" dirty="0"/>
          </a:p>
        </p:txBody>
      </p:sp>
      <p:sp>
        <p:nvSpPr>
          <p:cNvPr id="4" name="faq2_3"/>
          <p:cNvSpPr txBox="1"/>
          <p:nvPr/>
        </p:nvSpPr>
        <p:spPr>
          <a:xfrm>
            <a:off x="3568537" y="5953110"/>
            <a:ext cx="505489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Bitscores of the hits from both searches</a:t>
            </a:r>
            <a:endParaRPr lang="en-US" sz="1908" dirty="0"/>
          </a:p>
        </p:txBody>
      </p:sp>
      <p:sp>
        <p:nvSpPr>
          <p:cNvPr id="5" name="faq2_4"/>
          <p:cNvSpPr txBox="1"/>
          <p:nvPr/>
        </p:nvSpPr>
        <p:spPr>
          <a:xfrm>
            <a:off x="1846082" y="5953110"/>
            <a:ext cx="849980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bitscore cutoff is raised until only 0.2% of hits above it are false</a:t>
            </a:r>
            <a:endParaRPr lang="en-US" sz="1908" dirty="0"/>
          </a:p>
        </p:txBody>
      </p:sp>
      <p:sp>
        <p:nvSpPr>
          <p:cNvPr id="6" name="faq2_5"/>
          <p:cNvSpPr/>
          <p:nvPr/>
        </p:nvSpPr>
        <p:spPr>
          <a:xfrm>
            <a:off x="5676870" y="2171700"/>
            <a:ext cx="838230" cy="838230"/>
          </a:xfrm>
          <a:prstGeom prst="roundRect">
            <a:avLst>
              <a:gd name="adj" fmla="val 14541"/>
            </a:avLst>
          </a:prstGeom>
          <a:solidFill>
            <a:srgbClr val="3A4452"/>
          </a:solidFill>
          <a:ln w="1143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7" name="faq2_6"/>
          <p:cNvSpPr txBox="1"/>
          <p:nvPr/>
        </p:nvSpPr>
        <p:spPr>
          <a:xfrm>
            <a:off x="5770778" y="2293590"/>
            <a:ext cx="6504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Dfam</a:t>
            </a:r>
            <a:endParaRPr lang="en-US" sz="1526" dirty="0"/>
          </a:p>
        </p:txBody>
      </p:sp>
      <p:sp>
        <p:nvSpPr>
          <p:cNvPr id="8" name="faq2_7"/>
          <p:cNvSpPr/>
          <p:nvPr/>
        </p:nvSpPr>
        <p:spPr>
          <a:xfrm>
            <a:off x="5829300" y="2606040"/>
            <a:ext cx="533370" cy="30450"/>
          </a:xfrm>
          <a:prstGeom prst="roundRect">
            <a:avLst>
              <a:gd name="adj" fmla="val 50149"/>
            </a:avLst>
          </a:prstGeom>
          <a:solidFill>
            <a:srgbClr val="C3CAD3"/>
          </a:solidFill>
          <a:ln/>
        </p:spPr>
      </p:sp>
      <p:sp>
        <p:nvSpPr>
          <p:cNvPr id="9" name="faq2_8"/>
          <p:cNvSpPr/>
          <p:nvPr/>
        </p:nvSpPr>
        <p:spPr>
          <a:xfrm>
            <a:off x="5829300" y="2727930"/>
            <a:ext cx="533370" cy="30450"/>
          </a:xfrm>
          <a:prstGeom prst="roundRect">
            <a:avLst>
              <a:gd name="adj" fmla="val 50149"/>
            </a:avLst>
          </a:prstGeom>
          <a:solidFill>
            <a:srgbClr val="C3CAD3"/>
          </a:solidFill>
          <a:ln/>
        </p:spPr>
      </p:sp>
      <p:sp>
        <p:nvSpPr>
          <p:cNvPr id="10" name="faq2_9"/>
          <p:cNvSpPr/>
          <p:nvPr/>
        </p:nvSpPr>
        <p:spPr>
          <a:xfrm>
            <a:off x="5829300" y="2849910"/>
            <a:ext cx="533370" cy="30450"/>
          </a:xfrm>
          <a:prstGeom prst="roundRect">
            <a:avLst>
              <a:gd name="adj" fmla="val 50149"/>
            </a:avLst>
          </a:prstGeom>
          <a:solidFill>
            <a:srgbClr val="C3CAD3"/>
          </a:solidFill>
          <a:ln/>
        </p:spPr>
      </p:sp>
      <p:sp>
        <p:nvSpPr>
          <p:cNvPr id="11" name="faq2_10"/>
          <p:cNvSpPr/>
          <p:nvPr/>
        </p:nvSpPr>
        <p:spPr>
          <a:xfrm>
            <a:off x="3047970" y="3520440"/>
            <a:ext cx="761997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2" name="faq2_11"/>
          <p:cNvSpPr/>
          <p:nvPr/>
        </p:nvSpPr>
        <p:spPr>
          <a:xfrm>
            <a:off x="3047970" y="4587270"/>
            <a:ext cx="7619970" cy="121890"/>
          </a:xfrm>
          <a:prstGeom prst="rect">
            <a:avLst/>
          </a:prstGeom>
          <a:solidFill>
            <a:srgbClr val="3FBF6F"/>
          </a:solidFill>
          <a:ln/>
        </p:spPr>
      </p:sp>
      <p:sp>
        <p:nvSpPr>
          <p:cNvPr id="13" name="faq2_12"/>
          <p:cNvSpPr txBox="1"/>
          <p:nvPr/>
        </p:nvSpPr>
        <p:spPr>
          <a:xfrm>
            <a:off x="824880" y="3476640"/>
            <a:ext cx="2009760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T2T-CHM13 genome</a:t>
            </a:r>
            <a:endParaRPr lang="en-US" sz="1399" dirty="0"/>
          </a:p>
        </p:txBody>
      </p:sp>
      <p:sp>
        <p:nvSpPr>
          <p:cNvPr id="14" name="faq2_13"/>
          <p:cNvSpPr txBox="1"/>
          <p:nvPr/>
        </p:nvSpPr>
        <p:spPr>
          <a:xfrm>
            <a:off x="323698" y="4543471"/>
            <a:ext cx="2510942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99" b="1" dirty="0">
                <a:solidFill>
                  <a:srgbClr val="3FB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GARLIC synthetic genome</a:t>
            </a:r>
            <a:endParaRPr lang="en-US" sz="1399" dirty="0"/>
          </a:p>
        </p:txBody>
      </p:sp>
      <p:sp>
        <p:nvSpPr>
          <p:cNvPr id="15" name="faq2_14"/>
          <p:cNvSpPr/>
          <p:nvPr/>
        </p:nvSpPr>
        <p:spPr>
          <a:xfrm>
            <a:off x="3185130" y="3520440"/>
            <a:ext cx="18288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16" name="faq2_15"/>
          <p:cNvSpPr/>
          <p:nvPr/>
        </p:nvSpPr>
        <p:spPr>
          <a:xfrm>
            <a:off x="3566160" y="3520440"/>
            <a:ext cx="18288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17" name="faq2_16"/>
          <p:cNvSpPr/>
          <p:nvPr/>
        </p:nvSpPr>
        <p:spPr>
          <a:xfrm>
            <a:off x="4023360" y="3520440"/>
            <a:ext cx="18288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18" name="faq2_17"/>
          <p:cNvSpPr/>
          <p:nvPr/>
        </p:nvSpPr>
        <p:spPr>
          <a:xfrm>
            <a:off x="4290090" y="3520440"/>
            <a:ext cx="18288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19" name="faq2_18"/>
          <p:cNvSpPr/>
          <p:nvPr/>
        </p:nvSpPr>
        <p:spPr>
          <a:xfrm>
            <a:off x="4785330" y="3520440"/>
            <a:ext cx="18288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20" name="faq2_19"/>
          <p:cNvSpPr/>
          <p:nvPr/>
        </p:nvSpPr>
        <p:spPr>
          <a:xfrm>
            <a:off x="5242530" y="3520440"/>
            <a:ext cx="18288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21" name="faq2_20"/>
          <p:cNvSpPr/>
          <p:nvPr/>
        </p:nvSpPr>
        <p:spPr>
          <a:xfrm>
            <a:off x="5509260" y="3520440"/>
            <a:ext cx="18288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22" name="faq2_21"/>
          <p:cNvSpPr/>
          <p:nvPr/>
        </p:nvSpPr>
        <p:spPr>
          <a:xfrm>
            <a:off x="6004590" y="3520440"/>
            <a:ext cx="18288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23" name="faq2_22"/>
          <p:cNvSpPr/>
          <p:nvPr/>
        </p:nvSpPr>
        <p:spPr>
          <a:xfrm>
            <a:off x="6461790" y="3520440"/>
            <a:ext cx="18288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24" name="faq2_23"/>
          <p:cNvSpPr/>
          <p:nvPr/>
        </p:nvSpPr>
        <p:spPr>
          <a:xfrm>
            <a:off x="6804690" y="3520440"/>
            <a:ext cx="18288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25" name="faq2_24"/>
          <p:cNvSpPr/>
          <p:nvPr/>
        </p:nvSpPr>
        <p:spPr>
          <a:xfrm>
            <a:off x="7223760" y="3520440"/>
            <a:ext cx="18288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26" name="faq2_25"/>
          <p:cNvSpPr/>
          <p:nvPr/>
        </p:nvSpPr>
        <p:spPr>
          <a:xfrm>
            <a:off x="7757130" y="3520440"/>
            <a:ext cx="18288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27" name="faq2_26"/>
          <p:cNvSpPr/>
          <p:nvPr/>
        </p:nvSpPr>
        <p:spPr>
          <a:xfrm>
            <a:off x="8214330" y="3520440"/>
            <a:ext cx="18288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28" name="faq2_27"/>
          <p:cNvSpPr/>
          <p:nvPr/>
        </p:nvSpPr>
        <p:spPr>
          <a:xfrm>
            <a:off x="8671530" y="3520440"/>
            <a:ext cx="18288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29" name="faq2_28"/>
          <p:cNvSpPr/>
          <p:nvPr/>
        </p:nvSpPr>
        <p:spPr>
          <a:xfrm>
            <a:off x="9052560" y="3520440"/>
            <a:ext cx="18288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30" name="faq2_29"/>
          <p:cNvSpPr/>
          <p:nvPr/>
        </p:nvSpPr>
        <p:spPr>
          <a:xfrm>
            <a:off x="9585930" y="3520440"/>
            <a:ext cx="18288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31" name="faq2_30"/>
          <p:cNvSpPr/>
          <p:nvPr/>
        </p:nvSpPr>
        <p:spPr>
          <a:xfrm>
            <a:off x="10043130" y="3520440"/>
            <a:ext cx="18288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32" name="faq2_31"/>
          <p:cNvSpPr/>
          <p:nvPr/>
        </p:nvSpPr>
        <p:spPr>
          <a:xfrm>
            <a:off x="10386030" y="3520440"/>
            <a:ext cx="18288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33" name="faq2_32"/>
          <p:cNvSpPr/>
          <p:nvPr/>
        </p:nvSpPr>
        <p:spPr>
          <a:xfrm>
            <a:off x="5166360" y="4587270"/>
            <a:ext cx="18288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34" name="faq2_33"/>
          <p:cNvSpPr/>
          <p:nvPr/>
        </p:nvSpPr>
        <p:spPr>
          <a:xfrm>
            <a:off x="8900130" y="4587270"/>
            <a:ext cx="18288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35" name="faq2_34"/>
          <p:cNvSpPr/>
          <p:nvPr/>
        </p:nvSpPr>
        <p:spPr>
          <a:xfrm>
            <a:off x="3036540" y="3276570"/>
            <a:ext cx="22860" cy="16763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faq2_35"/>
          <p:cNvSpPr/>
          <p:nvPr/>
        </p:nvSpPr>
        <p:spPr>
          <a:xfrm>
            <a:off x="2895630" y="5250210"/>
            <a:ext cx="7010430" cy="15270"/>
          </a:xfrm>
          <a:prstGeom prst="rect">
            <a:avLst/>
          </a:prstGeom>
          <a:solidFill>
            <a:srgbClr val="A9B5C2"/>
          </a:solidFill>
          <a:ln/>
        </p:spPr>
      </p:sp>
      <p:sp>
        <p:nvSpPr>
          <p:cNvPr id="37" name="faq2_36"/>
          <p:cNvSpPr txBox="1"/>
          <p:nvPr/>
        </p:nvSpPr>
        <p:spPr>
          <a:xfrm>
            <a:off x="5971032" y="5488320"/>
            <a:ext cx="859536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Bitscore</a:t>
            </a:r>
            <a:endParaRPr lang="en-US" sz="1399" dirty="0"/>
          </a:p>
        </p:txBody>
      </p:sp>
      <p:sp>
        <p:nvSpPr>
          <p:cNvPr id="38" name="faq2_37"/>
          <p:cNvSpPr/>
          <p:nvPr/>
        </p:nvSpPr>
        <p:spPr>
          <a:xfrm>
            <a:off x="2895630" y="3870930"/>
            <a:ext cx="7010430" cy="1386870"/>
          </a:xfrm>
          <a:custGeom>
            <a:avLst/>
            <a:gdLst/>
            <a:ahLst/>
            <a:cxnLst/>
            <a:rect l="l" t="t" r="r" b="b"/>
            <a:pathLst>
              <a:path w="7010430" h="1386870">
                <a:moveTo>
                  <a:pt x="0" y="1386870"/>
                </a:moveTo>
                <a:lnTo>
                  <a:pt x="0" y="1371600"/>
                </a:lnTo>
                <a:lnTo>
                  <a:pt x="35022" y="1367028"/>
                </a:lnTo>
                <a:lnTo>
                  <a:pt x="70134" y="1361724"/>
                </a:lnTo>
                <a:lnTo>
                  <a:pt x="105156" y="1355598"/>
                </a:lnTo>
                <a:lnTo>
                  <a:pt x="140178" y="1347186"/>
                </a:lnTo>
                <a:lnTo>
                  <a:pt x="175290" y="1337310"/>
                </a:lnTo>
                <a:lnTo>
                  <a:pt x="210312" y="1325880"/>
                </a:lnTo>
                <a:lnTo>
                  <a:pt x="245334" y="1312164"/>
                </a:lnTo>
                <a:lnTo>
                  <a:pt x="280446" y="1295430"/>
                </a:lnTo>
                <a:lnTo>
                  <a:pt x="315468" y="1276320"/>
                </a:lnTo>
                <a:lnTo>
                  <a:pt x="350490" y="1254282"/>
                </a:lnTo>
                <a:lnTo>
                  <a:pt x="385602" y="1228314"/>
                </a:lnTo>
                <a:lnTo>
                  <a:pt x="420624" y="1199418"/>
                </a:lnTo>
                <a:lnTo>
                  <a:pt x="455646" y="1165860"/>
                </a:lnTo>
                <a:lnTo>
                  <a:pt x="490758" y="1128552"/>
                </a:lnTo>
                <a:lnTo>
                  <a:pt x="525780" y="1086582"/>
                </a:lnTo>
                <a:lnTo>
                  <a:pt x="560802" y="1040862"/>
                </a:lnTo>
                <a:lnTo>
                  <a:pt x="595914" y="990570"/>
                </a:lnTo>
                <a:lnTo>
                  <a:pt x="630936" y="936528"/>
                </a:lnTo>
                <a:lnTo>
                  <a:pt x="665958" y="878556"/>
                </a:lnTo>
                <a:lnTo>
                  <a:pt x="701070" y="816834"/>
                </a:lnTo>
                <a:lnTo>
                  <a:pt x="736092" y="752094"/>
                </a:lnTo>
                <a:lnTo>
                  <a:pt x="771114" y="684246"/>
                </a:lnTo>
                <a:lnTo>
                  <a:pt x="806226" y="615666"/>
                </a:lnTo>
                <a:lnTo>
                  <a:pt x="841248" y="545622"/>
                </a:lnTo>
                <a:lnTo>
                  <a:pt x="876270" y="475488"/>
                </a:lnTo>
                <a:lnTo>
                  <a:pt x="911382" y="406908"/>
                </a:lnTo>
                <a:lnTo>
                  <a:pt x="946404" y="339882"/>
                </a:lnTo>
                <a:lnTo>
                  <a:pt x="981426" y="276606"/>
                </a:lnTo>
                <a:lnTo>
                  <a:pt x="1016538" y="217170"/>
                </a:lnTo>
                <a:lnTo>
                  <a:pt x="1051560" y="163038"/>
                </a:lnTo>
                <a:lnTo>
                  <a:pt x="1086582" y="115032"/>
                </a:lnTo>
                <a:lnTo>
                  <a:pt x="1121694" y="74706"/>
                </a:lnTo>
                <a:lnTo>
                  <a:pt x="1156716" y="42702"/>
                </a:lnTo>
                <a:lnTo>
                  <a:pt x="1191738" y="19020"/>
                </a:lnTo>
                <a:lnTo>
                  <a:pt x="1226850" y="4572"/>
                </a:lnTo>
                <a:lnTo>
                  <a:pt x="1261872" y="0"/>
                </a:lnTo>
                <a:lnTo>
                  <a:pt x="1296894" y="4572"/>
                </a:lnTo>
                <a:lnTo>
                  <a:pt x="1332006" y="19020"/>
                </a:lnTo>
                <a:lnTo>
                  <a:pt x="1367028" y="42702"/>
                </a:lnTo>
                <a:lnTo>
                  <a:pt x="1402050" y="74706"/>
                </a:lnTo>
                <a:lnTo>
                  <a:pt x="1437162" y="115032"/>
                </a:lnTo>
                <a:lnTo>
                  <a:pt x="1472184" y="163038"/>
                </a:lnTo>
                <a:lnTo>
                  <a:pt x="1507206" y="217170"/>
                </a:lnTo>
                <a:lnTo>
                  <a:pt x="1542318" y="276606"/>
                </a:lnTo>
                <a:lnTo>
                  <a:pt x="1577340" y="339882"/>
                </a:lnTo>
                <a:lnTo>
                  <a:pt x="1612362" y="406908"/>
                </a:lnTo>
                <a:lnTo>
                  <a:pt x="1647474" y="475488"/>
                </a:lnTo>
                <a:lnTo>
                  <a:pt x="1682496" y="545622"/>
                </a:lnTo>
                <a:lnTo>
                  <a:pt x="1717518" y="615666"/>
                </a:lnTo>
                <a:lnTo>
                  <a:pt x="1752630" y="684246"/>
                </a:lnTo>
                <a:lnTo>
                  <a:pt x="1787652" y="752094"/>
                </a:lnTo>
                <a:lnTo>
                  <a:pt x="1822674" y="816834"/>
                </a:lnTo>
                <a:lnTo>
                  <a:pt x="1857786" y="878556"/>
                </a:lnTo>
                <a:lnTo>
                  <a:pt x="1892808" y="936528"/>
                </a:lnTo>
                <a:lnTo>
                  <a:pt x="1927830" y="990570"/>
                </a:lnTo>
                <a:lnTo>
                  <a:pt x="1962942" y="1040862"/>
                </a:lnTo>
                <a:lnTo>
                  <a:pt x="1997964" y="1086582"/>
                </a:lnTo>
                <a:lnTo>
                  <a:pt x="2032986" y="1128552"/>
                </a:lnTo>
                <a:lnTo>
                  <a:pt x="2068098" y="1165860"/>
                </a:lnTo>
                <a:lnTo>
                  <a:pt x="2103120" y="1199418"/>
                </a:lnTo>
                <a:lnTo>
                  <a:pt x="2138142" y="1228314"/>
                </a:lnTo>
                <a:lnTo>
                  <a:pt x="2173254" y="1254282"/>
                </a:lnTo>
                <a:lnTo>
                  <a:pt x="2208276" y="1276320"/>
                </a:lnTo>
                <a:lnTo>
                  <a:pt x="2243298" y="1295430"/>
                </a:lnTo>
                <a:lnTo>
                  <a:pt x="2278410" y="1312164"/>
                </a:lnTo>
                <a:lnTo>
                  <a:pt x="2313432" y="1325880"/>
                </a:lnTo>
                <a:lnTo>
                  <a:pt x="2348454" y="1337310"/>
                </a:lnTo>
                <a:lnTo>
                  <a:pt x="2383566" y="1347186"/>
                </a:lnTo>
                <a:lnTo>
                  <a:pt x="2418588" y="1355598"/>
                </a:lnTo>
                <a:lnTo>
                  <a:pt x="2453610" y="1361724"/>
                </a:lnTo>
                <a:lnTo>
                  <a:pt x="2488722" y="1367028"/>
                </a:lnTo>
                <a:lnTo>
                  <a:pt x="2523744" y="1371600"/>
                </a:lnTo>
                <a:lnTo>
                  <a:pt x="2558766" y="1374618"/>
                </a:lnTo>
                <a:lnTo>
                  <a:pt x="2593878" y="1377726"/>
                </a:lnTo>
                <a:lnTo>
                  <a:pt x="2628900" y="1380012"/>
                </a:lnTo>
                <a:lnTo>
                  <a:pt x="2663922" y="1381476"/>
                </a:lnTo>
                <a:lnTo>
                  <a:pt x="2699034" y="1383030"/>
                </a:lnTo>
                <a:lnTo>
                  <a:pt x="2734056" y="1383762"/>
                </a:lnTo>
                <a:lnTo>
                  <a:pt x="2769078" y="1384584"/>
                </a:lnTo>
                <a:lnTo>
                  <a:pt x="2804190" y="1385316"/>
                </a:lnTo>
                <a:lnTo>
                  <a:pt x="2839212" y="1385316"/>
                </a:lnTo>
                <a:lnTo>
                  <a:pt x="2874234" y="1386048"/>
                </a:lnTo>
                <a:lnTo>
                  <a:pt x="2909346" y="1386048"/>
                </a:lnTo>
                <a:lnTo>
                  <a:pt x="2944368" y="1386048"/>
                </a:lnTo>
                <a:lnTo>
                  <a:pt x="2979390" y="1386870"/>
                </a:lnTo>
                <a:lnTo>
                  <a:pt x="3014502" y="1386870"/>
                </a:lnTo>
                <a:lnTo>
                  <a:pt x="3049524" y="1386870"/>
                </a:lnTo>
                <a:lnTo>
                  <a:pt x="3084546" y="1386870"/>
                </a:lnTo>
                <a:lnTo>
                  <a:pt x="3119658" y="1386870"/>
                </a:lnTo>
                <a:lnTo>
                  <a:pt x="3154680" y="1386870"/>
                </a:lnTo>
                <a:lnTo>
                  <a:pt x="3189702" y="1386870"/>
                </a:lnTo>
                <a:lnTo>
                  <a:pt x="3224814" y="1386870"/>
                </a:lnTo>
                <a:lnTo>
                  <a:pt x="3259836" y="1386870"/>
                </a:lnTo>
                <a:lnTo>
                  <a:pt x="3294858" y="1386870"/>
                </a:lnTo>
                <a:lnTo>
                  <a:pt x="3329970" y="1386870"/>
                </a:lnTo>
                <a:lnTo>
                  <a:pt x="3364992" y="1386870"/>
                </a:lnTo>
                <a:lnTo>
                  <a:pt x="3400014" y="1386870"/>
                </a:lnTo>
                <a:lnTo>
                  <a:pt x="3435126" y="1386870"/>
                </a:lnTo>
                <a:lnTo>
                  <a:pt x="3470148" y="1386870"/>
                </a:lnTo>
                <a:lnTo>
                  <a:pt x="3505170" y="1386870"/>
                </a:lnTo>
                <a:lnTo>
                  <a:pt x="3540282" y="1386870"/>
                </a:lnTo>
                <a:lnTo>
                  <a:pt x="3575304" y="1386870"/>
                </a:lnTo>
                <a:lnTo>
                  <a:pt x="3610326" y="1386870"/>
                </a:lnTo>
                <a:lnTo>
                  <a:pt x="3645438" y="1386870"/>
                </a:lnTo>
                <a:lnTo>
                  <a:pt x="3680460" y="1386870"/>
                </a:lnTo>
                <a:lnTo>
                  <a:pt x="3715482" y="1386870"/>
                </a:lnTo>
                <a:lnTo>
                  <a:pt x="3750594" y="1386870"/>
                </a:lnTo>
                <a:lnTo>
                  <a:pt x="3785616" y="1386870"/>
                </a:lnTo>
                <a:lnTo>
                  <a:pt x="3820638" y="1386870"/>
                </a:lnTo>
                <a:lnTo>
                  <a:pt x="3855750" y="1386870"/>
                </a:lnTo>
                <a:lnTo>
                  <a:pt x="3890772" y="1386870"/>
                </a:lnTo>
                <a:lnTo>
                  <a:pt x="3925794" y="1386870"/>
                </a:lnTo>
                <a:lnTo>
                  <a:pt x="3960906" y="1386870"/>
                </a:lnTo>
                <a:lnTo>
                  <a:pt x="3995928" y="1386870"/>
                </a:lnTo>
                <a:lnTo>
                  <a:pt x="4030950" y="1386870"/>
                </a:lnTo>
                <a:lnTo>
                  <a:pt x="4066062" y="1386870"/>
                </a:lnTo>
                <a:lnTo>
                  <a:pt x="4101084" y="1386870"/>
                </a:lnTo>
                <a:lnTo>
                  <a:pt x="4136106" y="1386870"/>
                </a:lnTo>
                <a:lnTo>
                  <a:pt x="4171218" y="1386870"/>
                </a:lnTo>
                <a:lnTo>
                  <a:pt x="4206240" y="1386870"/>
                </a:lnTo>
                <a:lnTo>
                  <a:pt x="4241262" y="1386870"/>
                </a:lnTo>
                <a:lnTo>
                  <a:pt x="4276374" y="1386870"/>
                </a:lnTo>
                <a:lnTo>
                  <a:pt x="4311396" y="1386870"/>
                </a:lnTo>
                <a:lnTo>
                  <a:pt x="4346418" y="1386870"/>
                </a:lnTo>
                <a:lnTo>
                  <a:pt x="4381530" y="1386870"/>
                </a:lnTo>
                <a:lnTo>
                  <a:pt x="4416552" y="1386870"/>
                </a:lnTo>
                <a:lnTo>
                  <a:pt x="4451574" y="1386870"/>
                </a:lnTo>
                <a:lnTo>
                  <a:pt x="4486686" y="1386870"/>
                </a:lnTo>
                <a:lnTo>
                  <a:pt x="4521708" y="1386870"/>
                </a:lnTo>
                <a:lnTo>
                  <a:pt x="4556730" y="1386870"/>
                </a:lnTo>
                <a:lnTo>
                  <a:pt x="4591842" y="1386870"/>
                </a:lnTo>
                <a:lnTo>
                  <a:pt x="4626864" y="1386870"/>
                </a:lnTo>
                <a:lnTo>
                  <a:pt x="4661886" y="1386870"/>
                </a:lnTo>
                <a:lnTo>
                  <a:pt x="4696998" y="1386870"/>
                </a:lnTo>
                <a:lnTo>
                  <a:pt x="4732020" y="1386870"/>
                </a:lnTo>
                <a:lnTo>
                  <a:pt x="4767042" y="1386870"/>
                </a:lnTo>
                <a:lnTo>
                  <a:pt x="4802154" y="1386870"/>
                </a:lnTo>
                <a:lnTo>
                  <a:pt x="4837176" y="1386870"/>
                </a:lnTo>
                <a:lnTo>
                  <a:pt x="4872198" y="1386870"/>
                </a:lnTo>
                <a:lnTo>
                  <a:pt x="4907310" y="1386870"/>
                </a:lnTo>
                <a:lnTo>
                  <a:pt x="4942332" y="1386870"/>
                </a:lnTo>
                <a:lnTo>
                  <a:pt x="4977354" y="1386870"/>
                </a:lnTo>
                <a:lnTo>
                  <a:pt x="5012466" y="1386870"/>
                </a:lnTo>
                <a:lnTo>
                  <a:pt x="5047488" y="1386870"/>
                </a:lnTo>
                <a:lnTo>
                  <a:pt x="5082510" y="1386870"/>
                </a:lnTo>
                <a:lnTo>
                  <a:pt x="5117622" y="1386870"/>
                </a:lnTo>
                <a:lnTo>
                  <a:pt x="5152644" y="1386870"/>
                </a:lnTo>
                <a:lnTo>
                  <a:pt x="5187666" y="1386870"/>
                </a:lnTo>
                <a:lnTo>
                  <a:pt x="5222778" y="1386870"/>
                </a:lnTo>
                <a:lnTo>
                  <a:pt x="5257800" y="1386870"/>
                </a:lnTo>
                <a:lnTo>
                  <a:pt x="5292822" y="1386870"/>
                </a:lnTo>
                <a:lnTo>
                  <a:pt x="5327934" y="1386870"/>
                </a:lnTo>
                <a:lnTo>
                  <a:pt x="5362956" y="1386870"/>
                </a:lnTo>
                <a:lnTo>
                  <a:pt x="5397978" y="1386870"/>
                </a:lnTo>
                <a:lnTo>
                  <a:pt x="5433090" y="1386870"/>
                </a:lnTo>
                <a:lnTo>
                  <a:pt x="5468112" y="1386870"/>
                </a:lnTo>
                <a:lnTo>
                  <a:pt x="5503134" y="1386870"/>
                </a:lnTo>
                <a:lnTo>
                  <a:pt x="5538246" y="1386870"/>
                </a:lnTo>
                <a:lnTo>
                  <a:pt x="5573268" y="1386870"/>
                </a:lnTo>
                <a:lnTo>
                  <a:pt x="5608290" y="1386870"/>
                </a:lnTo>
                <a:lnTo>
                  <a:pt x="5643402" y="1386870"/>
                </a:lnTo>
                <a:lnTo>
                  <a:pt x="5678424" y="1386870"/>
                </a:lnTo>
                <a:lnTo>
                  <a:pt x="5713446" y="1386870"/>
                </a:lnTo>
                <a:lnTo>
                  <a:pt x="5748558" y="1386870"/>
                </a:lnTo>
                <a:lnTo>
                  <a:pt x="5783580" y="1386870"/>
                </a:lnTo>
                <a:lnTo>
                  <a:pt x="5818602" y="1386870"/>
                </a:lnTo>
                <a:lnTo>
                  <a:pt x="5853714" y="1386870"/>
                </a:lnTo>
                <a:lnTo>
                  <a:pt x="5888736" y="1386870"/>
                </a:lnTo>
                <a:lnTo>
                  <a:pt x="5923758" y="1386870"/>
                </a:lnTo>
                <a:lnTo>
                  <a:pt x="5958870" y="1386870"/>
                </a:lnTo>
                <a:lnTo>
                  <a:pt x="5993892" y="1386870"/>
                </a:lnTo>
                <a:lnTo>
                  <a:pt x="6028914" y="1386870"/>
                </a:lnTo>
                <a:lnTo>
                  <a:pt x="6064026" y="1386870"/>
                </a:lnTo>
                <a:lnTo>
                  <a:pt x="6099048" y="1386870"/>
                </a:lnTo>
                <a:lnTo>
                  <a:pt x="6134070" y="1386870"/>
                </a:lnTo>
                <a:lnTo>
                  <a:pt x="6169182" y="1386870"/>
                </a:lnTo>
                <a:lnTo>
                  <a:pt x="6204204" y="1386870"/>
                </a:lnTo>
                <a:lnTo>
                  <a:pt x="6239226" y="1386870"/>
                </a:lnTo>
                <a:lnTo>
                  <a:pt x="6274338" y="1386870"/>
                </a:lnTo>
                <a:lnTo>
                  <a:pt x="6309360" y="1386870"/>
                </a:lnTo>
                <a:lnTo>
                  <a:pt x="6344382" y="1386870"/>
                </a:lnTo>
                <a:lnTo>
                  <a:pt x="6379494" y="1386870"/>
                </a:lnTo>
                <a:lnTo>
                  <a:pt x="6414516" y="1386870"/>
                </a:lnTo>
                <a:lnTo>
                  <a:pt x="6449538" y="1386870"/>
                </a:lnTo>
                <a:lnTo>
                  <a:pt x="6484650" y="1386870"/>
                </a:lnTo>
                <a:lnTo>
                  <a:pt x="6519672" y="1386870"/>
                </a:lnTo>
                <a:lnTo>
                  <a:pt x="6554694" y="1386870"/>
                </a:lnTo>
                <a:lnTo>
                  <a:pt x="6589806" y="1386870"/>
                </a:lnTo>
                <a:lnTo>
                  <a:pt x="6624828" y="1386870"/>
                </a:lnTo>
                <a:lnTo>
                  <a:pt x="6659850" y="1386870"/>
                </a:lnTo>
                <a:lnTo>
                  <a:pt x="6694962" y="1386870"/>
                </a:lnTo>
                <a:lnTo>
                  <a:pt x="6729984" y="1386870"/>
                </a:lnTo>
                <a:lnTo>
                  <a:pt x="6765006" y="1386870"/>
                </a:lnTo>
                <a:lnTo>
                  <a:pt x="6800118" y="1386870"/>
                </a:lnTo>
                <a:lnTo>
                  <a:pt x="6835140" y="1386870"/>
                </a:lnTo>
                <a:lnTo>
                  <a:pt x="6870162" y="1386870"/>
                </a:lnTo>
                <a:lnTo>
                  <a:pt x="6905274" y="1386870"/>
                </a:lnTo>
                <a:lnTo>
                  <a:pt x="6940296" y="1386870"/>
                </a:lnTo>
                <a:lnTo>
                  <a:pt x="6975318" y="1386870"/>
                </a:lnTo>
                <a:lnTo>
                  <a:pt x="7010430" y="1386870"/>
                </a:lnTo>
                <a:lnTo>
                  <a:pt x="7010430" y="1386870"/>
                </a:lnTo>
                <a:close/>
              </a:path>
            </a:pathLst>
          </a:custGeom>
          <a:solidFill>
            <a:srgbClr val="3FBF6F">
              <a:alpha val="22000"/>
            </a:srgbClr>
          </a:solidFill>
          <a:ln w="22860">
            <a:solidFill>
              <a:srgbClr val="3FBF6F"/>
            </a:solidFill>
            <a:prstDash val="solid"/>
          </a:ln>
        </p:spPr>
      </p:sp>
      <p:sp>
        <p:nvSpPr>
          <p:cNvPr id="39" name="faq2_38"/>
          <p:cNvSpPr/>
          <p:nvPr/>
        </p:nvSpPr>
        <p:spPr>
          <a:xfrm>
            <a:off x="2895630" y="3276570"/>
            <a:ext cx="7010430" cy="1981230"/>
          </a:xfrm>
          <a:custGeom>
            <a:avLst/>
            <a:gdLst/>
            <a:ahLst/>
            <a:cxnLst/>
            <a:rect l="l" t="t" r="r" b="b"/>
            <a:pathLst>
              <a:path w="7010430" h="1981230">
                <a:moveTo>
                  <a:pt x="0" y="1981230"/>
                </a:moveTo>
                <a:lnTo>
                  <a:pt x="0" y="1980408"/>
                </a:lnTo>
                <a:lnTo>
                  <a:pt x="35022" y="1980408"/>
                </a:lnTo>
                <a:lnTo>
                  <a:pt x="70134" y="1979676"/>
                </a:lnTo>
                <a:lnTo>
                  <a:pt x="105156" y="1979676"/>
                </a:lnTo>
                <a:lnTo>
                  <a:pt x="140178" y="1979676"/>
                </a:lnTo>
                <a:lnTo>
                  <a:pt x="175290" y="1979676"/>
                </a:lnTo>
                <a:lnTo>
                  <a:pt x="210312" y="1978944"/>
                </a:lnTo>
                <a:lnTo>
                  <a:pt x="245334" y="1978944"/>
                </a:lnTo>
                <a:lnTo>
                  <a:pt x="280446" y="1978944"/>
                </a:lnTo>
                <a:lnTo>
                  <a:pt x="315468" y="1978122"/>
                </a:lnTo>
                <a:lnTo>
                  <a:pt x="350490" y="1978122"/>
                </a:lnTo>
                <a:lnTo>
                  <a:pt x="385602" y="1977390"/>
                </a:lnTo>
                <a:lnTo>
                  <a:pt x="420624" y="1976658"/>
                </a:lnTo>
                <a:lnTo>
                  <a:pt x="455646" y="1976658"/>
                </a:lnTo>
                <a:lnTo>
                  <a:pt x="490758" y="1975836"/>
                </a:lnTo>
                <a:lnTo>
                  <a:pt x="525780" y="1975104"/>
                </a:lnTo>
                <a:lnTo>
                  <a:pt x="560802" y="1974372"/>
                </a:lnTo>
                <a:lnTo>
                  <a:pt x="595914" y="1973550"/>
                </a:lnTo>
                <a:lnTo>
                  <a:pt x="630936" y="1972086"/>
                </a:lnTo>
                <a:lnTo>
                  <a:pt x="665958" y="1971264"/>
                </a:lnTo>
                <a:lnTo>
                  <a:pt x="701070" y="1969800"/>
                </a:lnTo>
                <a:lnTo>
                  <a:pt x="736092" y="1968246"/>
                </a:lnTo>
                <a:lnTo>
                  <a:pt x="771114" y="1966692"/>
                </a:lnTo>
                <a:lnTo>
                  <a:pt x="806226" y="1965228"/>
                </a:lnTo>
                <a:lnTo>
                  <a:pt x="841248" y="1963674"/>
                </a:lnTo>
                <a:lnTo>
                  <a:pt x="876270" y="1961388"/>
                </a:lnTo>
                <a:lnTo>
                  <a:pt x="911382" y="1959102"/>
                </a:lnTo>
                <a:lnTo>
                  <a:pt x="946404" y="1956816"/>
                </a:lnTo>
                <a:lnTo>
                  <a:pt x="981426" y="1953798"/>
                </a:lnTo>
                <a:lnTo>
                  <a:pt x="1016538" y="1950690"/>
                </a:lnTo>
                <a:lnTo>
                  <a:pt x="1051560" y="1947672"/>
                </a:lnTo>
                <a:lnTo>
                  <a:pt x="1086582" y="1943832"/>
                </a:lnTo>
                <a:lnTo>
                  <a:pt x="1121694" y="1940082"/>
                </a:lnTo>
                <a:lnTo>
                  <a:pt x="1156716" y="1936242"/>
                </a:lnTo>
                <a:lnTo>
                  <a:pt x="1191738" y="1931670"/>
                </a:lnTo>
                <a:lnTo>
                  <a:pt x="1226850" y="1926366"/>
                </a:lnTo>
                <a:lnTo>
                  <a:pt x="1261872" y="1920972"/>
                </a:lnTo>
                <a:lnTo>
                  <a:pt x="1296894" y="1914936"/>
                </a:lnTo>
                <a:lnTo>
                  <a:pt x="1332006" y="1908810"/>
                </a:lnTo>
                <a:lnTo>
                  <a:pt x="1367028" y="1901952"/>
                </a:lnTo>
                <a:lnTo>
                  <a:pt x="1402050" y="1894362"/>
                </a:lnTo>
                <a:lnTo>
                  <a:pt x="1437162" y="1885950"/>
                </a:lnTo>
                <a:lnTo>
                  <a:pt x="1472184" y="1877538"/>
                </a:lnTo>
                <a:lnTo>
                  <a:pt x="1507206" y="1868394"/>
                </a:lnTo>
                <a:lnTo>
                  <a:pt x="1542318" y="1857786"/>
                </a:lnTo>
                <a:lnTo>
                  <a:pt x="1577340" y="1847088"/>
                </a:lnTo>
                <a:lnTo>
                  <a:pt x="1612362" y="1835658"/>
                </a:lnTo>
                <a:lnTo>
                  <a:pt x="1647474" y="1823496"/>
                </a:lnTo>
                <a:lnTo>
                  <a:pt x="1682496" y="1810512"/>
                </a:lnTo>
                <a:lnTo>
                  <a:pt x="1717518" y="1796796"/>
                </a:lnTo>
                <a:lnTo>
                  <a:pt x="1752630" y="1781526"/>
                </a:lnTo>
                <a:lnTo>
                  <a:pt x="1787652" y="1766346"/>
                </a:lnTo>
                <a:lnTo>
                  <a:pt x="1822674" y="1749522"/>
                </a:lnTo>
                <a:lnTo>
                  <a:pt x="1857786" y="1732056"/>
                </a:lnTo>
                <a:lnTo>
                  <a:pt x="1892808" y="1712946"/>
                </a:lnTo>
                <a:lnTo>
                  <a:pt x="1927830" y="1693194"/>
                </a:lnTo>
                <a:lnTo>
                  <a:pt x="1962942" y="1672620"/>
                </a:lnTo>
                <a:lnTo>
                  <a:pt x="1997964" y="1651224"/>
                </a:lnTo>
                <a:lnTo>
                  <a:pt x="2032986" y="1628364"/>
                </a:lnTo>
                <a:lnTo>
                  <a:pt x="2068098" y="1604040"/>
                </a:lnTo>
                <a:lnTo>
                  <a:pt x="2103120" y="1578894"/>
                </a:lnTo>
                <a:lnTo>
                  <a:pt x="2138142" y="1552926"/>
                </a:lnTo>
                <a:lnTo>
                  <a:pt x="2173254" y="1525494"/>
                </a:lnTo>
                <a:lnTo>
                  <a:pt x="2208276" y="1496598"/>
                </a:lnTo>
                <a:lnTo>
                  <a:pt x="2243298" y="1467612"/>
                </a:lnTo>
                <a:lnTo>
                  <a:pt x="2278410" y="1436340"/>
                </a:lnTo>
                <a:lnTo>
                  <a:pt x="2313432" y="1405158"/>
                </a:lnTo>
                <a:lnTo>
                  <a:pt x="2348454" y="1371600"/>
                </a:lnTo>
                <a:lnTo>
                  <a:pt x="2383566" y="1338042"/>
                </a:lnTo>
                <a:lnTo>
                  <a:pt x="2418588" y="1303020"/>
                </a:lnTo>
                <a:lnTo>
                  <a:pt x="2453610" y="1267176"/>
                </a:lnTo>
                <a:lnTo>
                  <a:pt x="2488722" y="1229868"/>
                </a:lnTo>
                <a:lnTo>
                  <a:pt x="2523744" y="1192560"/>
                </a:lnTo>
                <a:lnTo>
                  <a:pt x="2558766" y="1153698"/>
                </a:lnTo>
                <a:lnTo>
                  <a:pt x="2593878" y="1114014"/>
                </a:lnTo>
                <a:lnTo>
                  <a:pt x="2628900" y="1074420"/>
                </a:lnTo>
                <a:lnTo>
                  <a:pt x="2663922" y="1033272"/>
                </a:lnTo>
                <a:lnTo>
                  <a:pt x="2699034" y="992124"/>
                </a:lnTo>
                <a:lnTo>
                  <a:pt x="2734056" y="950244"/>
                </a:lnTo>
                <a:lnTo>
                  <a:pt x="2769078" y="907542"/>
                </a:lnTo>
                <a:lnTo>
                  <a:pt x="2804190" y="864840"/>
                </a:lnTo>
                <a:lnTo>
                  <a:pt x="2839212" y="822228"/>
                </a:lnTo>
                <a:lnTo>
                  <a:pt x="2874234" y="779526"/>
                </a:lnTo>
                <a:lnTo>
                  <a:pt x="2909346" y="736824"/>
                </a:lnTo>
                <a:lnTo>
                  <a:pt x="2944368" y="694212"/>
                </a:lnTo>
                <a:lnTo>
                  <a:pt x="2979390" y="651510"/>
                </a:lnTo>
                <a:lnTo>
                  <a:pt x="3014502" y="608808"/>
                </a:lnTo>
                <a:lnTo>
                  <a:pt x="3049524" y="567660"/>
                </a:lnTo>
                <a:lnTo>
                  <a:pt x="3084546" y="526512"/>
                </a:lnTo>
                <a:lnTo>
                  <a:pt x="3119658" y="485364"/>
                </a:lnTo>
                <a:lnTo>
                  <a:pt x="3154680" y="445770"/>
                </a:lnTo>
                <a:lnTo>
                  <a:pt x="3189702" y="407640"/>
                </a:lnTo>
                <a:lnTo>
                  <a:pt x="3224814" y="369600"/>
                </a:lnTo>
                <a:lnTo>
                  <a:pt x="3259836" y="333756"/>
                </a:lnTo>
                <a:lnTo>
                  <a:pt x="3294858" y="298734"/>
                </a:lnTo>
                <a:lnTo>
                  <a:pt x="3329970" y="265176"/>
                </a:lnTo>
                <a:lnTo>
                  <a:pt x="3364992" y="233172"/>
                </a:lnTo>
                <a:lnTo>
                  <a:pt x="3400014" y="202722"/>
                </a:lnTo>
                <a:lnTo>
                  <a:pt x="3435126" y="173736"/>
                </a:lnTo>
                <a:lnTo>
                  <a:pt x="3470148" y="147036"/>
                </a:lnTo>
                <a:lnTo>
                  <a:pt x="3505170" y="122712"/>
                </a:lnTo>
                <a:lnTo>
                  <a:pt x="3540282" y="99852"/>
                </a:lnTo>
                <a:lnTo>
                  <a:pt x="3575304" y="79278"/>
                </a:lnTo>
                <a:lnTo>
                  <a:pt x="3610326" y="60990"/>
                </a:lnTo>
                <a:lnTo>
                  <a:pt x="3645438" y="44988"/>
                </a:lnTo>
                <a:lnTo>
                  <a:pt x="3680460" y="31272"/>
                </a:lnTo>
                <a:lnTo>
                  <a:pt x="3715482" y="19842"/>
                </a:lnTo>
                <a:lnTo>
                  <a:pt x="3750594" y="11430"/>
                </a:lnTo>
                <a:lnTo>
                  <a:pt x="3785616" y="5304"/>
                </a:lnTo>
                <a:lnTo>
                  <a:pt x="3820638" y="1554"/>
                </a:lnTo>
                <a:lnTo>
                  <a:pt x="3855750" y="0"/>
                </a:lnTo>
                <a:lnTo>
                  <a:pt x="3890772" y="1554"/>
                </a:lnTo>
                <a:lnTo>
                  <a:pt x="3925794" y="5304"/>
                </a:lnTo>
                <a:lnTo>
                  <a:pt x="3960906" y="11430"/>
                </a:lnTo>
                <a:lnTo>
                  <a:pt x="3995928" y="19842"/>
                </a:lnTo>
                <a:lnTo>
                  <a:pt x="4030950" y="31272"/>
                </a:lnTo>
                <a:lnTo>
                  <a:pt x="4066062" y="44988"/>
                </a:lnTo>
                <a:lnTo>
                  <a:pt x="4101084" y="60990"/>
                </a:lnTo>
                <a:lnTo>
                  <a:pt x="4136106" y="79278"/>
                </a:lnTo>
                <a:lnTo>
                  <a:pt x="4171218" y="99852"/>
                </a:lnTo>
                <a:lnTo>
                  <a:pt x="4206240" y="122712"/>
                </a:lnTo>
                <a:lnTo>
                  <a:pt x="4241262" y="147036"/>
                </a:lnTo>
                <a:lnTo>
                  <a:pt x="4276374" y="173736"/>
                </a:lnTo>
                <a:lnTo>
                  <a:pt x="4311396" y="202722"/>
                </a:lnTo>
                <a:lnTo>
                  <a:pt x="4346418" y="233172"/>
                </a:lnTo>
                <a:lnTo>
                  <a:pt x="4381530" y="265176"/>
                </a:lnTo>
                <a:lnTo>
                  <a:pt x="4416552" y="298734"/>
                </a:lnTo>
                <a:lnTo>
                  <a:pt x="4451574" y="333756"/>
                </a:lnTo>
                <a:lnTo>
                  <a:pt x="4486686" y="369600"/>
                </a:lnTo>
                <a:lnTo>
                  <a:pt x="4521708" y="407640"/>
                </a:lnTo>
                <a:lnTo>
                  <a:pt x="4556730" y="445770"/>
                </a:lnTo>
                <a:lnTo>
                  <a:pt x="4591842" y="485364"/>
                </a:lnTo>
                <a:lnTo>
                  <a:pt x="4626864" y="526512"/>
                </a:lnTo>
                <a:lnTo>
                  <a:pt x="4661886" y="567660"/>
                </a:lnTo>
                <a:lnTo>
                  <a:pt x="4696998" y="608808"/>
                </a:lnTo>
                <a:lnTo>
                  <a:pt x="4732020" y="651510"/>
                </a:lnTo>
                <a:lnTo>
                  <a:pt x="4767042" y="694212"/>
                </a:lnTo>
                <a:lnTo>
                  <a:pt x="4802154" y="736824"/>
                </a:lnTo>
                <a:lnTo>
                  <a:pt x="4837176" y="779526"/>
                </a:lnTo>
                <a:lnTo>
                  <a:pt x="4872198" y="822228"/>
                </a:lnTo>
                <a:lnTo>
                  <a:pt x="4907310" y="864840"/>
                </a:lnTo>
                <a:lnTo>
                  <a:pt x="4942332" y="907542"/>
                </a:lnTo>
                <a:lnTo>
                  <a:pt x="4977354" y="950244"/>
                </a:lnTo>
                <a:lnTo>
                  <a:pt x="5012466" y="992124"/>
                </a:lnTo>
                <a:lnTo>
                  <a:pt x="5047488" y="1033272"/>
                </a:lnTo>
                <a:lnTo>
                  <a:pt x="5082510" y="1074420"/>
                </a:lnTo>
                <a:lnTo>
                  <a:pt x="5117622" y="1114014"/>
                </a:lnTo>
                <a:lnTo>
                  <a:pt x="5152644" y="1153698"/>
                </a:lnTo>
                <a:lnTo>
                  <a:pt x="5187666" y="1192560"/>
                </a:lnTo>
                <a:lnTo>
                  <a:pt x="5222778" y="1229868"/>
                </a:lnTo>
                <a:lnTo>
                  <a:pt x="5257800" y="1267176"/>
                </a:lnTo>
                <a:lnTo>
                  <a:pt x="5292822" y="1303020"/>
                </a:lnTo>
                <a:lnTo>
                  <a:pt x="5327934" y="1338042"/>
                </a:lnTo>
                <a:lnTo>
                  <a:pt x="5362956" y="1371600"/>
                </a:lnTo>
                <a:lnTo>
                  <a:pt x="5397978" y="1405158"/>
                </a:lnTo>
                <a:lnTo>
                  <a:pt x="5433090" y="1436340"/>
                </a:lnTo>
                <a:lnTo>
                  <a:pt x="5468112" y="1467612"/>
                </a:lnTo>
                <a:lnTo>
                  <a:pt x="5503134" y="1496598"/>
                </a:lnTo>
                <a:lnTo>
                  <a:pt x="5538246" y="1525494"/>
                </a:lnTo>
                <a:lnTo>
                  <a:pt x="5573268" y="1552926"/>
                </a:lnTo>
                <a:lnTo>
                  <a:pt x="5608290" y="1578894"/>
                </a:lnTo>
                <a:lnTo>
                  <a:pt x="5643402" y="1604040"/>
                </a:lnTo>
                <a:lnTo>
                  <a:pt x="5678424" y="1628364"/>
                </a:lnTo>
                <a:lnTo>
                  <a:pt x="5713446" y="1651224"/>
                </a:lnTo>
                <a:lnTo>
                  <a:pt x="5748558" y="1672620"/>
                </a:lnTo>
                <a:lnTo>
                  <a:pt x="5783580" y="1693194"/>
                </a:lnTo>
                <a:lnTo>
                  <a:pt x="5818602" y="1712946"/>
                </a:lnTo>
                <a:lnTo>
                  <a:pt x="5853714" y="1732056"/>
                </a:lnTo>
                <a:lnTo>
                  <a:pt x="5888736" y="1749522"/>
                </a:lnTo>
                <a:lnTo>
                  <a:pt x="5923758" y="1766346"/>
                </a:lnTo>
                <a:lnTo>
                  <a:pt x="5958870" y="1781526"/>
                </a:lnTo>
                <a:lnTo>
                  <a:pt x="5993892" y="1796796"/>
                </a:lnTo>
                <a:lnTo>
                  <a:pt x="6028914" y="1810512"/>
                </a:lnTo>
                <a:lnTo>
                  <a:pt x="6064026" y="1823496"/>
                </a:lnTo>
                <a:lnTo>
                  <a:pt x="6099048" y="1835658"/>
                </a:lnTo>
                <a:lnTo>
                  <a:pt x="6134070" y="1847088"/>
                </a:lnTo>
                <a:lnTo>
                  <a:pt x="6169182" y="1857786"/>
                </a:lnTo>
                <a:lnTo>
                  <a:pt x="6204204" y="1868394"/>
                </a:lnTo>
                <a:lnTo>
                  <a:pt x="6239226" y="1877538"/>
                </a:lnTo>
                <a:lnTo>
                  <a:pt x="6274338" y="1885950"/>
                </a:lnTo>
                <a:lnTo>
                  <a:pt x="6309360" y="1894362"/>
                </a:lnTo>
                <a:lnTo>
                  <a:pt x="6344382" y="1901952"/>
                </a:lnTo>
                <a:lnTo>
                  <a:pt x="6379494" y="1908810"/>
                </a:lnTo>
                <a:lnTo>
                  <a:pt x="6414516" y="1914936"/>
                </a:lnTo>
                <a:lnTo>
                  <a:pt x="6449538" y="1920972"/>
                </a:lnTo>
                <a:lnTo>
                  <a:pt x="6484650" y="1926366"/>
                </a:lnTo>
                <a:lnTo>
                  <a:pt x="6519672" y="1931670"/>
                </a:lnTo>
                <a:lnTo>
                  <a:pt x="6554694" y="1936242"/>
                </a:lnTo>
                <a:lnTo>
                  <a:pt x="6589806" y="1940082"/>
                </a:lnTo>
                <a:lnTo>
                  <a:pt x="6624828" y="1943832"/>
                </a:lnTo>
                <a:lnTo>
                  <a:pt x="6659850" y="1947672"/>
                </a:lnTo>
                <a:lnTo>
                  <a:pt x="6694962" y="1950690"/>
                </a:lnTo>
                <a:lnTo>
                  <a:pt x="6729984" y="1953798"/>
                </a:lnTo>
                <a:lnTo>
                  <a:pt x="6765006" y="1956816"/>
                </a:lnTo>
                <a:lnTo>
                  <a:pt x="6800118" y="1959102"/>
                </a:lnTo>
                <a:lnTo>
                  <a:pt x="6835140" y="1961388"/>
                </a:lnTo>
                <a:lnTo>
                  <a:pt x="6870162" y="1963674"/>
                </a:lnTo>
                <a:lnTo>
                  <a:pt x="6905274" y="1965228"/>
                </a:lnTo>
                <a:lnTo>
                  <a:pt x="6940296" y="1966692"/>
                </a:lnTo>
                <a:lnTo>
                  <a:pt x="6975318" y="1968246"/>
                </a:lnTo>
                <a:lnTo>
                  <a:pt x="7010430" y="1969800"/>
                </a:lnTo>
                <a:lnTo>
                  <a:pt x="7010430" y="1981230"/>
                </a:lnTo>
                <a:close/>
              </a:path>
            </a:pathLst>
          </a:custGeom>
          <a:solidFill>
            <a:srgbClr val="5C6773">
              <a:alpha val="35000"/>
            </a:srgbClr>
          </a:solidFill>
          <a:ln w="22860">
            <a:solidFill>
              <a:srgbClr val="9AA4B1"/>
            </a:solidFill>
            <a:prstDash val="solid"/>
          </a:ln>
        </p:spPr>
      </p:sp>
      <p:sp>
        <p:nvSpPr>
          <p:cNvPr id="40" name="faq2_39"/>
          <p:cNvSpPr txBox="1"/>
          <p:nvPr/>
        </p:nvSpPr>
        <p:spPr>
          <a:xfrm>
            <a:off x="3244474" y="3537631"/>
            <a:ext cx="1826057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3FB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GARLIC hits (false)</a:t>
            </a:r>
            <a:endParaRPr lang="en-US" sz="1399" dirty="0"/>
          </a:p>
        </p:txBody>
      </p:sp>
      <p:sp>
        <p:nvSpPr>
          <p:cNvPr id="41" name="faq2_40"/>
          <p:cNvSpPr txBox="1"/>
          <p:nvPr/>
        </p:nvSpPr>
        <p:spPr>
          <a:xfrm>
            <a:off x="8278338" y="4317522"/>
            <a:ext cx="1597000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99" b="1" dirty="0">
                <a:solidFill>
                  <a:srgbClr val="C3CA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T2T-CHM13 hits</a:t>
            </a:r>
            <a:endParaRPr lang="en-US" sz="1399" dirty="0"/>
          </a:p>
        </p:txBody>
      </p:sp>
      <p:sp>
        <p:nvSpPr>
          <p:cNvPr id="42" name="faq2_41"/>
          <p:cNvSpPr/>
          <p:nvPr/>
        </p:nvSpPr>
        <p:spPr>
          <a:xfrm>
            <a:off x="3175986" y="3276570"/>
            <a:ext cx="6729984" cy="1981230"/>
          </a:xfrm>
          <a:custGeom>
            <a:avLst/>
            <a:gdLst/>
            <a:ahLst/>
            <a:cxnLst/>
            <a:rect l="l" t="t" r="r" b="b"/>
            <a:pathLst>
              <a:path w="6729984" h="1981230">
                <a:moveTo>
                  <a:pt x="0" y="1981230"/>
                </a:moveTo>
                <a:lnTo>
                  <a:pt x="0" y="1978944"/>
                </a:lnTo>
                <a:lnTo>
                  <a:pt x="35022" y="1978122"/>
                </a:lnTo>
                <a:lnTo>
                  <a:pt x="70134" y="1978122"/>
                </a:lnTo>
                <a:lnTo>
                  <a:pt x="105156" y="1977390"/>
                </a:lnTo>
                <a:lnTo>
                  <a:pt x="140178" y="1976658"/>
                </a:lnTo>
                <a:lnTo>
                  <a:pt x="175290" y="1976658"/>
                </a:lnTo>
                <a:lnTo>
                  <a:pt x="210312" y="1975836"/>
                </a:lnTo>
                <a:lnTo>
                  <a:pt x="245334" y="1975104"/>
                </a:lnTo>
                <a:lnTo>
                  <a:pt x="280446" y="1974372"/>
                </a:lnTo>
                <a:lnTo>
                  <a:pt x="315468" y="1973550"/>
                </a:lnTo>
                <a:lnTo>
                  <a:pt x="350490" y="1972086"/>
                </a:lnTo>
                <a:lnTo>
                  <a:pt x="385602" y="1971264"/>
                </a:lnTo>
                <a:lnTo>
                  <a:pt x="420624" y="1969800"/>
                </a:lnTo>
                <a:lnTo>
                  <a:pt x="455646" y="1968246"/>
                </a:lnTo>
                <a:lnTo>
                  <a:pt x="490758" y="1966692"/>
                </a:lnTo>
                <a:lnTo>
                  <a:pt x="525780" y="1965228"/>
                </a:lnTo>
                <a:lnTo>
                  <a:pt x="560802" y="1963674"/>
                </a:lnTo>
                <a:lnTo>
                  <a:pt x="595914" y="1961388"/>
                </a:lnTo>
                <a:lnTo>
                  <a:pt x="630936" y="1959102"/>
                </a:lnTo>
                <a:lnTo>
                  <a:pt x="665958" y="1956816"/>
                </a:lnTo>
                <a:lnTo>
                  <a:pt x="701070" y="1953798"/>
                </a:lnTo>
                <a:lnTo>
                  <a:pt x="736092" y="1950690"/>
                </a:lnTo>
                <a:lnTo>
                  <a:pt x="771114" y="1947672"/>
                </a:lnTo>
                <a:lnTo>
                  <a:pt x="806226" y="1943832"/>
                </a:lnTo>
                <a:lnTo>
                  <a:pt x="841248" y="1940082"/>
                </a:lnTo>
                <a:lnTo>
                  <a:pt x="876270" y="1936242"/>
                </a:lnTo>
                <a:lnTo>
                  <a:pt x="911382" y="1931670"/>
                </a:lnTo>
                <a:lnTo>
                  <a:pt x="946404" y="1926366"/>
                </a:lnTo>
                <a:lnTo>
                  <a:pt x="981426" y="1920972"/>
                </a:lnTo>
                <a:lnTo>
                  <a:pt x="1016538" y="1914936"/>
                </a:lnTo>
                <a:lnTo>
                  <a:pt x="1051560" y="1908810"/>
                </a:lnTo>
                <a:lnTo>
                  <a:pt x="1086582" y="1901952"/>
                </a:lnTo>
                <a:lnTo>
                  <a:pt x="1121694" y="1894362"/>
                </a:lnTo>
                <a:lnTo>
                  <a:pt x="1156716" y="1885950"/>
                </a:lnTo>
                <a:lnTo>
                  <a:pt x="1191738" y="1877538"/>
                </a:lnTo>
                <a:lnTo>
                  <a:pt x="1226850" y="1868394"/>
                </a:lnTo>
                <a:lnTo>
                  <a:pt x="1261872" y="1857786"/>
                </a:lnTo>
                <a:lnTo>
                  <a:pt x="1296894" y="1847088"/>
                </a:lnTo>
                <a:lnTo>
                  <a:pt x="1332006" y="1835658"/>
                </a:lnTo>
                <a:lnTo>
                  <a:pt x="1367028" y="1823496"/>
                </a:lnTo>
                <a:lnTo>
                  <a:pt x="1402050" y="1810512"/>
                </a:lnTo>
                <a:lnTo>
                  <a:pt x="1437162" y="1796796"/>
                </a:lnTo>
                <a:lnTo>
                  <a:pt x="1472184" y="1781526"/>
                </a:lnTo>
                <a:lnTo>
                  <a:pt x="1507206" y="1766346"/>
                </a:lnTo>
                <a:lnTo>
                  <a:pt x="1542318" y="1749522"/>
                </a:lnTo>
                <a:lnTo>
                  <a:pt x="1577340" y="1732056"/>
                </a:lnTo>
                <a:lnTo>
                  <a:pt x="1612362" y="1712946"/>
                </a:lnTo>
                <a:lnTo>
                  <a:pt x="1647474" y="1693194"/>
                </a:lnTo>
                <a:lnTo>
                  <a:pt x="1682496" y="1672620"/>
                </a:lnTo>
                <a:lnTo>
                  <a:pt x="1717518" y="1651224"/>
                </a:lnTo>
                <a:lnTo>
                  <a:pt x="1752630" y="1628364"/>
                </a:lnTo>
                <a:lnTo>
                  <a:pt x="1787652" y="1604040"/>
                </a:lnTo>
                <a:lnTo>
                  <a:pt x="1822674" y="1578894"/>
                </a:lnTo>
                <a:lnTo>
                  <a:pt x="1857786" y="1552926"/>
                </a:lnTo>
                <a:lnTo>
                  <a:pt x="1892808" y="1525494"/>
                </a:lnTo>
                <a:lnTo>
                  <a:pt x="1927830" y="1496598"/>
                </a:lnTo>
                <a:lnTo>
                  <a:pt x="1962942" y="1467612"/>
                </a:lnTo>
                <a:lnTo>
                  <a:pt x="1997964" y="1436340"/>
                </a:lnTo>
                <a:lnTo>
                  <a:pt x="2032986" y="1405158"/>
                </a:lnTo>
                <a:lnTo>
                  <a:pt x="2068098" y="1371600"/>
                </a:lnTo>
                <a:lnTo>
                  <a:pt x="2103120" y="1338042"/>
                </a:lnTo>
                <a:lnTo>
                  <a:pt x="2138142" y="1303020"/>
                </a:lnTo>
                <a:lnTo>
                  <a:pt x="2173254" y="1267176"/>
                </a:lnTo>
                <a:lnTo>
                  <a:pt x="2208276" y="1229868"/>
                </a:lnTo>
                <a:lnTo>
                  <a:pt x="2243298" y="1192560"/>
                </a:lnTo>
                <a:lnTo>
                  <a:pt x="2278410" y="1153698"/>
                </a:lnTo>
                <a:lnTo>
                  <a:pt x="2313432" y="1114014"/>
                </a:lnTo>
                <a:lnTo>
                  <a:pt x="2348454" y="1074420"/>
                </a:lnTo>
                <a:lnTo>
                  <a:pt x="2383566" y="1033272"/>
                </a:lnTo>
                <a:lnTo>
                  <a:pt x="2418588" y="992124"/>
                </a:lnTo>
                <a:lnTo>
                  <a:pt x="2453610" y="950244"/>
                </a:lnTo>
                <a:lnTo>
                  <a:pt x="2488722" y="907542"/>
                </a:lnTo>
                <a:lnTo>
                  <a:pt x="2523744" y="864840"/>
                </a:lnTo>
                <a:lnTo>
                  <a:pt x="2558766" y="822228"/>
                </a:lnTo>
                <a:lnTo>
                  <a:pt x="2593878" y="779526"/>
                </a:lnTo>
                <a:lnTo>
                  <a:pt x="2628900" y="736824"/>
                </a:lnTo>
                <a:lnTo>
                  <a:pt x="2663922" y="694212"/>
                </a:lnTo>
                <a:lnTo>
                  <a:pt x="2699034" y="651510"/>
                </a:lnTo>
                <a:lnTo>
                  <a:pt x="2734056" y="608808"/>
                </a:lnTo>
                <a:lnTo>
                  <a:pt x="2769078" y="567660"/>
                </a:lnTo>
                <a:lnTo>
                  <a:pt x="2804190" y="526512"/>
                </a:lnTo>
                <a:lnTo>
                  <a:pt x="2839212" y="485364"/>
                </a:lnTo>
                <a:lnTo>
                  <a:pt x="2874234" y="445770"/>
                </a:lnTo>
                <a:lnTo>
                  <a:pt x="2909346" y="407640"/>
                </a:lnTo>
                <a:lnTo>
                  <a:pt x="2944368" y="369600"/>
                </a:lnTo>
                <a:lnTo>
                  <a:pt x="2979390" y="333756"/>
                </a:lnTo>
                <a:lnTo>
                  <a:pt x="3014502" y="298734"/>
                </a:lnTo>
                <a:lnTo>
                  <a:pt x="3049524" y="265176"/>
                </a:lnTo>
                <a:lnTo>
                  <a:pt x="3084546" y="233172"/>
                </a:lnTo>
                <a:lnTo>
                  <a:pt x="3119658" y="202722"/>
                </a:lnTo>
                <a:lnTo>
                  <a:pt x="3154680" y="173736"/>
                </a:lnTo>
                <a:lnTo>
                  <a:pt x="3189702" y="147036"/>
                </a:lnTo>
                <a:lnTo>
                  <a:pt x="3224814" y="122712"/>
                </a:lnTo>
                <a:lnTo>
                  <a:pt x="3259836" y="99852"/>
                </a:lnTo>
                <a:lnTo>
                  <a:pt x="3294858" y="79278"/>
                </a:lnTo>
                <a:lnTo>
                  <a:pt x="3329970" y="60990"/>
                </a:lnTo>
                <a:lnTo>
                  <a:pt x="3364992" y="44988"/>
                </a:lnTo>
                <a:lnTo>
                  <a:pt x="3400014" y="31272"/>
                </a:lnTo>
                <a:lnTo>
                  <a:pt x="3435126" y="19842"/>
                </a:lnTo>
                <a:lnTo>
                  <a:pt x="3470148" y="11430"/>
                </a:lnTo>
                <a:lnTo>
                  <a:pt x="3505170" y="5304"/>
                </a:lnTo>
                <a:lnTo>
                  <a:pt x="3540282" y="1554"/>
                </a:lnTo>
                <a:lnTo>
                  <a:pt x="3575304" y="0"/>
                </a:lnTo>
                <a:lnTo>
                  <a:pt x="3610326" y="1554"/>
                </a:lnTo>
                <a:lnTo>
                  <a:pt x="3645438" y="5304"/>
                </a:lnTo>
                <a:lnTo>
                  <a:pt x="3680460" y="11430"/>
                </a:lnTo>
                <a:lnTo>
                  <a:pt x="3715482" y="19842"/>
                </a:lnTo>
                <a:lnTo>
                  <a:pt x="3750594" y="31272"/>
                </a:lnTo>
                <a:lnTo>
                  <a:pt x="3785616" y="44988"/>
                </a:lnTo>
                <a:lnTo>
                  <a:pt x="3820638" y="60990"/>
                </a:lnTo>
                <a:lnTo>
                  <a:pt x="3855750" y="79278"/>
                </a:lnTo>
                <a:lnTo>
                  <a:pt x="3890772" y="99852"/>
                </a:lnTo>
                <a:lnTo>
                  <a:pt x="3925794" y="122712"/>
                </a:lnTo>
                <a:lnTo>
                  <a:pt x="3960906" y="147036"/>
                </a:lnTo>
                <a:lnTo>
                  <a:pt x="3995928" y="173736"/>
                </a:lnTo>
                <a:lnTo>
                  <a:pt x="4030950" y="202722"/>
                </a:lnTo>
                <a:lnTo>
                  <a:pt x="4066062" y="233172"/>
                </a:lnTo>
                <a:lnTo>
                  <a:pt x="4101084" y="265176"/>
                </a:lnTo>
                <a:lnTo>
                  <a:pt x="4136106" y="298734"/>
                </a:lnTo>
                <a:lnTo>
                  <a:pt x="4171218" y="333756"/>
                </a:lnTo>
                <a:lnTo>
                  <a:pt x="4206240" y="369600"/>
                </a:lnTo>
                <a:lnTo>
                  <a:pt x="4241262" y="407640"/>
                </a:lnTo>
                <a:lnTo>
                  <a:pt x="4276374" y="445770"/>
                </a:lnTo>
                <a:lnTo>
                  <a:pt x="4311396" y="485364"/>
                </a:lnTo>
                <a:lnTo>
                  <a:pt x="4346418" y="526512"/>
                </a:lnTo>
                <a:lnTo>
                  <a:pt x="4381530" y="567660"/>
                </a:lnTo>
                <a:lnTo>
                  <a:pt x="4416552" y="608808"/>
                </a:lnTo>
                <a:lnTo>
                  <a:pt x="4451574" y="651510"/>
                </a:lnTo>
                <a:lnTo>
                  <a:pt x="4486686" y="694212"/>
                </a:lnTo>
                <a:lnTo>
                  <a:pt x="4521708" y="736824"/>
                </a:lnTo>
                <a:lnTo>
                  <a:pt x="4556730" y="779526"/>
                </a:lnTo>
                <a:lnTo>
                  <a:pt x="4591842" y="822228"/>
                </a:lnTo>
                <a:lnTo>
                  <a:pt x="4626864" y="864840"/>
                </a:lnTo>
                <a:lnTo>
                  <a:pt x="4661886" y="907542"/>
                </a:lnTo>
                <a:lnTo>
                  <a:pt x="4696998" y="950244"/>
                </a:lnTo>
                <a:lnTo>
                  <a:pt x="4732020" y="992124"/>
                </a:lnTo>
                <a:lnTo>
                  <a:pt x="4767042" y="1033272"/>
                </a:lnTo>
                <a:lnTo>
                  <a:pt x="4802154" y="1074420"/>
                </a:lnTo>
                <a:lnTo>
                  <a:pt x="4837176" y="1114014"/>
                </a:lnTo>
                <a:lnTo>
                  <a:pt x="4872198" y="1153698"/>
                </a:lnTo>
                <a:lnTo>
                  <a:pt x="4907310" y="1192560"/>
                </a:lnTo>
                <a:lnTo>
                  <a:pt x="4942332" y="1229868"/>
                </a:lnTo>
                <a:lnTo>
                  <a:pt x="4977354" y="1267176"/>
                </a:lnTo>
                <a:lnTo>
                  <a:pt x="5012466" y="1303020"/>
                </a:lnTo>
                <a:lnTo>
                  <a:pt x="5047488" y="1338042"/>
                </a:lnTo>
                <a:lnTo>
                  <a:pt x="5082510" y="1371600"/>
                </a:lnTo>
                <a:lnTo>
                  <a:pt x="5117622" y="1405158"/>
                </a:lnTo>
                <a:lnTo>
                  <a:pt x="5152644" y="1436340"/>
                </a:lnTo>
                <a:lnTo>
                  <a:pt x="5187666" y="1467612"/>
                </a:lnTo>
                <a:lnTo>
                  <a:pt x="5222778" y="1496598"/>
                </a:lnTo>
                <a:lnTo>
                  <a:pt x="5257800" y="1525494"/>
                </a:lnTo>
                <a:lnTo>
                  <a:pt x="5292822" y="1552926"/>
                </a:lnTo>
                <a:lnTo>
                  <a:pt x="5327934" y="1578894"/>
                </a:lnTo>
                <a:lnTo>
                  <a:pt x="5362956" y="1604040"/>
                </a:lnTo>
                <a:lnTo>
                  <a:pt x="5397978" y="1628364"/>
                </a:lnTo>
                <a:lnTo>
                  <a:pt x="5433090" y="1651224"/>
                </a:lnTo>
                <a:lnTo>
                  <a:pt x="5468112" y="1672620"/>
                </a:lnTo>
                <a:lnTo>
                  <a:pt x="5503134" y="1693194"/>
                </a:lnTo>
                <a:lnTo>
                  <a:pt x="5538246" y="1712946"/>
                </a:lnTo>
                <a:lnTo>
                  <a:pt x="5573268" y="1732056"/>
                </a:lnTo>
                <a:lnTo>
                  <a:pt x="5608290" y="1749522"/>
                </a:lnTo>
                <a:lnTo>
                  <a:pt x="5643402" y="1766346"/>
                </a:lnTo>
                <a:lnTo>
                  <a:pt x="5678424" y="1781526"/>
                </a:lnTo>
                <a:lnTo>
                  <a:pt x="5713446" y="1796796"/>
                </a:lnTo>
                <a:lnTo>
                  <a:pt x="5748558" y="1810512"/>
                </a:lnTo>
                <a:lnTo>
                  <a:pt x="5783580" y="1823496"/>
                </a:lnTo>
                <a:lnTo>
                  <a:pt x="5818602" y="1835658"/>
                </a:lnTo>
                <a:lnTo>
                  <a:pt x="5853714" y="1847088"/>
                </a:lnTo>
                <a:lnTo>
                  <a:pt x="5888736" y="1857786"/>
                </a:lnTo>
                <a:lnTo>
                  <a:pt x="5923758" y="1868394"/>
                </a:lnTo>
                <a:lnTo>
                  <a:pt x="5958870" y="1877538"/>
                </a:lnTo>
                <a:lnTo>
                  <a:pt x="5993892" y="1885950"/>
                </a:lnTo>
                <a:lnTo>
                  <a:pt x="6028914" y="1894362"/>
                </a:lnTo>
                <a:lnTo>
                  <a:pt x="6064026" y="1901952"/>
                </a:lnTo>
                <a:lnTo>
                  <a:pt x="6099048" y="1908810"/>
                </a:lnTo>
                <a:lnTo>
                  <a:pt x="6134070" y="1914936"/>
                </a:lnTo>
                <a:lnTo>
                  <a:pt x="6169182" y="1920972"/>
                </a:lnTo>
                <a:lnTo>
                  <a:pt x="6204204" y="1926366"/>
                </a:lnTo>
                <a:lnTo>
                  <a:pt x="6239226" y="1931670"/>
                </a:lnTo>
                <a:lnTo>
                  <a:pt x="6274338" y="1936242"/>
                </a:lnTo>
                <a:lnTo>
                  <a:pt x="6309360" y="1940082"/>
                </a:lnTo>
                <a:lnTo>
                  <a:pt x="6344382" y="1943832"/>
                </a:lnTo>
                <a:lnTo>
                  <a:pt x="6379494" y="1947672"/>
                </a:lnTo>
                <a:lnTo>
                  <a:pt x="6414516" y="1950690"/>
                </a:lnTo>
                <a:lnTo>
                  <a:pt x="6449538" y="1953798"/>
                </a:lnTo>
                <a:lnTo>
                  <a:pt x="6484650" y="1956816"/>
                </a:lnTo>
                <a:lnTo>
                  <a:pt x="6519672" y="1959102"/>
                </a:lnTo>
                <a:lnTo>
                  <a:pt x="6554694" y="1961388"/>
                </a:lnTo>
                <a:lnTo>
                  <a:pt x="6589806" y="1963674"/>
                </a:lnTo>
                <a:lnTo>
                  <a:pt x="6624828" y="1965228"/>
                </a:lnTo>
                <a:lnTo>
                  <a:pt x="6659850" y="1966692"/>
                </a:lnTo>
                <a:lnTo>
                  <a:pt x="6694962" y="1968246"/>
                </a:lnTo>
                <a:lnTo>
                  <a:pt x="6729984" y="1969800"/>
                </a:lnTo>
                <a:lnTo>
                  <a:pt x="6729984" y="1981230"/>
                </a:lnTo>
                <a:close/>
              </a:path>
            </a:pathLst>
          </a:custGeom>
          <a:solidFill>
            <a:srgbClr val="9AA4B1">
              <a:alpha val="45000"/>
            </a:srgbClr>
          </a:solidFill>
          <a:ln/>
        </p:spPr>
      </p:sp>
      <p:sp>
        <p:nvSpPr>
          <p:cNvPr id="43" name="faq2_42"/>
          <p:cNvSpPr/>
          <p:nvPr/>
        </p:nvSpPr>
        <p:spPr>
          <a:xfrm>
            <a:off x="3175986" y="3870930"/>
            <a:ext cx="6729984" cy="1386870"/>
          </a:xfrm>
          <a:custGeom>
            <a:avLst/>
            <a:gdLst/>
            <a:ahLst/>
            <a:cxnLst/>
            <a:rect l="l" t="t" r="r" b="b"/>
            <a:pathLst>
              <a:path w="6729984" h="1386870">
                <a:moveTo>
                  <a:pt x="0" y="1386870"/>
                </a:moveTo>
                <a:lnTo>
                  <a:pt x="0" y="1295430"/>
                </a:lnTo>
                <a:lnTo>
                  <a:pt x="35022" y="1276320"/>
                </a:lnTo>
                <a:lnTo>
                  <a:pt x="70134" y="1254282"/>
                </a:lnTo>
                <a:lnTo>
                  <a:pt x="105156" y="1228314"/>
                </a:lnTo>
                <a:lnTo>
                  <a:pt x="140178" y="1199418"/>
                </a:lnTo>
                <a:lnTo>
                  <a:pt x="175290" y="1165860"/>
                </a:lnTo>
                <a:lnTo>
                  <a:pt x="210312" y="1128552"/>
                </a:lnTo>
                <a:lnTo>
                  <a:pt x="245334" y="1086582"/>
                </a:lnTo>
                <a:lnTo>
                  <a:pt x="280446" y="1040862"/>
                </a:lnTo>
                <a:lnTo>
                  <a:pt x="315468" y="990570"/>
                </a:lnTo>
                <a:lnTo>
                  <a:pt x="350490" y="936528"/>
                </a:lnTo>
                <a:lnTo>
                  <a:pt x="385602" y="878556"/>
                </a:lnTo>
                <a:lnTo>
                  <a:pt x="420624" y="816834"/>
                </a:lnTo>
                <a:lnTo>
                  <a:pt x="455646" y="752094"/>
                </a:lnTo>
                <a:lnTo>
                  <a:pt x="490758" y="684246"/>
                </a:lnTo>
                <a:lnTo>
                  <a:pt x="525780" y="615666"/>
                </a:lnTo>
                <a:lnTo>
                  <a:pt x="560802" y="545622"/>
                </a:lnTo>
                <a:lnTo>
                  <a:pt x="595914" y="475488"/>
                </a:lnTo>
                <a:lnTo>
                  <a:pt x="630936" y="406908"/>
                </a:lnTo>
                <a:lnTo>
                  <a:pt x="665958" y="339882"/>
                </a:lnTo>
                <a:lnTo>
                  <a:pt x="701070" y="276606"/>
                </a:lnTo>
                <a:lnTo>
                  <a:pt x="736092" y="217170"/>
                </a:lnTo>
                <a:lnTo>
                  <a:pt x="771114" y="163038"/>
                </a:lnTo>
                <a:lnTo>
                  <a:pt x="806226" y="115032"/>
                </a:lnTo>
                <a:lnTo>
                  <a:pt x="841248" y="74706"/>
                </a:lnTo>
                <a:lnTo>
                  <a:pt x="876270" y="42702"/>
                </a:lnTo>
                <a:lnTo>
                  <a:pt x="911382" y="19020"/>
                </a:lnTo>
                <a:lnTo>
                  <a:pt x="946404" y="4572"/>
                </a:lnTo>
                <a:lnTo>
                  <a:pt x="981426" y="0"/>
                </a:lnTo>
                <a:lnTo>
                  <a:pt x="1016538" y="4572"/>
                </a:lnTo>
                <a:lnTo>
                  <a:pt x="1051560" y="19020"/>
                </a:lnTo>
                <a:lnTo>
                  <a:pt x="1086582" y="42702"/>
                </a:lnTo>
                <a:lnTo>
                  <a:pt x="1121694" y="74706"/>
                </a:lnTo>
                <a:lnTo>
                  <a:pt x="1156716" y="115032"/>
                </a:lnTo>
                <a:lnTo>
                  <a:pt x="1191738" y="163038"/>
                </a:lnTo>
                <a:lnTo>
                  <a:pt x="1226850" y="217170"/>
                </a:lnTo>
                <a:lnTo>
                  <a:pt x="1261872" y="276606"/>
                </a:lnTo>
                <a:lnTo>
                  <a:pt x="1296894" y="339882"/>
                </a:lnTo>
                <a:lnTo>
                  <a:pt x="1332006" y="406908"/>
                </a:lnTo>
                <a:lnTo>
                  <a:pt x="1367028" y="475488"/>
                </a:lnTo>
                <a:lnTo>
                  <a:pt x="1402050" y="545622"/>
                </a:lnTo>
                <a:lnTo>
                  <a:pt x="1437162" y="615666"/>
                </a:lnTo>
                <a:lnTo>
                  <a:pt x="1472184" y="684246"/>
                </a:lnTo>
                <a:lnTo>
                  <a:pt x="1507206" y="752094"/>
                </a:lnTo>
                <a:lnTo>
                  <a:pt x="1542318" y="816834"/>
                </a:lnTo>
                <a:lnTo>
                  <a:pt x="1577340" y="878556"/>
                </a:lnTo>
                <a:lnTo>
                  <a:pt x="1612362" y="936528"/>
                </a:lnTo>
                <a:lnTo>
                  <a:pt x="1647474" y="990570"/>
                </a:lnTo>
                <a:lnTo>
                  <a:pt x="1682496" y="1040862"/>
                </a:lnTo>
                <a:lnTo>
                  <a:pt x="1717518" y="1086582"/>
                </a:lnTo>
                <a:lnTo>
                  <a:pt x="1752630" y="1128552"/>
                </a:lnTo>
                <a:lnTo>
                  <a:pt x="1787652" y="1165860"/>
                </a:lnTo>
                <a:lnTo>
                  <a:pt x="1822674" y="1199418"/>
                </a:lnTo>
                <a:lnTo>
                  <a:pt x="1857786" y="1228314"/>
                </a:lnTo>
                <a:lnTo>
                  <a:pt x="1892808" y="1254282"/>
                </a:lnTo>
                <a:lnTo>
                  <a:pt x="1927830" y="1276320"/>
                </a:lnTo>
                <a:lnTo>
                  <a:pt x="1962942" y="1295430"/>
                </a:lnTo>
                <a:lnTo>
                  <a:pt x="1997964" y="1312164"/>
                </a:lnTo>
                <a:lnTo>
                  <a:pt x="2032986" y="1325880"/>
                </a:lnTo>
                <a:lnTo>
                  <a:pt x="2068098" y="1337310"/>
                </a:lnTo>
                <a:lnTo>
                  <a:pt x="2103120" y="1347186"/>
                </a:lnTo>
                <a:lnTo>
                  <a:pt x="2138142" y="1355598"/>
                </a:lnTo>
                <a:lnTo>
                  <a:pt x="2173254" y="1361724"/>
                </a:lnTo>
                <a:lnTo>
                  <a:pt x="2208276" y="1367028"/>
                </a:lnTo>
                <a:lnTo>
                  <a:pt x="2243298" y="1371600"/>
                </a:lnTo>
                <a:lnTo>
                  <a:pt x="2278410" y="1374618"/>
                </a:lnTo>
                <a:lnTo>
                  <a:pt x="2313432" y="1377726"/>
                </a:lnTo>
                <a:lnTo>
                  <a:pt x="2348454" y="1380012"/>
                </a:lnTo>
                <a:lnTo>
                  <a:pt x="2383566" y="1381476"/>
                </a:lnTo>
                <a:lnTo>
                  <a:pt x="2418588" y="1383030"/>
                </a:lnTo>
                <a:lnTo>
                  <a:pt x="2453610" y="1383762"/>
                </a:lnTo>
                <a:lnTo>
                  <a:pt x="2488722" y="1384584"/>
                </a:lnTo>
                <a:lnTo>
                  <a:pt x="2523744" y="1385316"/>
                </a:lnTo>
                <a:lnTo>
                  <a:pt x="2558766" y="1385316"/>
                </a:lnTo>
                <a:lnTo>
                  <a:pt x="2593878" y="1386048"/>
                </a:lnTo>
                <a:lnTo>
                  <a:pt x="2628900" y="1386048"/>
                </a:lnTo>
                <a:lnTo>
                  <a:pt x="2663922" y="1386048"/>
                </a:lnTo>
                <a:lnTo>
                  <a:pt x="2699034" y="1386870"/>
                </a:lnTo>
                <a:lnTo>
                  <a:pt x="2734056" y="1386870"/>
                </a:lnTo>
                <a:lnTo>
                  <a:pt x="2769078" y="1386870"/>
                </a:lnTo>
                <a:lnTo>
                  <a:pt x="2804190" y="1386870"/>
                </a:lnTo>
                <a:lnTo>
                  <a:pt x="2839212" y="1386870"/>
                </a:lnTo>
                <a:lnTo>
                  <a:pt x="2874234" y="1386870"/>
                </a:lnTo>
                <a:lnTo>
                  <a:pt x="2909346" y="1386870"/>
                </a:lnTo>
                <a:lnTo>
                  <a:pt x="2944368" y="1386870"/>
                </a:lnTo>
                <a:lnTo>
                  <a:pt x="2979390" y="1386870"/>
                </a:lnTo>
                <a:lnTo>
                  <a:pt x="3014502" y="1386870"/>
                </a:lnTo>
                <a:lnTo>
                  <a:pt x="3049524" y="1386870"/>
                </a:lnTo>
                <a:lnTo>
                  <a:pt x="3084546" y="1386870"/>
                </a:lnTo>
                <a:lnTo>
                  <a:pt x="3119658" y="1386870"/>
                </a:lnTo>
                <a:lnTo>
                  <a:pt x="3154680" y="1386870"/>
                </a:lnTo>
                <a:lnTo>
                  <a:pt x="3189702" y="1386870"/>
                </a:lnTo>
                <a:lnTo>
                  <a:pt x="3224814" y="1386870"/>
                </a:lnTo>
                <a:lnTo>
                  <a:pt x="3259836" y="1386870"/>
                </a:lnTo>
                <a:lnTo>
                  <a:pt x="3294858" y="1386870"/>
                </a:lnTo>
                <a:lnTo>
                  <a:pt x="3329970" y="1386870"/>
                </a:lnTo>
                <a:lnTo>
                  <a:pt x="3364992" y="1386870"/>
                </a:lnTo>
                <a:lnTo>
                  <a:pt x="3400014" y="1386870"/>
                </a:lnTo>
                <a:lnTo>
                  <a:pt x="3435126" y="1386870"/>
                </a:lnTo>
                <a:lnTo>
                  <a:pt x="3470148" y="1386870"/>
                </a:lnTo>
                <a:lnTo>
                  <a:pt x="3505170" y="1386870"/>
                </a:lnTo>
                <a:lnTo>
                  <a:pt x="3540282" y="1386870"/>
                </a:lnTo>
                <a:lnTo>
                  <a:pt x="3575304" y="1386870"/>
                </a:lnTo>
                <a:lnTo>
                  <a:pt x="3610326" y="1386870"/>
                </a:lnTo>
                <a:lnTo>
                  <a:pt x="3645438" y="1386870"/>
                </a:lnTo>
                <a:lnTo>
                  <a:pt x="3680460" y="1386870"/>
                </a:lnTo>
                <a:lnTo>
                  <a:pt x="3715482" y="1386870"/>
                </a:lnTo>
                <a:lnTo>
                  <a:pt x="3750594" y="1386870"/>
                </a:lnTo>
                <a:lnTo>
                  <a:pt x="3785616" y="1386870"/>
                </a:lnTo>
                <a:lnTo>
                  <a:pt x="3820638" y="1386870"/>
                </a:lnTo>
                <a:lnTo>
                  <a:pt x="3855750" y="1386870"/>
                </a:lnTo>
                <a:lnTo>
                  <a:pt x="3890772" y="1386870"/>
                </a:lnTo>
                <a:lnTo>
                  <a:pt x="3925794" y="1386870"/>
                </a:lnTo>
                <a:lnTo>
                  <a:pt x="3960906" y="1386870"/>
                </a:lnTo>
                <a:lnTo>
                  <a:pt x="3995928" y="1386870"/>
                </a:lnTo>
                <a:lnTo>
                  <a:pt x="4030950" y="1386870"/>
                </a:lnTo>
                <a:lnTo>
                  <a:pt x="4066062" y="1386870"/>
                </a:lnTo>
                <a:lnTo>
                  <a:pt x="4101084" y="1386870"/>
                </a:lnTo>
                <a:lnTo>
                  <a:pt x="4136106" y="1386870"/>
                </a:lnTo>
                <a:lnTo>
                  <a:pt x="4171218" y="1386870"/>
                </a:lnTo>
                <a:lnTo>
                  <a:pt x="4206240" y="1386870"/>
                </a:lnTo>
                <a:lnTo>
                  <a:pt x="4241262" y="1386870"/>
                </a:lnTo>
                <a:lnTo>
                  <a:pt x="4276374" y="1386870"/>
                </a:lnTo>
                <a:lnTo>
                  <a:pt x="4311396" y="1386870"/>
                </a:lnTo>
                <a:lnTo>
                  <a:pt x="4346418" y="1386870"/>
                </a:lnTo>
                <a:lnTo>
                  <a:pt x="4381530" y="1386870"/>
                </a:lnTo>
                <a:lnTo>
                  <a:pt x="4416552" y="1386870"/>
                </a:lnTo>
                <a:lnTo>
                  <a:pt x="4451574" y="1386870"/>
                </a:lnTo>
                <a:lnTo>
                  <a:pt x="4486686" y="1386870"/>
                </a:lnTo>
                <a:lnTo>
                  <a:pt x="4521708" y="1386870"/>
                </a:lnTo>
                <a:lnTo>
                  <a:pt x="4556730" y="1386870"/>
                </a:lnTo>
                <a:lnTo>
                  <a:pt x="4591842" y="1386870"/>
                </a:lnTo>
                <a:lnTo>
                  <a:pt x="4626864" y="1386870"/>
                </a:lnTo>
                <a:lnTo>
                  <a:pt x="4661886" y="1386870"/>
                </a:lnTo>
                <a:lnTo>
                  <a:pt x="4696998" y="1386870"/>
                </a:lnTo>
                <a:lnTo>
                  <a:pt x="4732020" y="1386870"/>
                </a:lnTo>
                <a:lnTo>
                  <a:pt x="4767042" y="1386870"/>
                </a:lnTo>
                <a:lnTo>
                  <a:pt x="4802154" y="1386870"/>
                </a:lnTo>
                <a:lnTo>
                  <a:pt x="4837176" y="1386870"/>
                </a:lnTo>
                <a:lnTo>
                  <a:pt x="4872198" y="1386870"/>
                </a:lnTo>
                <a:lnTo>
                  <a:pt x="4907310" y="1386870"/>
                </a:lnTo>
                <a:lnTo>
                  <a:pt x="4942332" y="1386870"/>
                </a:lnTo>
                <a:lnTo>
                  <a:pt x="4977354" y="1386870"/>
                </a:lnTo>
                <a:lnTo>
                  <a:pt x="5012466" y="1386870"/>
                </a:lnTo>
                <a:lnTo>
                  <a:pt x="5047488" y="1386870"/>
                </a:lnTo>
                <a:lnTo>
                  <a:pt x="5082510" y="1386870"/>
                </a:lnTo>
                <a:lnTo>
                  <a:pt x="5117622" y="1386870"/>
                </a:lnTo>
                <a:lnTo>
                  <a:pt x="5152644" y="1386870"/>
                </a:lnTo>
                <a:lnTo>
                  <a:pt x="5187666" y="1386870"/>
                </a:lnTo>
                <a:lnTo>
                  <a:pt x="5222778" y="1386870"/>
                </a:lnTo>
                <a:lnTo>
                  <a:pt x="5257800" y="1386870"/>
                </a:lnTo>
                <a:lnTo>
                  <a:pt x="5292822" y="1386870"/>
                </a:lnTo>
                <a:lnTo>
                  <a:pt x="5327934" y="1386870"/>
                </a:lnTo>
                <a:lnTo>
                  <a:pt x="5362956" y="1386870"/>
                </a:lnTo>
                <a:lnTo>
                  <a:pt x="5397978" y="1386870"/>
                </a:lnTo>
                <a:lnTo>
                  <a:pt x="5433090" y="1386870"/>
                </a:lnTo>
                <a:lnTo>
                  <a:pt x="5468112" y="1386870"/>
                </a:lnTo>
                <a:lnTo>
                  <a:pt x="5503134" y="1386870"/>
                </a:lnTo>
                <a:lnTo>
                  <a:pt x="5538246" y="1386870"/>
                </a:lnTo>
                <a:lnTo>
                  <a:pt x="5573268" y="1386870"/>
                </a:lnTo>
                <a:lnTo>
                  <a:pt x="5608290" y="1386870"/>
                </a:lnTo>
                <a:lnTo>
                  <a:pt x="5643402" y="1386870"/>
                </a:lnTo>
                <a:lnTo>
                  <a:pt x="5678424" y="1386870"/>
                </a:lnTo>
                <a:lnTo>
                  <a:pt x="5713446" y="1386870"/>
                </a:lnTo>
                <a:lnTo>
                  <a:pt x="5748558" y="1386870"/>
                </a:lnTo>
                <a:lnTo>
                  <a:pt x="5783580" y="1386870"/>
                </a:lnTo>
                <a:lnTo>
                  <a:pt x="5818602" y="1386870"/>
                </a:lnTo>
                <a:lnTo>
                  <a:pt x="5853714" y="1386870"/>
                </a:lnTo>
                <a:lnTo>
                  <a:pt x="5888736" y="1386870"/>
                </a:lnTo>
                <a:lnTo>
                  <a:pt x="5923758" y="1386870"/>
                </a:lnTo>
                <a:lnTo>
                  <a:pt x="5958870" y="1386870"/>
                </a:lnTo>
                <a:lnTo>
                  <a:pt x="5993892" y="1386870"/>
                </a:lnTo>
                <a:lnTo>
                  <a:pt x="6028914" y="1386870"/>
                </a:lnTo>
                <a:lnTo>
                  <a:pt x="6064026" y="1386870"/>
                </a:lnTo>
                <a:lnTo>
                  <a:pt x="6099048" y="1386870"/>
                </a:lnTo>
                <a:lnTo>
                  <a:pt x="6134070" y="1386870"/>
                </a:lnTo>
                <a:lnTo>
                  <a:pt x="6169182" y="1386870"/>
                </a:lnTo>
                <a:lnTo>
                  <a:pt x="6204204" y="1386870"/>
                </a:lnTo>
                <a:lnTo>
                  <a:pt x="6239226" y="1386870"/>
                </a:lnTo>
                <a:lnTo>
                  <a:pt x="6274338" y="1386870"/>
                </a:lnTo>
                <a:lnTo>
                  <a:pt x="6309360" y="1386870"/>
                </a:lnTo>
                <a:lnTo>
                  <a:pt x="6344382" y="1386870"/>
                </a:lnTo>
                <a:lnTo>
                  <a:pt x="6379494" y="1386870"/>
                </a:lnTo>
                <a:lnTo>
                  <a:pt x="6414516" y="1386870"/>
                </a:lnTo>
                <a:lnTo>
                  <a:pt x="6449538" y="1386870"/>
                </a:lnTo>
                <a:lnTo>
                  <a:pt x="6484650" y="1386870"/>
                </a:lnTo>
                <a:lnTo>
                  <a:pt x="6519672" y="1386870"/>
                </a:lnTo>
                <a:lnTo>
                  <a:pt x="6554694" y="1386870"/>
                </a:lnTo>
                <a:lnTo>
                  <a:pt x="6589806" y="1386870"/>
                </a:lnTo>
                <a:lnTo>
                  <a:pt x="6624828" y="1386870"/>
                </a:lnTo>
                <a:lnTo>
                  <a:pt x="6659850" y="1386870"/>
                </a:lnTo>
                <a:lnTo>
                  <a:pt x="6694962" y="1386870"/>
                </a:lnTo>
                <a:lnTo>
                  <a:pt x="6729984" y="1386870"/>
                </a:lnTo>
                <a:lnTo>
                  <a:pt x="6729984" y="1386870"/>
                </a:lnTo>
                <a:close/>
              </a:path>
            </a:pathLst>
          </a:custGeom>
          <a:solidFill>
            <a:srgbClr val="3FBF6F">
              <a:alpha val="75000"/>
            </a:srgbClr>
          </a:solidFill>
          <a:ln/>
        </p:spPr>
      </p:sp>
      <p:sp>
        <p:nvSpPr>
          <p:cNvPr id="44" name="faq2_43"/>
          <p:cNvSpPr/>
          <p:nvPr/>
        </p:nvSpPr>
        <p:spPr>
          <a:xfrm flipV="1">
            <a:off x="3175986" y="3124230"/>
            <a:ext cx="3840" cy="2133570"/>
          </a:xfrm>
          <a:prstGeom prst="line">
            <a:avLst/>
          </a:prstGeom>
          <a:ln w="22860">
            <a:solidFill>
              <a:srgbClr val="FFFFFF"/>
            </a:solidFill>
            <a:custDash>
              <a:ds d="333333" sp="266667"/>
            </a:custDash>
          </a:ln>
        </p:spPr>
      </p:sp>
      <p:sp>
        <p:nvSpPr>
          <p:cNvPr id="45" name="faq2_44"/>
          <p:cNvSpPr txBox="1"/>
          <p:nvPr/>
        </p:nvSpPr>
        <p:spPr>
          <a:xfrm>
            <a:off x="3099816" y="2495580"/>
            <a:ext cx="3735964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8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hits above cutoff: 22.9%</a:t>
            </a:r>
            <a:endParaRPr lang="en-US" sz="1781" dirty="0"/>
          </a:p>
        </p:txBody>
      </p:sp>
      <p:sp>
        <p:nvSpPr>
          <p:cNvPr id="46" name="faq2_45"/>
          <p:cNvSpPr txBox="1"/>
          <p:nvPr/>
        </p:nvSpPr>
        <p:spPr>
          <a:xfrm>
            <a:off x="5130790" y="2806111"/>
            <a:ext cx="1458285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Bitscore cutoff</a:t>
            </a:r>
            <a:endParaRPr lang="en-US" sz="1399" dirty="0"/>
          </a:p>
        </p:txBody>
      </p:sp>
      <p:sp>
        <p:nvSpPr>
          <p:cNvPr id="47" name="faq2_46"/>
          <p:cNvSpPr txBox="1"/>
          <p:nvPr/>
        </p:nvSpPr>
        <p:spPr>
          <a:xfrm>
            <a:off x="548640" y="396210"/>
            <a:ext cx="4572000" cy="464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FAQs</a:t>
            </a:r>
            <a:endParaRPr lang="en-US" sz="2880" dirty="0"/>
          </a:p>
        </p:txBody>
      </p:sp>
      <p:sp>
        <p:nvSpPr>
          <p:cNvPr id="48" name="faq2_47"/>
          <p:cNvSpPr txBox="1"/>
          <p:nvPr/>
        </p:nvSpPr>
        <p:spPr>
          <a:xfrm>
            <a:off x="1219170" y="1143000"/>
            <a:ext cx="9753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were HMMER results validated?</a:t>
            </a:r>
            <a:endParaRPr lang="en-US" sz="2200" dirty="0"/>
          </a:p>
        </p:txBody>
      </p:sp>
      <p:sp>
        <p:nvSpPr>
          <p:cNvPr id="49" name="faq2_48"/>
          <p:cNvSpPr/>
          <p:nvPr/>
        </p:nvSpPr>
        <p:spPr>
          <a:xfrm>
            <a:off x="9829800" y="457200"/>
            <a:ext cx="1813530" cy="365760"/>
          </a:xfrm>
          <a:prstGeom prst="roundRect">
            <a:avLst>
              <a:gd name="adj" fmla="val 50000"/>
            </a:avLst>
          </a:prstGeom>
          <a:solidFill>
            <a:srgbClr val="1D3461"/>
          </a:solidFill>
          <a:ln/>
        </p:spPr>
      </p:sp>
      <p:sp>
        <p:nvSpPr>
          <p:cNvPr id="50" name="faq2_49"/>
          <p:cNvSpPr txBox="1"/>
          <p:nvPr/>
        </p:nvSpPr>
        <p:spPr>
          <a:xfrm>
            <a:off x="9829800" y="457200"/>
            <a:ext cx="181353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FAQs</a:t>
            </a:r>
            <a:endParaRPr lang="en-US" sz="1300" dirty="0"/>
          </a:p>
        </p:txBody>
      </p:sp>
      <p:sp>
        <p:nvSpPr>
          <p:cNvPr id="51" name="faq2_50">
            <a:hlinkClick r:id="rId1" tooltip="Back to the FAQ list" action="ppaction://hlinksldjump"/>
          </p:cNvPr>
          <p:cNvSpPr/>
          <p:nvPr/>
        </p:nvSpPr>
        <p:spPr>
          <a:xfrm>
            <a:off x="9829800" y="457200"/>
            <a:ext cx="1813530" cy="365760"/>
          </a:xfrm>
          <a:prstGeom prst="roundRect">
            <a:avLst>
              <a:gd name="adj" fmla="val 50000"/>
            </a:avLst>
          </a:prstGeom>
          <a:solidFill>
            <a:srgbClr val="0A0F15">
              <a:alpha val="0"/>
            </a:srgbClr>
          </a:solidFill>
          <a:ln/>
        </p:spPr>
      </p:sp>
      <p:sp>
        <p:nvSpPr>
          <p:cNvPr id="52" name="faq2_51"/>
          <p:cNvSpPr/>
          <p:nvPr/>
        </p:nvSpPr>
        <p:spPr>
          <a:xfrm>
            <a:off x="5207051" y="3276570"/>
            <a:ext cx="4699010" cy="1981230"/>
          </a:xfrm>
          <a:custGeom>
            <a:avLst/>
            <a:gdLst/>
            <a:ahLst/>
            <a:cxnLst/>
            <a:rect l="l" t="t" r="r" b="b"/>
            <a:pathLst>
              <a:path w="4699010" h="1981230">
                <a:moveTo>
                  <a:pt x="0" y="1981230"/>
                </a:moveTo>
                <a:lnTo>
                  <a:pt x="0" y="1406713"/>
                </a:lnTo>
                <a:lnTo>
                  <a:pt x="35022" y="1373886"/>
                </a:lnTo>
                <a:lnTo>
                  <a:pt x="70134" y="1339962"/>
                </a:lnTo>
                <a:lnTo>
                  <a:pt x="105156" y="1305032"/>
                </a:lnTo>
                <a:lnTo>
                  <a:pt x="140178" y="1269187"/>
                </a:lnTo>
                <a:lnTo>
                  <a:pt x="175290" y="1232337"/>
                </a:lnTo>
                <a:lnTo>
                  <a:pt x="210312" y="1194572"/>
                </a:lnTo>
                <a:lnTo>
                  <a:pt x="245334" y="1155984"/>
                </a:lnTo>
                <a:lnTo>
                  <a:pt x="280446" y="1116574"/>
                </a:lnTo>
                <a:lnTo>
                  <a:pt x="315468" y="1076432"/>
                </a:lnTo>
                <a:lnTo>
                  <a:pt x="350490" y="1035649"/>
                </a:lnTo>
                <a:lnTo>
                  <a:pt x="385602" y="994319"/>
                </a:lnTo>
                <a:lnTo>
                  <a:pt x="420624" y="952530"/>
                </a:lnTo>
                <a:lnTo>
                  <a:pt x="455646" y="910285"/>
                </a:lnTo>
                <a:lnTo>
                  <a:pt x="490758" y="867674"/>
                </a:lnTo>
                <a:lnTo>
                  <a:pt x="525780" y="824880"/>
                </a:lnTo>
                <a:lnTo>
                  <a:pt x="560802" y="781995"/>
                </a:lnTo>
                <a:lnTo>
                  <a:pt x="595914" y="739110"/>
                </a:lnTo>
                <a:lnTo>
                  <a:pt x="630936" y="696316"/>
                </a:lnTo>
                <a:lnTo>
                  <a:pt x="665958" y="653705"/>
                </a:lnTo>
                <a:lnTo>
                  <a:pt x="701070" y="611459"/>
                </a:lnTo>
                <a:lnTo>
                  <a:pt x="736092" y="569671"/>
                </a:lnTo>
                <a:lnTo>
                  <a:pt x="771114" y="528523"/>
                </a:lnTo>
                <a:lnTo>
                  <a:pt x="806226" y="488015"/>
                </a:lnTo>
                <a:lnTo>
                  <a:pt x="841248" y="448330"/>
                </a:lnTo>
                <a:lnTo>
                  <a:pt x="876270" y="409651"/>
                </a:lnTo>
                <a:lnTo>
                  <a:pt x="911382" y="371978"/>
                </a:lnTo>
                <a:lnTo>
                  <a:pt x="946404" y="335493"/>
                </a:lnTo>
                <a:lnTo>
                  <a:pt x="981426" y="300380"/>
                </a:lnTo>
                <a:lnTo>
                  <a:pt x="1016538" y="266730"/>
                </a:lnTo>
                <a:lnTo>
                  <a:pt x="1051560" y="234544"/>
                </a:lnTo>
                <a:lnTo>
                  <a:pt x="1086582" y="204094"/>
                </a:lnTo>
                <a:lnTo>
                  <a:pt x="1121694" y="175382"/>
                </a:lnTo>
                <a:lnTo>
                  <a:pt x="1156716" y="148590"/>
                </a:lnTo>
                <a:lnTo>
                  <a:pt x="1191738" y="123810"/>
                </a:lnTo>
                <a:lnTo>
                  <a:pt x="1226850" y="100950"/>
                </a:lnTo>
                <a:lnTo>
                  <a:pt x="1261872" y="80376"/>
                </a:lnTo>
                <a:lnTo>
                  <a:pt x="1296894" y="61905"/>
                </a:lnTo>
                <a:lnTo>
                  <a:pt x="1332006" y="45811"/>
                </a:lnTo>
                <a:lnTo>
                  <a:pt x="1367028" y="32095"/>
                </a:lnTo>
                <a:lnTo>
                  <a:pt x="1402050" y="20665"/>
                </a:lnTo>
                <a:lnTo>
                  <a:pt x="1437162" y="11796"/>
                </a:lnTo>
                <a:lnTo>
                  <a:pt x="1472184" y="5304"/>
                </a:lnTo>
                <a:lnTo>
                  <a:pt x="1507206" y="1372"/>
                </a:lnTo>
                <a:lnTo>
                  <a:pt x="1542318" y="0"/>
                </a:lnTo>
                <a:lnTo>
                  <a:pt x="1577340" y="1097"/>
                </a:lnTo>
                <a:lnTo>
                  <a:pt x="1612362" y="4755"/>
                </a:lnTo>
                <a:lnTo>
                  <a:pt x="1647474" y="10881"/>
                </a:lnTo>
                <a:lnTo>
                  <a:pt x="1682496" y="19568"/>
                </a:lnTo>
                <a:lnTo>
                  <a:pt x="1717518" y="30632"/>
                </a:lnTo>
                <a:lnTo>
                  <a:pt x="1752630" y="44074"/>
                </a:lnTo>
                <a:lnTo>
                  <a:pt x="1787652" y="59985"/>
                </a:lnTo>
                <a:lnTo>
                  <a:pt x="1822674" y="78090"/>
                </a:lnTo>
                <a:lnTo>
                  <a:pt x="1857786" y="98481"/>
                </a:lnTo>
                <a:lnTo>
                  <a:pt x="1892808" y="121067"/>
                </a:lnTo>
                <a:lnTo>
                  <a:pt x="1927830" y="145664"/>
                </a:lnTo>
                <a:lnTo>
                  <a:pt x="1962942" y="172273"/>
                </a:lnTo>
                <a:lnTo>
                  <a:pt x="1997964" y="200711"/>
                </a:lnTo>
                <a:lnTo>
                  <a:pt x="2032986" y="230977"/>
                </a:lnTo>
                <a:lnTo>
                  <a:pt x="2068098" y="262981"/>
                </a:lnTo>
                <a:lnTo>
                  <a:pt x="2103120" y="296448"/>
                </a:lnTo>
                <a:lnTo>
                  <a:pt x="2138142" y="331470"/>
                </a:lnTo>
                <a:lnTo>
                  <a:pt x="2173254" y="367772"/>
                </a:lnTo>
                <a:lnTo>
                  <a:pt x="2208276" y="405262"/>
                </a:lnTo>
                <a:lnTo>
                  <a:pt x="2243298" y="443850"/>
                </a:lnTo>
                <a:lnTo>
                  <a:pt x="2278410" y="483443"/>
                </a:lnTo>
                <a:lnTo>
                  <a:pt x="2313432" y="523860"/>
                </a:lnTo>
                <a:lnTo>
                  <a:pt x="2348454" y="564916"/>
                </a:lnTo>
                <a:lnTo>
                  <a:pt x="2383566" y="606704"/>
                </a:lnTo>
                <a:lnTo>
                  <a:pt x="2418588" y="648858"/>
                </a:lnTo>
                <a:lnTo>
                  <a:pt x="2453610" y="691378"/>
                </a:lnTo>
                <a:lnTo>
                  <a:pt x="2488722" y="734172"/>
                </a:lnTo>
                <a:lnTo>
                  <a:pt x="2523744" y="777057"/>
                </a:lnTo>
                <a:lnTo>
                  <a:pt x="2558766" y="819942"/>
                </a:lnTo>
                <a:lnTo>
                  <a:pt x="2593878" y="862736"/>
                </a:lnTo>
                <a:lnTo>
                  <a:pt x="2628900" y="905347"/>
                </a:lnTo>
                <a:lnTo>
                  <a:pt x="2663922" y="947684"/>
                </a:lnTo>
                <a:lnTo>
                  <a:pt x="2699034" y="989564"/>
                </a:lnTo>
                <a:lnTo>
                  <a:pt x="2734056" y="1030986"/>
                </a:lnTo>
                <a:lnTo>
                  <a:pt x="2769078" y="1071860"/>
                </a:lnTo>
                <a:lnTo>
                  <a:pt x="2804190" y="1112002"/>
                </a:lnTo>
                <a:lnTo>
                  <a:pt x="2839212" y="1151504"/>
                </a:lnTo>
                <a:lnTo>
                  <a:pt x="2874234" y="1190183"/>
                </a:lnTo>
                <a:lnTo>
                  <a:pt x="2909346" y="1228039"/>
                </a:lnTo>
                <a:lnTo>
                  <a:pt x="2944368" y="1264981"/>
                </a:lnTo>
                <a:lnTo>
                  <a:pt x="2979390" y="1301008"/>
                </a:lnTo>
                <a:lnTo>
                  <a:pt x="3014502" y="1336030"/>
                </a:lnTo>
                <a:lnTo>
                  <a:pt x="3049524" y="1370046"/>
                </a:lnTo>
                <a:lnTo>
                  <a:pt x="3084546" y="1402964"/>
                </a:lnTo>
                <a:lnTo>
                  <a:pt x="3119658" y="1434785"/>
                </a:lnTo>
                <a:lnTo>
                  <a:pt x="3154680" y="1465600"/>
                </a:lnTo>
                <a:lnTo>
                  <a:pt x="3189702" y="1495227"/>
                </a:lnTo>
                <a:lnTo>
                  <a:pt x="3224814" y="1523756"/>
                </a:lnTo>
                <a:lnTo>
                  <a:pt x="3259836" y="1551188"/>
                </a:lnTo>
                <a:lnTo>
                  <a:pt x="3294858" y="1577431"/>
                </a:lnTo>
                <a:lnTo>
                  <a:pt x="3329970" y="1602669"/>
                </a:lnTo>
                <a:lnTo>
                  <a:pt x="3364992" y="1626718"/>
                </a:lnTo>
                <a:lnTo>
                  <a:pt x="3400014" y="1649578"/>
                </a:lnTo>
                <a:lnTo>
                  <a:pt x="3435126" y="1671432"/>
                </a:lnTo>
                <a:lnTo>
                  <a:pt x="3470148" y="1692280"/>
                </a:lnTo>
                <a:lnTo>
                  <a:pt x="3505170" y="1711940"/>
                </a:lnTo>
                <a:lnTo>
                  <a:pt x="3540282" y="1730685"/>
                </a:lnTo>
                <a:lnTo>
                  <a:pt x="3575304" y="1748333"/>
                </a:lnTo>
                <a:lnTo>
                  <a:pt x="3610326" y="1765066"/>
                </a:lnTo>
                <a:lnTo>
                  <a:pt x="3645438" y="1780885"/>
                </a:lnTo>
                <a:lnTo>
                  <a:pt x="3680460" y="1795699"/>
                </a:lnTo>
                <a:lnTo>
                  <a:pt x="3715482" y="1809689"/>
                </a:lnTo>
                <a:lnTo>
                  <a:pt x="3750594" y="1822856"/>
                </a:lnTo>
                <a:lnTo>
                  <a:pt x="3785616" y="1835109"/>
                </a:lnTo>
                <a:lnTo>
                  <a:pt x="3820638" y="1846722"/>
                </a:lnTo>
                <a:lnTo>
                  <a:pt x="3855750" y="1857421"/>
                </a:lnTo>
                <a:lnTo>
                  <a:pt x="3890772" y="1867479"/>
                </a:lnTo>
                <a:lnTo>
                  <a:pt x="3925794" y="1876897"/>
                </a:lnTo>
                <a:lnTo>
                  <a:pt x="3960906" y="1885584"/>
                </a:lnTo>
                <a:lnTo>
                  <a:pt x="3995928" y="1893722"/>
                </a:lnTo>
                <a:lnTo>
                  <a:pt x="4030950" y="1901220"/>
                </a:lnTo>
                <a:lnTo>
                  <a:pt x="4066062" y="1908170"/>
                </a:lnTo>
                <a:lnTo>
                  <a:pt x="4101084" y="1914662"/>
                </a:lnTo>
                <a:lnTo>
                  <a:pt x="4136106" y="1920606"/>
                </a:lnTo>
                <a:lnTo>
                  <a:pt x="4171218" y="1926092"/>
                </a:lnTo>
                <a:lnTo>
                  <a:pt x="4206240" y="1931121"/>
                </a:lnTo>
                <a:lnTo>
                  <a:pt x="4241262" y="1935785"/>
                </a:lnTo>
                <a:lnTo>
                  <a:pt x="4276374" y="1940082"/>
                </a:lnTo>
                <a:lnTo>
                  <a:pt x="4311396" y="1944014"/>
                </a:lnTo>
                <a:lnTo>
                  <a:pt x="4346418" y="1947581"/>
                </a:lnTo>
                <a:lnTo>
                  <a:pt x="4381530" y="1950872"/>
                </a:lnTo>
                <a:lnTo>
                  <a:pt x="4416552" y="1953798"/>
                </a:lnTo>
                <a:lnTo>
                  <a:pt x="4451574" y="1956542"/>
                </a:lnTo>
                <a:lnTo>
                  <a:pt x="4486686" y="1959011"/>
                </a:lnTo>
                <a:lnTo>
                  <a:pt x="4521708" y="1961297"/>
                </a:lnTo>
                <a:lnTo>
                  <a:pt x="4556730" y="1963400"/>
                </a:lnTo>
                <a:lnTo>
                  <a:pt x="4591842" y="1965228"/>
                </a:lnTo>
                <a:lnTo>
                  <a:pt x="4626864" y="1966874"/>
                </a:lnTo>
                <a:lnTo>
                  <a:pt x="4661886" y="1968429"/>
                </a:lnTo>
                <a:lnTo>
                  <a:pt x="4696998" y="1969800"/>
                </a:lnTo>
                <a:lnTo>
                  <a:pt x="4699010" y="1981230"/>
                </a:lnTo>
                <a:close/>
              </a:path>
            </a:pathLst>
          </a:custGeom>
          <a:solidFill>
            <a:srgbClr val="9AA4B1">
              <a:alpha val="45000"/>
            </a:srgbClr>
          </a:solidFill>
          <a:ln/>
        </p:spPr>
      </p:sp>
      <p:sp>
        <p:nvSpPr>
          <p:cNvPr id="53" name="faq2_52"/>
          <p:cNvSpPr/>
          <p:nvPr/>
        </p:nvSpPr>
        <p:spPr>
          <a:xfrm>
            <a:off x="5207051" y="5196169"/>
            <a:ext cx="4699010" cy="61631"/>
          </a:xfrm>
          <a:custGeom>
            <a:avLst/>
            <a:gdLst/>
            <a:ahLst/>
            <a:cxnLst/>
            <a:rect l="l" t="t" r="r" b="b"/>
            <a:pathLst>
              <a:path w="4699010" h="61631">
                <a:moveTo>
                  <a:pt x="0" y="61631"/>
                </a:moveTo>
                <a:lnTo>
                  <a:pt x="0" y="0"/>
                </a:lnTo>
                <a:lnTo>
                  <a:pt x="35022" y="11796"/>
                </a:lnTo>
                <a:lnTo>
                  <a:pt x="70134" y="21580"/>
                </a:lnTo>
                <a:lnTo>
                  <a:pt x="105156" y="29627"/>
                </a:lnTo>
                <a:lnTo>
                  <a:pt x="140178" y="36302"/>
                </a:lnTo>
                <a:lnTo>
                  <a:pt x="175290" y="41697"/>
                </a:lnTo>
                <a:lnTo>
                  <a:pt x="210312" y="45994"/>
                </a:lnTo>
                <a:lnTo>
                  <a:pt x="245334" y="49560"/>
                </a:lnTo>
                <a:lnTo>
                  <a:pt x="280446" y="52304"/>
                </a:lnTo>
                <a:lnTo>
                  <a:pt x="315468" y="54498"/>
                </a:lnTo>
                <a:lnTo>
                  <a:pt x="350490" y="56236"/>
                </a:lnTo>
                <a:lnTo>
                  <a:pt x="385602" y="57516"/>
                </a:lnTo>
                <a:lnTo>
                  <a:pt x="420624" y="58613"/>
                </a:lnTo>
                <a:lnTo>
                  <a:pt x="455646" y="59345"/>
                </a:lnTo>
                <a:lnTo>
                  <a:pt x="490758" y="59985"/>
                </a:lnTo>
                <a:lnTo>
                  <a:pt x="525780" y="60442"/>
                </a:lnTo>
                <a:lnTo>
                  <a:pt x="560802" y="60716"/>
                </a:lnTo>
                <a:lnTo>
                  <a:pt x="595914" y="60990"/>
                </a:lnTo>
                <a:lnTo>
                  <a:pt x="630936" y="61173"/>
                </a:lnTo>
                <a:lnTo>
                  <a:pt x="665958" y="61356"/>
                </a:lnTo>
                <a:lnTo>
                  <a:pt x="701070" y="61448"/>
                </a:lnTo>
                <a:lnTo>
                  <a:pt x="736092" y="61539"/>
                </a:lnTo>
                <a:lnTo>
                  <a:pt x="771114" y="61539"/>
                </a:lnTo>
                <a:lnTo>
                  <a:pt x="806226" y="61539"/>
                </a:lnTo>
                <a:lnTo>
                  <a:pt x="841248" y="61631"/>
                </a:lnTo>
                <a:lnTo>
                  <a:pt x="876270" y="61631"/>
                </a:lnTo>
                <a:lnTo>
                  <a:pt x="911382" y="61631"/>
                </a:lnTo>
                <a:lnTo>
                  <a:pt x="946404" y="61631"/>
                </a:lnTo>
                <a:lnTo>
                  <a:pt x="981426" y="61631"/>
                </a:lnTo>
                <a:lnTo>
                  <a:pt x="1016538" y="61631"/>
                </a:lnTo>
                <a:lnTo>
                  <a:pt x="1051560" y="61631"/>
                </a:lnTo>
                <a:lnTo>
                  <a:pt x="1086582" y="61631"/>
                </a:lnTo>
                <a:lnTo>
                  <a:pt x="1121694" y="61631"/>
                </a:lnTo>
                <a:lnTo>
                  <a:pt x="1156716" y="61631"/>
                </a:lnTo>
                <a:lnTo>
                  <a:pt x="1191738" y="61631"/>
                </a:lnTo>
                <a:lnTo>
                  <a:pt x="1226850" y="61631"/>
                </a:lnTo>
                <a:lnTo>
                  <a:pt x="1261872" y="61631"/>
                </a:lnTo>
                <a:lnTo>
                  <a:pt x="1296894" y="61631"/>
                </a:lnTo>
                <a:lnTo>
                  <a:pt x="1332006" y="61631"/>
                </a:lnTo>
                <a:lnTo>
                  <a:pt x="1367028" y="61631"/>
                </a:lnTo>
                <a:lnTo>
                  <a:pt x="1402050" y="61631"/>
                </a:lnTo>
                <a:lnTo>
                  <a:pt x="1437162" y="61631"/>
                </a:lnTo>
                <a:lnTo>
                  <a:pt x="1472184" y="61631"/>
                </a:lnTo>
                <a:lnTo>
                  <a:pt x="1507206" y="61631"/>
                </a:lnTo>
                <a:lnTo>
                  <a:pt x="1542318" y="61631"/>
                </a:lnTo>
                <a:lnTo>
                  <a:pt x="1577340" y="61631"/>
                </a:lnTo>
                <a:lnTo>
                  <a:pt x="1612362" y="61631"/>
                </a:lnTo>
                <a:lnTo>
                  <a:pt x="1647474" y="61631"/>
                </a:lnTo>
                <a:lnTo>
                  <a:pt x="1682496" y="61631"/>
                </a:lnTo>
                <a:lnTo>
                  <a:pt x="1717518" y="61631"/>
                </a:lnTo>
                <a:lnTo>
                  <a:pt x="1752630" y="61631"/>
                </a:lnTo>
                <a:lnTo>
                  <a:pt x="1787652" y="61631"/>
                </a:lnTo>
                <a:lnTo>
                  <a:pt x="1822674" y="61631"/>
                </a:lnTo>
                <a:lnTo>
                  <a:pt x="1857786" y="61631"/>
                </a:lnTo>
                <a:lnTo>
                  <a:pt x="1892808" y="61631"/>
                </a:lnTo>
                <a:lnTo>
                  <a:pt x="1927830" y="61631"/>
                </a:lnTo>
                <a:lnTo>
                  <a:pt x="1962942" y="61631"/>
                </a:lnTo>
                <a:lnTo>
                  <a:pt x="1997964" y="61631"/>
                </a:lnTo>
                <a:lnTo>
                  <a:pt x="2032986" y="61631"/>
                </a:lnTo>
                <a:lnTo>
                  <a:pt x="2068098" y="61631"/>
                </a:lnTo>
                <a:lnTo>
                  <a:pt x="2103120" y="61631"/>
                </a:lnTo>
                <a:lnTo>
                  <a:pt x="2138142" y="61631"/>
                </a:lnTo>
                <a:lnTo>
                  <a:pt x="2173254" y="61631"/>
                </a:lnTo>
                <a:lnTo>
                  <a:pt x="2208276" y="61631"/>
                </a:lnTo>
                <a:lnTo>
                  <a:pt x="2243298" y="61631"/>
                </a:lnTo>
                <a:lnTo>
                  <a:pt x="2278410" y="61631"/>
                </a:lnTo>
                <a:lnTo>
                  <a:pt x="2313432" y="61631"/>
                </a:lnTo>
                <a:lnTo>
                  <a:pt x="2348454" y="61631"/>
                </a:lnTo>
                <a:lnTo>
                  <a:pt x="2383566" y="61631"/>
                </a:lnTo>
                <a:lnTo>
                  <a:pt x="2418588" y="61631"/>
                </a:lnTo>
                <a:lnTo>
                  <a:pt x="2453610" y="61631"/>
                </a:lnTo>
                <a:lnTo>
                  <a:pt x="2488722" y="61631"/>
                </a:lnTo>
                <a:lnTo>
                  <a:pt x="2523744" y="61631"/>
                </a:lnTo>
                <a:lnTo>
                  <a:pt x="2558766" y="61631"/>
                </a:lnTo>
                <a:lnTo>
                  <a:pt x="2593878" y="61631"/>
                </a:lnTo>
                <a:lnTo>
                  <a:pt x="2628900" y="61631"/>
                </a:lnTo>
                <a:lnTo>
                  <a:pt x="2663922" y="61631"/>
                </a:lnTo>
                <a:lnTo>
                  <a:pt x="2699034" y="61631"/>
                </a:lnTo>
                <a:lnTo>
                  <a:pt x="2734056" y="61631"/>
                </a:lnTo>
                <a:lnTo>
                  <a:pt x="2769078" y="61631"/>
                </a:lnTo>
                <a:lnTo>
                  <a:pt x="2804190" y="61631"/>
                </a:lnTo>
                <a:lnTo>
                  <a:pt x="2839212" y="61631"/>
                </a:lnTo>
                <a:lnTo>
                  <a:pt x="2874234" y="61631"/>
                </a:lnTo>
                <a:lnTo>
                  <a:pt x="2909346" y="61631"/>
                </a:lnTo>
                <a:lnTo>
                  <a:pt x="2944368" y="61631"/>
                </a:lnTo>
                <a:lnTo>
                  <a:pt x="2979390" y="61631"/>
                </a:lnTo>
                <a:lnTo>
                  <a:pt x="3014502" y="61631"/>
                </a:lnTo>
                <a:lnTo>
                  <a:pt x="3049524" y="61631"/>
                </a:lnTo>
                <a:lnTo>
                  <a:pt x="3084546" y="61631"/>
                </a:lnTo>
                <a:lnTo>
                  <a:pt x="3119658" y="61631"/>
                </a:lnTo>
                <a:lnTo>
                  <a:pt x="3154680" y="61631"/>
                </a:lnTo>
                <a:lnTo>
                  <a:pt x="3189702" y="61631"/>
                </a:lnTo>
                <a:lnTo>
                  <a:pt x="3224814" y="61631"/>
                </a:lnTo>
                <a:lnTo>
                  <a:pt x="3259836" y="61631"/>
                </a:lnTo>
                <a:lnTo>
                  <a:pt x="3294858" y="61631"/>
                </a:lnTo>
                <a:lnTo>
                  <a:pt x="3329970" y="61631"/>
                </a:lnTo>
                <a:lnTo>
                  <a:pt x="3364992" y="61631"/>
                </a:lnTo>
                <a:lnTo>
                  <a:pt x="3400014" y="61631"/>
                </a:lnTo>
                <a:lnTo>
                  <a:pt x="3435126" y="61631"/>
                </a:lnTo>
                <a:lnTo>
                  <a:pt x="3470148" y="61631"/>
                </a:lnTo>
                <a:lnTo>
                  <a:pt x="3505170" y="61631"/>
                </a:lnTo>
                <a:lnTo>
                  <a:pt x="3540282" y="61631"/>
                </a:lnTo>
                <a:lnTo>
                  <a:pt x="3575304" y="61631"/>
                </a:lnTo>
                <a:lnTo>
                  <a:pt x="3610326" y="61631"/>
                </a:lnTo>
                <a:lnTo>
                  <a:pt x="3645438" y="61631"/>
                </a:lnTo>
                <a:lnTo>
                  <a:pt x="3680460" y="61631"/>
                </a:lnTo>
                <a:lnTo>
                  <a:pt x="3715482" y="61631"/>
                </a:lnTo>
                <a:lnTo>
                  <a:pt x="3750594" y="61631"/>
                </a:lnTo>
                <a:lnTo>
                  <a:pt x="3785616" y="61631"/>
                </a:lnTo>
                <a:lnTo>
                  <a:pt x="3820638" y="61631"/>
                </a:lnTo>
                <a:lnTo>
                  <a:pt x="3855750" y="61631"/>
                </a:lnTo>
                <a:lnTo>
                  <a:pt x="3890772" y="61631"/>
                </a:lnTo>
                <a:lnTo>
                  <a:pt x="3925794" y="61631"/>
                </a:lnTo>
                <a:lnTo>
                  <a:pt x="3960906" y="61631"/>
                </a:lnTo>
                <a:lnTo>
                  <a:pt x="3995928" y="61631"/>
                </a:lnTo>
                <a:lnTo>
                  <a:pt x="4030950" y="61631"/>
                </a:lnTo>
                <a:lnTo>
                  <a:pt x="4066062" y="61631"/>
                </a:lnTo>
                <a:lnTo>
                  <a:pt x="4101084" y="61631"/>
                </a:lnTo>
                <a:lnTo>
                  <a:pt x="4136106" y="61631"/>
                </a:lnTo>
                <a:lnTo>
                  <a:pt x="4171218" y="61631"/>
                </a:lnTo>
                <a:lnTo>
                  <a:pt x="4206240" y="61631"/>
                </a:lnTo>
                <a:lnTo>
                  <a:pt x="4241262" y="61631"/>
                </a:lnTo>
                <a:lnTo>
                  <a:pt x="4276374" y="61631"/>
                </a:lnTo>
                <a:lnTo>
                  <a:pt x="4311396" y="61631"/>
                </a:lnTo>
                <a:lnTo>
                  <a:pt x="4346418" y="61631"/>
                </a:lnTo>
                <a:lnTo>
                  <a:pt x="4381530" y="61631"/>
                </a:lnTo>
                <a:lnTo>
                  <a:pt x="4416552" y="61631"/>
                </a:lnTo>
                <a:lnTo>
                  <a:pt x="4451574" y="61631"/>
                </a:lnTo>
                <a:lnTo>
                  <a:pt x="4486686" y="61631"/>
                </a:lnTo>
                <a:lnTo>
                  <a:pt x="4521708" y="61631"/>
                </a:lnTo>
                <a:lnTo>
                  <a:pt x="4556730" y="61631"/>
                </a:lnTo>
                <a:lnTo>
                  <a:pt x="4591842" y="61631"/>
                </a:lnTo>
                <a:lnTo>
                  <a:pt x="4626864" y="61631"/>
                </a:lnTo>
                <a:lnTo>
                  <a:pt x="4661886" y="61631"/>
                </a:lnTo>
                <a:lnTo>
                  <a:pt x="4696998" y="61631"/>
                </a:lnTo>
                <a:lnTo>
                  <a:pt x="4699010" y="61631"/>
                </a:lnTo>
                <a:close/>
              </a:path>
            </a:pathLst>
          </a:custGeom>
          <a:solidFill>
            <a:srgbClr val="3FBF6F">
              <a:alpha val="75000"/>
            </a:srgbClr>
          </a:solidFill>
          <a:ln/>
        </p:spPr>
      </p:sp>
      <p:sp>
        <p:nvSpPr>
          <p:cNvPr id="54" name="faq2_53"/>
          <p:cNvSpPr txBox="1"/>
          <p:nvPr/>
        </p:nvSpPr>
        <p:spPr>
          <a:xfrm>
            <a:off x="5130790" y="2495580"/>
            <a:ext cx="3735964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8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hits above cutoff: 0.2%</a:t>
            </a:r>
            <a:endParaRPr lang="en-US" sz="178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0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62500 0.00000 E" pathEditMode="relative" rAng="0" ptsTypes="AA">
                                      <p:cBhvr>
                                        <p:cTn id="39" dur="3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52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5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515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26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289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307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361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37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3925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xit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9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9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0" presetClass="exit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0" presetClass="path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animMotion origin="layout" path="M 0 0 L 0.16659 0.00000 E" pathEditMode="relative" rAng="0" ptsTypes="AA">
                                      <p:cBhvr>
                                        <p:cTn id="245" dur="38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4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0" presetClass="exit" presetSubtype="0" fill="hold" grpId="0" nodeType="withEffect">
                                  <p:stCondLst>
                                    <p:cond delay="4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0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0" presetClass="exit" presetSubtype="0" fill="hold" grpId="0" nodeType="withEffect">
                                  <p:stCondLst>
                                    <p:cond delay="4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3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grpId="0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grpId="0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grpId="0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grpId="0" nodeType="withEffect">
                                  <p:stCondLst>
                                    <p:cond delay="435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 animBg="1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/>
      <p:bldP spid="38" grpId="0" animBg="1"/>
      <p:bldP spid="39" grpId="0" animBg="1"/>
      <p:bldP spid="40" grpId="0"/>
      <p:bldP spid="41" grpId="0"/>
      <p:bldP spid="42" grpId="0" animBg="1"/>
      <p:bldP spid="43" grpId="0" animBg="1"/>
      <p:bldP spid="44" grpId="0" animBg="1"/>
      <p:bldP spid="45" grpId="0"/>
      <p:bldP spid="46" grpId="0"/>
      <p:bldP spid="52" grpId="0" animBg="1"/>
      <p:bldP spid="53" grpId="0" animBg="1"/>
      <p:bldP spid="5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q3_1"/>
          <p:cNvSpPr txBox="1"/>
          <p:nvPr/>
        </p:nvSpPr>
        <p:spPr>
          <a:xfrm>
            <a:off x="1437620" y="6334140"/>
            <a:ext cx="931682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RepeatModeler outputs a consensus sequence for each family it discovers</a:t>
            </a:r>
            <a:endParaRPr lang="en-US" sz="1908" dirty="0"/>
          </a:p>
        </p:txBody>
      </p:sp>
      <p:sp>
        <p:nvSpPr>
          <p:cNvPr id="3" name="faq3_2"/>
          <p:cNvSpPr txBox="1"/>
          <p:nvPr/>
        </p:nvSpPr>
        <p:spPr>
          <a:xfrm>
            <a:off x="2873502" y="6334140"/>
            <a:ext cx="644624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family sequences are fed into RepeatMasker</a:t>
            </a:r>
            <a:endParaRPr lang="en-US" sz="1908" dirty="0"/>
          </a:p>
        </p:txBody>
      </p:sp>
      <p:sp>
        <p:nvSpPr>
          <p:cNvPr id="4" name="faq3_3"/>
          <p:cNvSpPr txBox="1"/>
          <p:nvPr/>
        </p:nvSpPr>
        <p:spPr>
          <a:xfrm>
            <a:off x="2212574" y="6334140"/>
            <a:ext cx="776682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RepeatMasker searches the genome for copies of each family</a:t>
            </a:r>
            <a:endParaRPr lang="en-US" sz="1908" dirty="0"/>
          </a:p>
        </p:txBody>
      </p:sp>
      <p:sp>
        <p:nvSpPr>
          <p:cNvPr id="5" name="faq3_4"/>
          <p:cNvSpPr txBox="1"/>
          <p:nvPr/>
        </p:nvSpPr>
        <p:spPr>
          <a:xfrm>
            <a:off x="2377531" y="6334140"/>
            <a:ext cx="743699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copy found is labelled with its family: the reannotation</a:t>
            </a:r>
            <a:endParaRPr lang="en-US" sz="1908" dirty="0"/>
          </a:p>
        </p:txBody>
      </p:sp>
      <p:sp>
        <p:nvSpPr>
          <p:cNvPr id="6" name="faq3_5"/>
          <p:cNvSpPr/>
          <p:nvPr/>
        </p:nvSpPr>
        <p:spPr>
          <a:xfrm>
            <a:off x="1219170" y="2286000"/>
            <a:ext cx="2286000" cy="761970"/>
          </a:xfrm>
          <a:prstGeom prst="roundRect">
            <a:avLst>
              <a:gd name="adj" fmla="val 14005"/>
            </a:avLst>
          </a:prstGeom>
          <a:solidFill>
            <a:srgbClr val="1D34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faq3_6"/>
          <p:cNvSpPr txBox="1"/>
          <p:nvPr/>
        </p:nvSpPr>
        <p:spPr>
          <a:xfrm>
            <a:off x="1400404" y="2533620"/>
            <a:ext cx="1926184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8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RepeatModeler</a:t>
            </a:r>
            <a:endParaRPr lang="en-US" sz="1781" dirty="0"/>
          </a:p>
        </p:txBody>
      </p:sp>
      <p:sp>
        <p:nvSpPr>
          <p:cNvPr id="8" name="faq3_7"/>
          <p:cNvSpPr txBox="1"/>
          <p:nvPr/>
        </p:nvSpPr>
        <p:spPr>
          <a:xfrm>
            <a:off x="4603364" y="1952610"/>
            <a:ext cx="1766164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sequences</a:t>
            </a:r>
            <a:endParaRPr lang="en-US" sz="1399" dirty="0"/>
          </a:p>
        </p:txBody>
      </p:sp>
      <p:sp>
        <p:nvSpPr>
          <p:cNvPr id="9" name="faq3_8"/>
          <p:cNvSpPr/>
          <p:nvPr/>
        </p:nvSpPr>
        <p:spPr>
          <a:xfrm>
            <a:off x="1752630" y="2613630"/>
            <a:ext cx="1219170" cy="106710"/>
          </a:xfrm>
          <a:prstGeom prst="roundRect">
            <a:avLst>
              <a:gd name="adj" fmla="val 49957"/>
            </a:avLst>
          </a:prstGeom>
          <a:solidFill>
            <a:srgbClr val="F9BE00"/>
          </a:solidFill>
          <a:ln/>
        </p:spPr>
      </p:sp>
      <p:sp>
        <p:nvSpPr>
          <p:cNvPr id="10" name="faq3_9"/>
          <p:cNvSpPr/>
          <p:nvPr/>
        </p:nvSpPr>
        <p:spPr>
          <a:xfrm>
            <a:off x="1752630" y="2613630"/>
            <a:ext cx="1219170" cy="106710"/>
          </a:xfrm>
          <a:prstGeom prst="roundRect">
            <a:avLst>
              <a:gd name="adj" fmla="val 49957"/>
            </a:avLst>
          </a:prstGeom>
          <a:solidFill>
            <a:srgbClr val="F93500"/>
          </a:solidFill>
          <a:ln/>
        </p:spPr>
      </p:sp>
      <p:sp>
        <p:nvSpPr>
          <p:cNvPr id="11" name="faq3_10"/>
          <p:cNvSpPr/>
          <p:nvPr/>
        </p:nvSpPr>
        <p:spPr>
          <a:xfrm>
            <a:off x="1752630" y="2613630"/>
            <a:ext cx="1219170" cy="106710"/>
          </a:xfrm>
          <a:prstGeom prst="roundRect">
            <a:avLst>
              <a:gd name="adj" fmla="val 49957"/>
            </a:avLst>
          </a:prstGeom>
          <a:solidFill>
            <a:srgbClr val="006FF9"/>
          </a:solidFill>
          <a:ln/>
        </p:spPr>
      </p:sp>
      <p:sp>
        <p:nvSpPr>
          <p:cNvPr id="12" name="faq3_11"/>
          <p:cNvSpPr/>
          <p:nvPr/>
        </p:nvSpPr>
        <p:spPr>
          <a:xfrm>
            <a:off x="1219170" y="5806440"/>
            <a:ext cx="975363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13" name="faq3_12"/>
          <p:cNvSpPr/>
          <p:nvPr/>
        </p:nvSpPr>
        <p:spPr>
          <a:xfrm>
            <a:off x="1904970" y="5806440"/>
            <a:ext cx="53337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14" name="faq3_13"/>
          <p:cNvSpPr/>
          <p:nvPr/>
        </p:nvSpPr>
        <p:spPr>
          <a:xfrm>
            <a:off x="3047970" y="5806440"/>
            <a:ext cx="381030" cy="121890"/>
          </a:xfrm>
          <a:prstGeom prst="rect">
            <a:avLst/>
          </a:prstGeom>
          <a:solidFill>
            <a:srgbClr val="006FF9"/>
          </a:solidFill>
          <a:ln/>
        </p:spPr>
      </p:sp>
      <p:sp>
        <p:nvSpPr>
          <p:cNvPr id="15" name="faq3_14"/>
          <p:cNvSpPr/>
          <p:nvPr/>
        </p:nvSpPr>
        <p:spPr>
          <a:xfrm>
            <a:off x="3962370" y="5806440"/>
            <a:ext cx="685800" cy="121890"/>
          </a:xfrm>
          <a:prstGeom prst="rect">
            <a:avLst/>
          </a:prstGeom>
          <a:solidFill>
            <a:srgbClr val="F93500"/>
          </a:solidFill>
          <a:ln/>
        </p:spPr>
      </p:sp>
      <p:sp>
        <p:nvSpPr>
          <p:cNvPr id="16" name="faq3_15"/>
          <p:cNvSpPr/>
          <p:nvPr/>
        </p:nvSpPr>
        <p:spPr>
          <a:xfrm>
            <a:off x="5333970" y="5806440"/>
            <a:ext cx="45720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17" name="faq3_16"/>
          <p:cNvSpPr/>
          <p:nvPr/>
        </p:nvSpPr>
        <p:spPr>
          <a:xfrm>
            <a:off x="6553230" y="5806440"/>
            <a:ext cx="685800" cy="121890"/>
          </a:xfrm>
          <a:prstGeom prst="rect">
            <a:avLst/>
          </a:prstGeom>
          <a:solidFill>
            <a:srgbClr val="006FF9"/>
          </a:solidFill>
          <a:ln/>
        </p:spPr>
      </p:sp>
      <p:sp>
        <p:nvSpPr>
          <p:cNvPr id="18" name="faq3_17"/>
          <p:cNvSpPr/>
          <p:nvPr/>
        </p:nvSpPr>
        <p:spPr>
          <a:xfrm>
            <a:off x="7772400" y="5806440"/>
            <a:ext cx="381030" cy="121890"/>
          </a:xfrm>
          <a:prstGeom prst="rect">
            <a:avLst/>
          </a:prstGeom>
          <a:solidFill>
            <a:srgbClr val="F93500"/>
          </a:solidFill>
          <a:ln/>
        </p:spPr>
      </p:sp>
      <p:sp>
        <p:nvSpPr>
          <p:cNvPr id="19" name="faq3_18"/>
          <p:cNvSpPr/>
          <p:nvPr/>
        </p:nvSpPr>
        <p:spPr>
          <a:xfrm>
            <a:off x="8762970" y="5806440"/>
            <a:ext cx="68580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20" name="faq3_19"/>
          <p:cNvSpPr/>
          <p:nvPr/>
        </p:nvSpPr>
        <p:spPr>
          <a:xfrm>
            <a:off x="9905970" y="5806440"/>
            <a:ext cx="457200" cy="121890"/>
          </a:xfrm>
          <a:prstGeom prst="rect">
            <a:avLst/>
          </a:prstGeom>
          <a:solidFill>
            <a:srgbClr val="006FF9"/>
          </a:solidFill>
          <a:ln/>
        </p:spPr>
      </p:sp>
      <p:sp>
        <p:nvSpPr>
          <p:cNvPr id="21" name="faq3_20"/>
          <p:cNvSpPr txBox="1"/>
          <p:nvPr/>
        </p:nvSpPr>
        <p:spPr>
          <a:xfrm>
            <a:off x="207203" y="5762640"/>
            <a:ext cx="874806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Genome</a:t>
            </a:r>
            <a:endParaRPr lang="en-US" sz="1399" dirty="0"/>
          </a:p>
        </p:txBody>
      </p:sp>
      <p:sp>
        <p:nvSpPr>
          <p:cNvPr id="22" name="faq3_21"/>
          <p:cNvSpPr/>
          <p:nvPr/>
        </p:nvSpPr>
        <p:spPr>
          <a:xfrm>
            <a:off x="761970" y="4648170"/>
            <a:ext cx="2133570" cy="128016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3" name="faq3_22"/>
          <p:cNvSpPr/>
          <p:nvPr/>
        </p:nvSpPr>
        <p:spPr>
          <a:xfrm>
            <a:off x="7696230" y="2286000"/>
            <a:ext cx="2133570" cy="761970"/>
          </a:xfrm>
          <a:prstGeom prst="roundRect">
            <a:avLst>
              <a:gd name="adj" fmla="val 14005"/>
            </a:avLst>
          </a:prstGeom>
          <a:solidFill>
            <a:srgbClr val="1D34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faq3_23"/>
          <p:cNvSpPr txBox="1"/>
          <p:nvPr/>
        </p:nvSpPr>
        <p:spPr>
          <a:xfrm>
            <a:off x="7851678" y="2533620"/>
            <a:ext cx="1825142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8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RepeatMasker</a:t>
            </a:r>
            <a:endParaRPr lang="en-US" sz="1781" dirty="0"/>
          </a:p>
        </p:txBody>
      </p:sp>
      <p:sp>
        <p:nvSpPr>
          <p:cNvPr id="25" name="faq3_24"/>
          <p:cNvSpPr txBox="1"/>
          <p:nvPr/>
        </p:nvSpPr>
        <p:spPr>
          <a:xfrm>
            <a:off x="548640" y="396210"/>
            <a:ext cx="4572000" cy="464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FAQs</a:t>
            </a:r>
            <a:endParaRPr lang="en-US" sz="2880" dirty="0"/>
          </a:p>
        </p:txBody>
      </p:sp>
      <p:sp>
        <p:nvSpPr>
          <p:cNvPr id="26" name="faq3_25"/>
          <p:cNvSpPr txBox="1"/>
          <p:nvPr/>
        </p:nvSpPr>
        <p:spPr>
          <a:xfrm>
            <a:off x="1219170" y="1143000"/>
            <a:ext cx="9753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RepeatMasker reannotation a bit better</a:t>
            </a:r>
            <a:endParaRPr lang="en-US" sz="2200" dirty="0"/>
          </a:p>
        </p:txBody>
      </p:sp>
      <p:sp>
        <p:nvSpPr>
          <p:cNvPr id="27" name="faq3_26"/>
          <p:cNvSpPr/>
          <p:nvPr/>
        </p:nvSpPr>
        <p:spPr>
          <a:xfrm>
            <a:off x="9829800" y="457200"/>
            <a:ext cx="1813530" cy="365760"/>
          </a:xfrm>
          <a:prstGeom prst="roundRect">
            <a:avLst>
              <a:gd name="adj" fmla="val 50000"/>
            </a:avLst>
          </a:prstGeom>
          <a:solidFill>
            <a:srgbClr val="1D3461"/>
          </a:solidFill>
          <a:ln/>
        </p:spPr>
      </p:sp>
      <p:sp>
        <p:nvSpPr>
          <p:cNvPr id="28" name="faq3_27"/>
          <p:cNvSpPr txBox="1"/>
          <p:nvPr/>
        </p:nvSpPr>
        <p:spPr>
          <a:xfrm>
            <a:off x="9829800" y="457200"/>
            <a:ext cx="181353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FAQs</a:t>
            </a:r>
            <a:endParaRPr lang="en-US" sz="1300" dirty="0"/>
          </a:p>
        </p:txBody>
      </p:sp>
      <p:sp>
        <p:nvSpPr>
          <p:cNvPr id="29" name="faq3_28">
            <a:hlinkClick r:id="rId1" tooltip="Back to the FAQ list" action="ppaction://hlinksldjump"/>
          </p:cNvPr>
          <p:cNvSpPr/>
          <p:nvPr/>
        </p:nvSpPr>
        <p:spPr>
          <a:xfrm>
            <a:off x="9829800" y="457200"/>
            <a:ext cx="1813530" cy="365760"/>
          </a:xfrm>
          <a:prstGeom prst="roundRect">
            <a:avLst>
              <a:gd name="adj" fmla="val 50000"/>
            </a:avLst>
          </a:prstGeom>
          <a:solidFill>
            <a:srgbClr val="0A0F15">
              <a:alpha val="0"/>
            </a:srgbClr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0" presetClass="path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L 0.25625 -0.03333 E" pathEditMode="relative" rAng="0" ptsTypes="AA">
                                      <p:cBhvr>
                                        <p:cTn id="24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0 0 L 0.25625 0.00000 E" pathEditMode="relative" rAng="0" ptsTypes="AA">
                                      <p:cBhvr>
                                        <p:cTn id="32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0" presetClass="path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.25625 0.03333 E" pathEditMode="relative" rAng="0" ptsTypes="AA">
                                      <p:cBhvr>
                                        <p:cTn id="37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0" presetClass="path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animMotion origin="layout" path="M 0 0 L 0.26875 0.03333 E" pathEditMode="relative" rAng="0" ptsTypes="AA">
                                      <p:cBhvr>
                                        <p:cTn id="59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0" presetClass="path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26875 0.00000 E" pathEditMode="relative" rAng="0" ptsTypes="AA">
                                      <p:cBhvr>
                                        <p:cTn id="64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0" presetClass="path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animMotion origin="layout" path="M 0 0 L 0.26875 -0.03333 E" pathEditMode="relative" rAng="0" ptsTypes="AA">
                                      <p:cBhvr>
                                        <p:cTn id="69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0" presetClass="path" presetSubtype="0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0 0 L -0.56875 0.23333 E" pathEditMode="relative" rAng="0" ptsTypes="AA">
                                      <p:cBhvr>
                                        <p:cTn id="73" dur="1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0" presetClass="path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0 0 L -0.56875 0.23333 E" pathEditMode="relative" rAng="0" ptsTypes="AA">
                                      <p:cBhvr>
                                        <p:cTn id="75" dur="1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0" presetClass="path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0 0 L 0.70000 0.00000 E" pathEditMode="relative" rAng="0" ptsTypes="AA">
                                      <p:cBhvr>
                                        <p:cTn id="86" dur="3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7" presetID="0" presetClass="path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0 0 L 0.70000 0.00000 E" pathEditMode="relative" rAng="0" ptsTypes="AA">
                                      <p:cBhvr>
                                        <p:cTn id="88" dur="3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9" presetID="0" presetClass="path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0 0 L 0.70000 0.00000 E" pathEditMode="relative" rAng="0" ptsTypes="AA">
                                      <p:cBhvr>
                                        <p:cTn id="90" dur="3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1282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225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1764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16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289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2729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93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3243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289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3757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161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4175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289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4657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193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grpId="0" nodeType="withEffect">
                                  <p:stCondLst>
                                    <p:cond delay="4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0" presetClass="path" presetSubtype="0" fill="hold" grpId="0" nodeType="click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0 0 L -0.35000 0.00000 E" pathEditMode="relative" rAng="0" ptsTypes="AA">
                                      <p:cBhvr>
                                        <p:cTn id="121" dur="9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0" presetClass="path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0 0 L -0.35000 0.00000 E" pathEditMode="relative" rAng="0" ptsTypes="AA">
                                      <p:cBhvr>
                                        <p:cTn id="123" dur="9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0" presetClass="path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0 0 L -0.35000 0.00000 E" pathEditMode="relative" rAng="0" ptsTypes="AA">
                                      <p:cBhvr>
                                        <p:cTn id="125" dur="9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 animBg="1"/>
      <p:bldP spid="7" grpId="0"/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/>
      <p:bldP spid="22" grpId="0" animBg="1"/>
      <p:bldP spid="23" grpId="0" animBg="1"/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q4_1"/>
          <p:cNvSpPr txBox="1"/>
          <p:nvPr/>
        </p:nvSpPr>
        <p:spPr>
          <a:xfrm>
            <a:off x="2798247" y="6105540"/>
            <a:ext cx="659556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TE copy has coordinates in the human genome</a:t>
            </a:r>
            <a:endParaRPr lang="en-US" sz="1908" dirty="0"/>
          </a:p>
        </p:txBody>
      </p:sp>
      <p:sp>
        <p:nvSpPr>
          <p:cNvPr id="3" name="faq4_2"/>
          <p:cNvSpPr txBox="1"/>
          <p:nvPr/>
        </p:nvSpPr>
        <p:spPr>
          <a:xfrm>
            <a:off x="958657" y="6105540"/>
            <a:ext cx="1027474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liftOver uses a chain file: blocks of whole-genome alignment between two species</a:t>
            </a:r>
            <a:endParaRPr lang="en-US" sz="1908" dirty="0"/>
          </a:p>
        </p:txBody>
      </p:sp>
      <p:sp>
        <p:nvSpPr>
          <p:cNvPr id="4" name="faq4_3"/>
          <p:cNvSpPr txBox="1"/>
          <p:nvPr/>
        </p:nvSpPr>
        <p:spPr>
          <a:xfrm>
            <a:off x="2176638" y="6105540"/>
            <a:ext cx="784015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copy's coordinates are projected through its aligned block</a:t>
            </a:r>
            <a:endParaRPr lang="en-US" sz="1908" dirty="0"/>
          </a:p>
        </p:txBody>
      </p:sp>
      <p:sp>
        <p:nvSpPr>
          <p:cNvPr id="5" name="faq4_4"/>
          <p:cNvSpPr txBox="1"/>
          <p:nvPr/>
        </p:nvSpPr>
        <p:spPr>
          <a:xfrm>
            <a:off x="2403958" y="6105540"/>
            <a:ext cx="738405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chimpanzee carries a copy at the orthologous position</a:t>
            </a:r>
            <a:endParaRPr lang="en-US" sz="1908" dirty="0"/>
          </a:p>
        </p:txBody>
      </p:sp>
      <p:sp>
        <p:nvSpPr>
          <p:cNvPr id="6" name="faq4_5"/>
          <p:cNvSpPr txBox="1"/>
          <p:nvPr/>
        </p:nvSpPr>
        <p:spPr>
          <a:xfrm>
            <a:off x="2680746" y="6105540"/>
            <a:ext cx="683166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Copies that fall in an alignment gap can't be lifted over</a:t>
            </a:r>
            <a:endParaRPr lang="en-US" sz="1908" dirty="0"/>
          </a:p>
        </p:txBody>
      </p:sp>
      <p:sp>
        <p:nvSpPr>
          <p:cNvPr id="7" name="faq4_6"/>
          <p:cNvSpPr/>
          <p:nvPr/>
        </p:nvSpPr>
        <p:spPr>
          <a:xfrm>
            <a:off x="1524030" y="3215670"/>
            <a:ext cx="914400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8" name="faq4_7"/>
          <p:cNvSpPr/>
          <p:nvPr/>
        </p:nvSpPr>
        <p:spPr>
          <a:xfrm>
            <a:off x="1371600" y="4892040"/>
            <a:ext cx="9296430" cy="121890"/>
          </a:xfrm>
          <a:prstGeom prst="rect">
            <a:avLst/>
          </a:prstGeom>
          <a:solidFill>
            <a:srgbClr val="5C6773"/>
          </a:solidFill>
          <a:ln/>
        </p:spPr>
      </p:sp>
      <p:sp>
        <p:nvSpPr>
          <p:cNvPr id="9" name="faq4_8"/>
          <p:cNvSpPr txBox="1"/>
          <p:nvPr/>
        </p:nvSpPr>
        <p:spPr>
          <a:xfrm>
            <a:off x="1508760" y="2912730"/>
            <a:ext cx="2059595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(T2T-CHM13)</a:t>
            </a:r>
            <a:endParaRPr lang="en-US" sz="1399" dirty="0"/>
          </a:p>
        </p:txBody>
      </p:sp>
      <p:sp>
        <p:nvSpPr>
          <p:cNvPr id="10" name="faq4_9"/>
          <p:cNvSpPr txBox="1"/>
          <p:nvPr/>
        </p:nvSpPr>
        <p:spPr>
          <a:xfrm>
            <a:off x="1356330" y="5153010"/>
            <a:ext cx="1258580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Chimpanzee</a:t>
            </a:r>
            <a:endParaRPr lang="en-US" sz="1399" dirty="0"/>
          </a:p>
        </p:txBody>
      </p:sp>
      <p:sp>
        <p:nvSpPr>
          <p:cNvPr id="11" name="faq4_10"/>
          <p:cNvSpPr/>
          <p:nvPr/>
        </p:nvSpPr>
        <p:spPr>
          <a:xfrm>
            <a:off x="1371600" y="3337560"/>
            <a:ext cx="1904970" cy="1554480"/>
          </a:xfrm>
          <a:custGeom>
            <a:avLst/>
            <a:gdLst/>
            <a:ahLst/>
            <a:cxnLst/>
            <a:rect l="l" t="t" r="r" b="b"/>
            <a:pathLst>
              <a:path w="1904970" h="1554480">
                <a:moveTo>
                  <a:pt x="152430" y="0"/>
                </a:moveTo>
                <a:lnTo>
                  <a:pt x="1904970" y="0"/>
                </a:lnTo>
                <a:lnTo>
                  <a:pt x="175263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9AA4B1">
              <a:alpha val="16000"/>
            </a:srgbClr>
          </a:solidFill>
          <a:ln w="11430">
            <a:solidFill>
              <a:srgbClr val="9AA4B1">
                <a:alpha val="35000"/>
              </a:srgbClr>
            </a:solidFill>
            <a:prstDash val="solid"/>
          </a:ln>
        </p:spPr>
      </p:sp>
      <p:sp>
        <p:nvSpPr>
          <p:cNvPr id="12" name="faq4_11"/>
          <p:cNvSpPr/>
          <p:nvPr/>
        </p:nvSpPr>
        <p:spPr>
          <a:xfrm>
            <a:off x="1524030" y="3215670"/>
            <a:ext cx="1752630" cy="121890"/>
          </a:xfrm>
          <a:prstGeom prst="rect">
            <a:avLst/>
          </a:prstGeom>
          <a:solidFill>
            <a:srgbClr val="9AA4B1"/>
          </a:solidFill>
          <a:ln/>
        </p:spPr>
      </p:sp>
      <p:sp>
        <p:nvSpPr>
          <p:cNvPr id="13" name="faq4_12"/>
          <p:cNvSpPr/>
          <p:nvPr/>
        </p:nvSpPr>
        <p:spPr>
          <a:xfrm>
            <a:off x="1371600" y="4892040"/>
            <a:ext cx="1752630" cy="121890"/>
          </a:xfrm>
          <a:prstGeom prst="rect">
            <a:avLst/>
          </a:prstGeom>
          <a:solidFill>
            <a:srgbClr val="9AA4B1"/>
          </a:solidFill>
          <a:ln/>
        </p:spPr>
      </p:sp>
      <p:sp>
        <p:nvSpPr>
          <p:cNvPr id="14" name="faq4_13"/>
          <p:cNvSpPr/>
          <p:nvPr/>
        </p:nvSpPr>
        <p:spPr>
          <a:xfrm>
            <a:off x="3581430" y="3337560"/>
            <a:ext cx="2590770" cy="1554480"/>
          </a:xfrm>
          <a:custGeom>
            <a:avLst/>
            <a:gdLst/>
            <a:ahLst/>
            <a:cxnLst/>
            <a:rect l="l" t="t" r="r" b="b"/>
            <a:pathLst>
              <a:path w="2590770" h="1554480">
                <a:moveTo>
                  <a:pt x="0" y="0"/>
                </a:moveTo>
                <a:lnTo>
                  <a:pt x="2209830" y="0"/>
                </a:lnTo>
                <a:lnTo>
                  <a:pt x="2590770" y="1554480"/>
                </a:lnTo>
                <a:lnTo>
                  <a:pt x="381030" y="1554480"/>
                </a:lnTo>
                <a:close/>
              </a:path>
            </a:pathLst>
          </a:custGeom>
          <a:solidFill>
            <a:srgbClr val="9AA4B1">
              <a:alpha val="16000"/>
            </a:srgbClr>
          </a:solidFill>
          <a:ln w="11430">
            <a:solidFill>
              <a:srgbClr val="9AA4B1">
                <a:alpha val="35000"/>
              </a:srgbClr>
            </a:solidFill>
            <a:prstDash val="solid"/>
          </a:ln>
        </p:spPr>
      </p:sp>
      <p:sp>
        <p:nvSpPr>
          <p:cNvPr id="15" name="faq4_14"/>
          <p:cNvSpPr/>
          <p:nvPr/>
        </p:nvSpPr>
        <p:spPr>
          <a:xfrm>
            <a:off x="3581430" y="3215670"/>
            <a:ext cx="2209830" cy="121890"/>
          </a:xfrm>
          <a:prstGeom prst="rect">
            <a:avLst/>
          </a:prstGeom>
          <a:solidFill>
            <a:srgbClr val="9AA4B1"/>
          </a:solidFill>
          <a:ln/>
        </p:spPr>
      </p:sp>
      <p:sp>
        <p:nvSpPr>
          <p:cNvPr id="16" name="faq4_15"/>
          <p:cNvSpPr/>
          <p:nvPr/>
        </p:nvSpPr>
        <p:spPr>
          <a:xfrm>
            <a:off x="3962370" y="4892040"/>
            <a:ext cx="2209830" cy="121890"/>
          </a:xfrm>
          <a:prstGeom prst="rect">
            <a:avLst/>
          </a:prstGeom>
          <a:solidFill>
            <a:srgbClr val="9AA4B1"/>
          </a:solidFill>
          <a:ln/>
        </p:spPr>
      </p:sp>
      <p:sp>
        <p:nvSpPr>
          <p:cNvPr id="17" name="faq4_16"/>
          <p:cNvSpPr/>
          <p:nvPr/>
        </p:nvSpPr>
        <p:spPr>
          <a:xfrm>
            <a:off x="6248370" y="3337560"/>
            <a:ext cx="2209830" cy="1554480"/>
          </a:xfrm>
          <a:custGeom>
            <a:avLst/>
            <a:gdLst/>
            <a:ahLst/>
            <a:cxnLst/>
            <a:rect l="l" t="t" r="r" b="b"/>
            <a:pathLst>
              <a:path w="2209830" h="1554480">
                <a:moveTo>
                  <a:pt x="0" y="0"/>
                </a:moveTo>
                <a:lnTo>
                  <a:pt x="2057400" y="0"/>
                </a:lnTo>
                <a:lnTo>
                  <a:pt x="2209830" y="1554480"/>
                </a:lnTo>
                <a:lnTo>
                  <a:pt x="152430" y="1554480"/>
                </a:lnTo>
                <a:close/>
              </a:path>
            </a:pathLst>
          </a:custGeom>
          <a:solidFill>
            <a:srgbClr val="9AA4B1">
              <a:alpha val="16000"/>
            </a:srgbClr>
          </a:solidFill>
          <a:ln w="11430">
            <a:solidFill>
              <a:srgbClr val="9AA4B1">
                <a:alpha val="35000"/>
              </a:srgbClr>
            </a:solidFill>
            <a:prstDash val="solid"/>
          </a:ln>
        </p:spPr>
      </p:sp>
      <p:sp>
        <p:nvSpPr>
          <p:cNvPr id="18" name="faq4_17"/>
          <p:cNvSpPr/>
          <p:nvPr/>
        </p:nvSpPr>
        <p:spPr>
          <a:xfrm>
            <a:off x="6248370" y="3215670"/>
            <a:ext cx="2057400" cy="121890"/>
          </a:xfrm>
          <a:prstGeom prst="rect">
            <a:avLst/>
          </a:prstGeom>
          <a:solidFill>
            <a:srgbClr val="9AA4B1"/>
          </a:solidFill>
          <a:ln/>
        </p:spPr>
      </p:sp>
      <p:sp>
        <p:nvSpPr>
          <p:cNvPr id="19" name="faq4_18"/>
          <p:cNvSpPr/>
          <p:nvPr/>
        </p:nvSpPr>
        <p:spPr>
          <a:xfrm>
            <a:off x="6400800" y="4892040"/>
            <a:ext cx="2057400" cy="121890"/>
          </a:xfrm>
          <a:prstGeom prst="rect">
            <a:avLst/>
          </a:prstGeom>
          <a:solidFill>
            <a:srgbClr val="9AA4B1"/>
          </a:solidFill>
          <a:ln/>
        </p:spPr>
      </p:sp>
      <p:sp>
        <p:nvSpPr>
          <p:cNvPr id="20" name="faq4_19"/>
          <p:cNvSpPr/>
          <p:nvPr/>
        </p:nvSpPr>
        <p:spPr>
          <a:xfrm>
            <a:off x="8686800" y="3337560"/>
            <a:ext cx="1981230" cy="1554480"/>
          </a:xfrm>
          <a:custGeom>
            <a:avLst/>
            <a:gdLst/>
            <a:ahLst/>
            <a:cxnLst/>
            <a:rect l="l" t="t" r="r" b="b"/>
            <a:pathLst>
              <a:path w="1981230" h="1554480">
                <a:moveTo>
                  <a:pt x="0" y="0"/>
                </a:moveTo>
                <a:lnTo>
                  <a:pt x="1981230" y="0"/>
                </a:lnTo>
                <a:lnTo>
                  <a:pt x="198123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9AA4B1">
              <a:alpha val="16000"/>
            </a:srgbClr>
          </a:solidFill>
          <a:ln w="11430">
            <a:solidFill>
              <a:srgbClr val="9AA4B1">
                <a:alpha val="35000"/>
              </a:srgbClr>
            </a:solidFill>
            <a:prstDash val="solid"/>
          </a:ln>
        </p:spPr>
      </p:sp>
      <p:sp>
        <p:nvSpPr>
          <p:cNvPr id="21" name="faq4_20"/>
          <p:cNvSpPr/>
          <p:nvPr/>
        </p:nvSpPr>
        <p:spPr>
          <a:xfrm>
            <a:off x="8686800" y="3215670"/>
            <a:ext cx="1981230" cy="121890"/>
          </a:xfrm>
          <a:prstGeom prst="rect">
            <a:avLst/>
          </a:prstGeom>
          <a:solidFill>
            <a:srgbClr val="9AA4B1"/>
          </a:solidFill>
          <a:ln/>
        </p:spPr>
      </p:sp>
      <p:sp>
        <p:nvSpPr>
          <p:cNvPr id="22" name="faq4_21"/>
          <p:cNvSpPr/>
          <p:nvPr/>
        </p:nvSpPr>
        <p:spPr>
          <a:xfrm>
            <a:off x="8686800" y="4892040"/>
            <a:ext cx="1981230" cy="121890"/>
          </a:xfrm>
          <a:prstGeom prst="rect">
            <a:avLst/>
          </a:prstGeom>
          <a:solidFill>
            <a:srgbClr val="9AA4B1"/>
          </a:solidFill>
          <a:ln/>
        </p:spPr>
      </p:sp>
      <p:sp>
        <p:nvSpPr>
          <p:cNvPr id="23" name="faq4_22"/>
          <p:cNvSpPr txBox="1"/>
          <p:nvPr/>
        </p:nvSpPr>
        <p:spPr>
          <a:xfrm>
            <a:off x="4887468" y="2714671"/>
            <a:ext cx="2417034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file: aligned blocks</a:t>
            </a:r>
            <a:endParaRPr lang="en-US" sz="1399" dirty="0"/>
          </a:p>
        </p:txBody>
      </p:sp>
      <p:sp>
        <p:nvSpPr>
          <p:cNvPr id="24" name="faq4_23"/>
          <p:cNvSpPr/>
          <p:nvPr/>
        </p:nvSpPr>
        <p:spPr>
          <a:xfrm>
            <a:off x="4419570" y="3337560"/>
            <a:ext cx="685800" cy="1554480"/>
          </a:xfrm>
          <a:custGeom>
            <a:avLst/>
            <a:gdLst/>
            <a:ahLst/>
            <a:cxnLst/>
            <a:rect l="l" t="t" r="r" b="b"/>
            <a:pathLst>
              <a:path w="685800" h="1554480">
                <a:moveTo>
                  <a:pt x="0" y="0"/>
                </a:moveTo>
                <a:lnTo>
                  <a:pt x="304770" y="0"/>
                </a:lnTo>
                <a:lnTo>
                  <a:pt x="685800" y="1554480"/>
                </a:lnTo>
                <a:lnTo>
                  <a:pt x="381030" y="1554480"/>
                </a:lnTo>
                <a:close/>
              </a:path>
            </a:pathLst>
          </a:custGeom>
          <a:solidFill>
            <a:srgbClr val="F9BE00">
              <a:alpha val="35000"/>
            </a:srgbClr>
          </a:solidFill>
          <a:ln/>
        </p:spPr>
      </p:sp>
      <p:sp>
        <p:nvSpPr>
          <p:cNvPr id="25" name="faq4_24"/>
          <p:cNvSpPr/>
          <p:nvPr/>
        </p:nvSpPr>
        <p:spPr>
          <a:xfrm>
            <a:off x="4419570" y="3215670"/>
            <a:ext cx="30477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26" name="faq4_25"/>
          <p:cNvSpPr txBox="1"/>
          <p:nvPr/>
        </p:nvSpPr>
        <p:spPr>
          <a:xfrm>
            <a:off x="3940515" y="2943271"/>
            <a:ext cx="1267450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9" b="1" dirty="0">
                <a:solidFill>
                  <a:srgbClr val="A9B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copy</a:t>
            </a:r>
            <a:endParaRPr lang="en-US" sz="1399" dirty="0"/>
          </a:p>
        </p:txBody>
      </p:sp>
      <p:sp>
        <p:nvSpPr>
          <p:cNvPr id="27" name="faq4_26"/>
          <p:cNvSpPr/>
          <p:nvPr/>
        </p:nvSpPr>
        <p:spPr>
          <a:xfrm>
            <a:off x="4739610" y="4815870"/>
            <a:ext cx="426750" cy="274320"/>
          </a:xfrm>
          <a:prstGeom prst="roundRect">
            <a:avLst>
              <a:gd name="adj" fmla="val 16667"/>
            </a:avLst>
          </a:prstGeom>
          <a:ln w="19050">
            <a:solidFill>
              <a:srgbClr val="FFFFFF"/>
            </a:solidFill>
            <a:custDash>
              <a:ds d="320000" sp="240000"/>
            </a:custDash>
          </a:ln>
        </p:spPr>
      </p:sp>
      <p:sp>
        <p:nvSpPr>
          <p:cNvPr id="28" name="faq4_27"/>
          <p:cNvSpPr/>
          <p:nvPr/>
        </p:nvSpPr>
        <p:spPr>
          <a:xfrm>
            <a:off x="4800600" y="4892040"/>
            <a:ext cx="30477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29" name="faq4_28"/>
          <p:cNvSpPr txBox="1"/>
          <p:nvPr/>
        </p:nvSpPr>
        <p:spPr>
          <a:xfrm>
            <a:off x="3653028" y="5189403"/>
            <a:ext cx="2601285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8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Orthologous copy</a:t>
            </a:r>
            <a:endParaRPr lang="en-US" sz="1781" dirty="0"/>
          </a:p>
        </p:txBody>
      </p:sp>
      <p:sp>
        <p:nvSpPr>
          <p:cNvPr id="30" name="faq4_29"/>
          <p:cNvSpPr/>
          <p:nvPr/>
        </p:nvSpPr>
        <p:spPr>
          <a:xfrm>
            <a:off x="5905470" y="3337560"/>
            <a:ext cx="228600" cy="777240"/>
          </a:xfrm>
          <a:custGeom>
            <a:avLst/>
            <a:gdLst/>
            <a:ahLst/>
            <a:cxnLst/>
            <a:rect l="l" t="t" r="r" b="b"/>
            <a:pathLst>
              <a:path w="228600" h="777240">
                <a:moveTo>
                  <a:pt x="0" y="0"/>
                </a:moveTo>
                <a:lnTo>
                  <a:pt x="228600" y="0"/>
                </a:lnTo>
                <a:lnTo>
                  <a:pt x="228600" y="777240"/>
                </a:lnTo>
                <a:lnTo>
                  <a:pt x="0" y="777240"/>
                </a:lnTo>
                <a:close/>
              </a:path>
            </a:pathLst>
          </a:custGeom>
          <a:solidFill>
            <a:srgbClr val="F9BE00">
              <a:alpha val="35000"/>
            </a:srgbClr>
          </a:solidFill>
          <a:ln/>
        </p:spPr>
      </p:sp>
      <p:sp>
        <p:nvSpPr>
          <p:cNvPr id="31" name="faq4_30"/>
          <p:cNvSpPr/>
          <p:nvPr/>
        </p:nvSpPr>
        <p:spPr>
          <a:xfrm>
            <a:off x="5905470" y="3215670"/>
            <a:ext cx="228600" cy="121890"/>
          </a:xfrm>
          <a:prstGeom prst="rect">
            <a:avLst/>
          </a:prstGeom>
          <a:solidFill>
            <a:srgbClr val="F9BE00"/>
          </a:solidFill>
          <a:ln/>
        </p:spPr>
      </p:sp>
      <p:sp>
        <p:nvSpPr>
          <p:cNvPr id="32" name="faq4_31"/>
          <p:cNvSpPr txBox="1"/>
          <p:nvPr/>
        </p:nvSpPr>
        <p:spPr>
          <a:xfrm>
            <a:off x="6233190" y="4244462"/>
            <a:ext cx="2461290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8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No aligned block</a:t>
            </a:r>
            <a:endParaRPr lang="en-US" sz="1781" dirty="0"/>
          </a:p>
        </p:txBody>
      </p:sp>
      <p:sp>
        <p:nvSpPr>
          <p:cNvPr id="33" name="faq4_32"/>
          <p:cNvSpPr txBox="1"/>
          <p:nvPr/>
        </p:nvSpPr>
        <p:spPr>
          <a:xfrm>
            <a:off x="548640" y="396210"/>
            <a:ext cx="4572000" cy="464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dirty="0">
                <a:solidFill>
                  <a:srgbClr val="EEF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FAQs</a:t>
            </a:r>
            <a:endParaRPr lang="en-US" sz="2880" dirty="0"/>
          </a:p>
        </p:txBody>
      </p:sp>
      <p:sp>
        <p:nvSpPr>
          <p:cNvPr id="34" name="faq4_33"/>
          <p:cNvSpPr txBox="1"/>
          <p:nvPr/>
        </p:nvSpPr>
        <p:spPr>
          <a:xfrm>
            <a:off x="1219170" y="1143000"/>
            <a:ext cx="9753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were the copies compared to their primate orthologs?</a:t>
            </a:r>
            <a:endParaRPr lang="en-US" sz="2200" dirty="0"/>
          </a:p>
        </p:txBody>
      </p:sp>
      <p:sp>
        <p:nvSpPr>
          <p:cNvPr id="35" name="faq4_34"/>
          <p:cNvSpPr/>
          <p:nvPr/>
        </p:nvSpPr>
        <p:spPr>
          <a:xfrm>
            <a:off x="9829800" y="457200"/>
            <a:ext cx="1813530" cy="365760"/>
          </a:xfrm>
          <a:prstGeom prst="roundRect">
            <a:avLst>
              <a:gd name="adj" fmla="val 50000"/>
            </a:avLst>
          </a:prstGeom>
          <a:solidFill>
            <a:srgbClr val="1D3461"/>
          </a:solidFill>
          <a:ln/>
        </p:spPr>
      </p:sp>
      <p:sp>
        <p:nvSpPr>
          <p:cNvPr id="36" name="faq4_35"/>
          <p:cNvSpPr txBox="1"/>
          <p:nvPr/>
        </p:nvSpPr>
        <p:spPr>
          <a:xfrm>
            <a:off x="9829800" y="457200"/>
            <a:ext cx="181353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FAQs</a:t>
            </a:r>
            <a:endParaRPr lang="en-US" sz="1300" dirty="0"/>
          </a:p>
        </p:txBody>
      </p:sp>
      <p:sp>
        <p:nvSpPr>
          <p:cNvPr id="37" name="faq4_36">
            <a:hlinkClick r:id="rId1" tooltip="Back to the FAQ list" action="ppaction://hlinksldjump"/>
          </p:cNvPr>
          <p:cNvSpPr/>
          <p:nvPr/>
        </p:nvSpPr>
        <p:spPr>
          <a:xfrm>
            <a:off x="9829800" y="457200"/>
            <a:ext cx="1813530" cy="365760"/>
          </a:xfrm>
          <a:prstGeom prst="roundRect">
            <a:avLst>
              <a:gd name="adj" fmla="val 50000"/>
            </a:avLst>
          </a:prstGeom>
          <a:solidFill>
            <a:srgbClr val="0A0F15">
              <a:alpha val="0"/>
            </a:srgbClr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xit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8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 animBg="1"/>
      <p:bldP spid="8" grpId="0" animBg="1"/>
      <p:bldP spid="9" grpId="0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/>
      <p:bldP spid="24" grpId="0" animBg="1"/>
      <p:bldP spid="25" grpId="0" animBg="1"/>
      <p:bldP spid="26" grpId="0"/>
      <p:bldP spid="27" grpId="0" animBg="1"/>
      <p:bldP spid="28" grpId="0" animBg="1"/>
      <p:bldP spid="29" grpId="0"/>
      <p:bldP spid="30" grpId="0" animBg="1"/>
      <p:bldP spid="31" grpId="0" animBg="1"/>
      <p:bldP spid="3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Discovery and annotation of transposable elements in the T2T-CHM13v2.0 genome assembly</dc:title>
  <dc:subject>PptxGenJS Presentation</dc:subject>
  <dc:creator>Luke O'Keeffe</dc:creator>
  <cp:lastModifiedBy>Luke O'Keeffe</cp:lastModifiedBy>
  <cp:revision>1</cp:revision>
  <dcterms:created xsi:type="dcterms:W3CDTF">2026-10-15T13:40:51Z</dcterms:created>
  <dcterms:modified xsi:type="dcterms:W3CDTF">2026-10-15T13:40:51Z</dcterms:modified>
</cp:coreProperties>
</file>